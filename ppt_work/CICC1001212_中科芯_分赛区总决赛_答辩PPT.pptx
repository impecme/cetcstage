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2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3.xml" ContentType="application/vnd.openxmlformats-officedocument.presentationml.notesSlid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4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notesSlides/notesSlide8.xml" ContentType="application/vnd.openxmlformats-officedocument.presentationml.notesSlide+xml"/>
  <Override PartName="/ppt/tags/tag2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20" r:id="rId3"/>
    <p:sldId id="348" r:id="rId4"/>
    <p:sldId id="351" r:id="rId5"/>
    <p:sldId id="356" r:id="rId6"/>
    <p:sldId id="357" r:id="rId7"/>
    <p:sldId id="358" r:id="rId8"/>
    <p:sldId id="359" r:id="rId9"/>
    <p:sldId id="362" r:id="rId10"/>
    <p:sldId id="360" r:id="rId11"/>
    <p:sldId id="366" r:id="rId12"/>
    <p:sldId id="365" r:id="rId13"/>
    <p:sldId id="361" r:id="rId14"/>
    <p:sldId id="367" r:id="rId15"/>
    <p:sldId id="369" r:id="rId16"/>
    <p:sldId id="370" r:id="rId17"/>
    <p:sldId id="281" r:id="rId18"/>
  </p:sldIdLst>
  <p:sldSz cx="12192000" cy="6858000"/>
  <p:notesSz cx="6858000" cy="9144000"/>
  <p:embeddedFontLst>
    <p:embeddedFont>
      <p:font typeface="标准粗黑" panose="02010600030101010101" charset="-122"/>
      <p:regular r:id="rId21"/>
    </p:embeddedFont>
    <p:embeddedFont>
      <p:font typeface="仓耳玄三M W05" panose="02010600030101010101" charset="-128"/>
      <p:regular r:id="rId22"/>
    </p:embeddedFont>
    <p:embeddedFont>
      <p:font typeface="汉仪汉黑简" panose="02010600030101010101" charset="-122"/>
      <p:regular r:id="rId23"/>
    </p:embeddedFont>
    <p:embeddedFont>
      <p:font typeface="汉仪铸字美心体简" panose="02010600030101010101" charset="-122"/>
      <p:regular r:id="rId24"/>
    </p:embeddedFont>
    <p:embeddedFont>
      <p:font typeface="思源黑体 CN Bold" panose="02010600030101010101" charset="-122"/>
      <p:bold r:id="rId25"/>
    </p:embeddedFont>
    <p:embeddedFont>
      <p:font typeface="思源宋体 CN Heavy" panose="02010600030101010101" charset="-122"/>
      <p:bold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黑体" panose="02010609060101010101" pitchFamily="49" charset="-122"/>
      <p:regular r:id="rId31"/>
    </p:embeddedFont>
    <p:embeddedFont>
      <p:font typeface="华文行楷" panose="02010800040101010101" pitchFamily="2" charset="-122"/>
      <p:regular r:id="rId32"/>
    </p:embeddedFont>
    <p:embeddedFont>
      <p:font typeface="微软雅黑" panose="020B0503020204020204" pitchFamily="34" charset="-122"/>
      <p:regular r:id="rId33"/>
      <p:bold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7" userDrawn="1">
          <p15:clr>
            <a:srgbClr val="A4A3A4"/>
          </p15:clr>
        </p15:guide>
        <p15:guide id="2" pos="281" userDrawn="1">
          <p15:clr>
            <a:srgbClr val="A4A3A4"/>
          </p15:clr>
        </p15:guide>
        <p15:guide id="3" orient="horz" pos="27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EE9"/>
    <a:srgbClr val="F5F7F9"/>
    <a:srgbClr val="012F6A"/>
    <a:srgbClr val="012864"/>
    <a:srgbClr val="3BD8FF"/>
    <a:srgbClr val="56E9B7"/>
    <a:srgbClr val="3B68BF"/>
    <a:srgbClr val="FEFFFF"/>
    <a:srgbClr val="68D4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1AE3A3-C5C9-4FBB-9C89-2427CB3F3369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856E3AB-D6A9-4A72-BF98-4B26A3FD7955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7E63CD6-A801-49E2-9E87-8BEA0DC77F4D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F274546-462F-41A0-A9F5-FFD48493F42F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6">
              <a:lumMod val="10000"/>
              <a:lumOff val="90000"/>
            </a:schemeClr>
          </a:solidFill>
        </a:fill>
      </a:tcStyle>
    </a:band2H>
    <a:band1V>
      <a:tcStyle>
        <a:tcBdr/>
        <a:fill>
          <a:solidFill>
            <a:schemeClr val="accent6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5" autoAdjust="0"/>
    <p:restoredTop sz="89720" autoAdjust="0"/>
  </p:normalViewPr>
  <p:slideViewPr>
    <p:cSldViewPr snapToGrid="0" showGuides="1">
      <p:cViewPr varScale="1">
        <p:scale>
          <a:sx n="124" d="100"/>
          <a:sy n="124" d="100"/>
        </p:scale>
        <p:origin x="384" y="130"/>
      </p:cViewPr>
      <p:guideLst>
        <p:guide orient="horz" pos="457"/>
        <p:guide pos="281"/>
        <p:guide orient="horz" pos="279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8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408647383950616E-2"/>
          <c:y val="1.0009949928952589E-3"/>
          <c:w val="0.90065254492520797"/>
          <c:h val="0.86157323688969301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>
              <a:gsLst>
                <a:gs pos="0">
                  <a:srgbClr val="008BFF">
                    <a:alpha val="90000"/>
                  </a:srgbClr>
                </a:gs>
                <a:gs pos="100000">
                  <a:srgbClr val="0068BF"/>
                </a:gs>
              </a:gsLst>
              <a:lin ang="2700000" scaled="1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Sheet1!$B$1:$AB$1</c:f>
              <c:strCache>
                <c:ptCount val="27"/>
                <c:pt idx="0">
                  <c:v>chirp</c:v>
                </c:pt>
                <c:pt idx="1">
                  <c:v>gausspulse</c:v>
                </c:pt>
                <c:pt idx="2">
                  <c:v>unit_impulse</c:v>
                </c:pt>
                <c:pt idx="3">
                  <c:v>cubic</c:v>
                </c:pt>
                <c:pt idx="4">
                  <c:v>quadratic</c:v>
                </c:pt>
                <c:pt idx="5">
                  <c:v>hamming</c:v>
                </c:pt>
                <c:pt idx="6">
                  <c:v>kaiser</c:v>
                </c:pt>
                <c:pt idx="7">
                  <c:v>firwin</c:v>
                </c:pt>
                <c:pt idx="8">
                  <c:v>firwin2</c:v>
                </c:pt>
                <c:pt idx="9">
                  <c:v>firfilter</c:v>
                </c:pt>
                <c:pt idx="10">
                  <c:v>sosfilt</c:v>
                </c:pt>
                <c:pt idx="11">
                  <c:v>hilbert</c:v>
                </c:pt>
                <c:pt idx="12">
                  <c:v>hilbert2</c:v>
                </c:pt>
                <c:pt idx="13">
                  <c:v>pulse_compression</c:v>
                </c:pt>
                <c:pt idx="14">
                  <c:v>pulse_doppler</c:v>
                </c:pt>
                <c:pt idx="15">
                  <c:v>ambgfun</c:v>
                </c:pt>
                <c:pt idx="16">
                  <c:v>cfar_alpha</c:v>
                </c:pt>
                <c:pt idx="17">
                  <c:v>ca_cfar</c:v>
                </c:pt>
                <c:pt idx="18">
                  <c:v>spectrogram</c:v>
                </c:pt>
                <c:pt idx="19">
                  <c:v>stft</c:v>
                </c:pt>
                <c:pt idx="20">
                  <c:v>ricker</c:v>
                </c:pt>
                <c:pt idx="21">
                  <c:v>cwt</c:v>
                </c:pt>
                <c:pt idx="22">
                  <c:v>correlate</c:v>
                </c:pt>
                <c:pt idx="23">
                  <c:v>correlate2d</c:v>
                </c:pt>
                <c:pt idx="24">
                  <c:v>fm_demod</c:v>
                </c:pt>
                <c:pt idx="25">
                  <c:v>kalman_filter</c:v>
                </c:pt>
                <c:pt idx="26">
                  <c:v>argrelextrema</c:v>
                </c:pt>
              </c:strCache>
            </c:strRef>
          </c:cat>
          <c:val>
            <c:numRef>
              <c:f>Sheet1!$B$2:$AB$2</c:f>
              <c:numCache>
                <c:formatCode>General</c:formatCode>
                <c:ptCount val="27"/>
                <c:pt idx="0">
                  <c:v>96.544399999999996</c:v>
                </c:pt>
                <c:pt idx="1">
                  <c:v>124.184</c:v>
                </c:pt>
                <c:pt idx="2">
                  <c:v>128.833</c:v>
                </c:pt>
                <c:pt idx="3">
                  <c:v>2.2840400000000001</c:v>
                </c:pt>
                <c:pt idx="4">
                  <c:v>37.545400000000001</c:v>
                </c:pt>
                <c:pt idx="5">
                  <c:v>114.65</c:v>
                </c:pt>
                <c:pt idx="6">
                  <c:v>258.84199999999998</c:v>
                </c:pt>
                <c:pt idx="7">
                  <c:v>4.5898300000000001</c:v>
                </c:pt>
                <c:pt idx="8">
                  <c:v>2.2884500000000001</c:v>
                </c:pt>
                <c:pt idx="9">
                  <c:v>12.386900000000001</c:v>
                </c:pt>
                <c:pt idx="10">
                  <c:v>6.6296999999999997</c:v>
                </c:pt>
                <c:pt idx="11">
                  <c:v>43.146599999999999</c:v>
                </c:pt>
                <c:pt idx="12">
                  <c:v>29.221699999999998</c:v>
                </c:pt>
                <c:pt idx="13">
                  <c:v>59.173200000000001</c:v>
                </c:pt>
                <c:pt idx="14">
                  <c:v>30.639500000000002</c:v>
                </c:pt>
                <c:pt idx="15">
                  <c:v>48.015900000000002</c:v>
                </c:pt>
                <c:pt idx="16">
                  <c:v>2.2950000000000002E-3</c:v>
                </c:pt>
                <c:pt idx="17">
                  <c:v>7.8091900000000001</c:v>
                </c:pt>
                <c:pt idx="18">
                  <c:v>50.6374</c:v>
                </c:pt>
                <c:pt idx="19">
                  <c:v>18.439800000000002</c:v>
                </c:pt>
                <c:pt idx="20">
                  <c:v>27.496099999999998</c:v>
                </c:pt>
                <c:pt idx="21">
                  <c:v>412.12200000000001</c:v>
                </c:pt>
                <c:pt idx="22">
                  <c:v>29.288900000000002</c:v>
                </c:pt>
                <c:pt idx="23">
                  <c:v>2.7364299999999999</c:v>
                </c:pt>
                <c:pt idx="24">
                  <c:v>3.7503600000000001</c:v>
                </c:pt>
                <c:pt idx="25">
                  <c:v>0.170432</c:v>
                </c:pt>
                <c:pt idx="26">
                  <c:v>4.0926400000000003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EB-4964-AC40-75E2B2823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52964339"/>
        <c:axId val="318032478"/>
      </c:barChart>
      <c:catAx>
        <c:axId val="52964339"/>
        <c:scaling>
          <c:orientation val="minMax"/>
        </c:scaling>
        <c:delete val="0"/>
        <c:axPos val="l"/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032478"/>
        <c:crosses val="autoZero"/>
        <c:auto val="1"/>
        <c:lblAlgn val="ctr"/>
        <c:lblOffset val="0"/>
        <c:tickLblSkip val="1"/>
        <c:noMultiLvlLbl val="0"/>
      </c:catAx>
      <c:valAx>
        <c:axId val="318032478"/>
        <c:scaling>
          <c:orientation val="minMax"/>
          <c:max val="42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29643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291f920-bba4-4173-a3da-e34a2cb2abe5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408647383950616E-2"/>
          <c:y val="1.0009949928952589E-3"/>
          <c:w val="0.90065254492520797"/>
          <c:h val="0.86157323688969301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>
              <a:gsLst>
                <a:gs pos="0">
                  <a:srgbClr val="008BFF">
                    <a:alpha val="90000"/>
                  </a:srgbClr>
                </a:gs>
                <a:gs pos="100000">
                  <a:srgbClr val="0068BF"/>
                </a:gs>
              </a:gsLst>
              <a:lin ang="2700000" scaled="1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Sheet1!$B$1:$AA$1</c:f>
              <c:strCache>
                <c:ptCount val="26"/>
                <c:pt idx="0">
                  <c:v>sawtooth</c:v>
                </c:pt>
                <c:pt idx="1">
                  <c:v>square</c:v>
                </c:pt>
                <c:pt idx="2">
                  <c:v>gauss_spline</c:v>
                </c:pt>
                <c:pt idx="3">
                  <c:v>chebwin</c:v>
                </c:pt>
                <c:pt idx="4">
                  <c:v>general_cosine</c:v>
                </c:pt>
                <c:pt idx="5">
                  <c:v>general_gaussian</c:v>
                </c:pt>
                <c:pt idx="6">
                  <c:v>parzen</c:v>
                </c:pt>
                <c:pt idx="7">
                  <c:v>taylor</c:v>
                </c:pt>
                <c:pt idx="8">
                  <c:v>triang</c:v>
                </c:pt>
                <c:pt idx="9">
                  <c:v>wiener</c:v>
                </c:pt>
                <c:pt idx="10">
                  <c:v>lfilter_zi</c:v>
                </c:pt>
                <c:pt idx="11">
                  <c:v>firfilter2</c:v>
                </c:pt>
                <c:pt idx="12">
                  <c:v>detrend</c:v>
                </c:pt>
                <c:pt idx="13">
                  <c:v>freq_shift</c:v>
                </c:pt>
                <c:pt idx="14">
                  <c:v>channelize_poly</c:v>
                </c:pt>
                <c:pt idx="15">
                  <c:v>decimate</c:v>
                </c:pt>
                <c:pt idx="16">
                  <c:v>resample</c:v>
                </c:pt>
                <c:pt idx="17">
                  <c:v>resample_poly</c:v>
                </c:pt>
                <c:pt idx="18">
                  <c:v>upfirdn</c:v>
                </c:pt>
                <c:pt idx="19">
                  <c:v>lombscargle</c:v>
                </c:pt>
                <c:pt idx="20">
                  <c:v>csd</c:v>
                </c:pt>
                <c:pt idx="21">
                  <c:v>istft</c:v>
                </c:pt>
                <c:pt idx="22">
                  <c:v>vectorstrength</c:v>
                </c:pt>
                <c:pt idx="23">
                  <c:v>qmf</c:v>
                </c:pt>
                <c:pt idx="24">
                  <c:v>morlet</c:v>
                </c:pt>
                <c:pt idx="25">
                  <c:v>morlet2</c:v>
                </c:pt>
              </c:strCache>
            </c:strRef>
          </c:cat>
          <c:val>
            <c:numRef>
              <c:f>Sheet1!$B$2:$AA$2</c:f>
              <c:numCache>
                <c:formatCode>General</c:formatCode>
                <c:ptCount val="26"/>
                <c:pt idx="0">
                  <c:v>56.537399999999998</c:v>
                </c:pt>
                <c:pt idx="1">
                  <c:v>75.698899999999995</c:v>
                </c:pt>
                <c:pt idx="2">
                  <c:v>96.018799999999999</c:v>
                </c:pt>
                <c:pt idx="3">
                  <c:v>1.6148400000000001</c:v>
                </c:pt>
                <c:pt idx="4">
                  <c:v>140.27799999999999</c:v>
                </c:pt>
                <c:pt idx="5">
                  <c:v>512.803</c:v>
                </c:pt>
                <c:pt idx="6">
                  <c:v>76.723600000000005</c:v>
                </c:pt>
                <c:pt idx="7">
                  <c:v>139.33199999999999</c:v>
                </c:pt>
                <c:pt idx="8">
                  <c:v>76.358599999999996</c:v>
                </c:pt>
                <c:pt idx="9">
                  <c:v>185.50700000000001</c:v>
                </c:pt>
                <c:pt idx="10">
                  <c:v>33.045900000000003</c:v>
                </c:pt>
                <c:pt idx="11">
                  <c:v>6.49458</c:v>
                </c:pt>
                <c:pt idx="12">
                  <c:v>5.66953</c:v>
                </c:pt>
                <c:pt idx="13">
                  <c:v>19.440200000000001</c:v>
                </c:pt>
                <c:pt idx="14">
                  <c:v>139.86500000000001</c:v>
                </c:pt>
                <c:pt idx="15">
                  <c:v>16.511600000000001</c:v>
                </c:pt>
                <c:pt idx="16">
                  <c:v>32.366399999999999</c:v>
                </c:pt>
                <c:pt idx="17">
                  <c:v>45.862200000000001</c:v>
                </c:pt>
                <c:pt idx="18">
                  <c:v>11.004</c:v>
                </c:pt>
                <c:pt idx="19">
                  <c:v>186.31700000000001</c:v>
                </c:pt>
                <c:pt idx="20">
                  <c:v>9.9776699999999998</c:v>
                </c:pt>
                <c:pt idx="21">
                  <c:v>4.1352700000000002</c:v>
                </c:pt>
                <c:pt idx="22">
                  <c:v>106.64400000000001</c:v>
                </c:pt>
                <c:pt idx="23">
                  <c:v>77.102800000000002</c:v>
                </c:pt>
                <c:pt idx="24">
                  <c:v>97.201999999999998</c:v>
                </c:pt>
                <c:pt idx="25">
                  <c:v>58.862000000000002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C-4F79-A144-06B185CFD6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52964339"/>
        <c:axId val="318032478"/>
      </c:barChart>
      <c:catAx>
        <c:axId val="52964339"/>
        <c:scaling>
          <c:orientation val="minMax"/>
        </c:scaling>
        <c:delete val="0"/>
        <c:axPos val="l"/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032478"/>
        <c:crosses val="autoZero"/>
        <c:auto val="1"/>
        <c:lblAlgn val="ctr"/>
        <c:lblOffset val="0"/>
        <c:tickLblSkip val="1"/>
        <c:noMultiLvlLbl val="0"/>
      </c:catAx>
      <c:valAx>
        <c:axId val="318032478"/>
        <c:scaling>
          <c:orientation val="minMax"/>
          <c:max val="52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29643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291f920-bba4-4173-a3da-e34a2cb2abe5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408647383950616E-2"/>
          <c:y val="1.0009949928952589E-3"/>
          <c:w val="0.90065254492520797"/>
          <c:h val="0.86157323688969301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>
              <a:gsLst>
                <a:gs pos="0">
                  <a:srgbClr val="008BFF">
                    <a:alpha val="90000"/>
                  </a:srgbClr>
                </a:gs>
                <a:gs pos="100000">
                  <a:srgbClr val="0068BF"/>
                </a:gs>
              </a:gsLst>
              <a:lin ang="2700000" scaled="1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Sheet1!$B$1:$G$1</c:f>
              <c:strCache>
                <c:ptCount val="6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  <c:pt idx="4">
                  <c:v>L5</c:v>
                </c:pt>
                <c:pt idx="5">
                  <c:v>L6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27.42</c:v>
                </c:pt>
                <c:pt idx="1">
                  <c:v>26.47</c:v>
                </c:pt>
                <c:pt idx="2">
                  <c:v>27.2</c:v>
                </c:pt>
                <c:pt idx="3">
                  <c:v>29.45</c:v>
                </c:pt>
                <c:pt idx="4">
                  <c:v>26.8</c:v>
                </c:pt>
                <c:pt idx="5">
                  <c:v>32.520000000000003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E0-4D1E-B0C3-446AD739F1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52964339"/>
        <c:axId val="318032478"/>
      </c:barChart>
      <c:catAx>
        <c:axId val="52964339"/>
        <c:scaling>
          <c:orientation val="minMax"/>
        </c:scaling>
        <c:delete val="0"/>
        <c:axPos val="l"/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1050" b="1" i="0" u="none" strike="noStrike" kern="1200" baseline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318032478"/>
        <c:crosses val="autoZero"/>
        <c:auto val="1"/>
        <c:lblAlgn val="ctr"/>
        <c:lblOffset val="0"/>
        <c:tickLblSkip val="1"/>
        <c:noMultiLvlLbl val="0"/>
      </c:catAx>
      <c:valAx>
        <c:axId val="318032478"/>
        <c:scaling>
          <c:orientation val="minMax"/>
          <c:max val="33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529643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291f920-bba4-4173-a3da-e34a2cb2abe5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408647383950616E-2"/>
          <c:y val="1.0009949928952589E-3"/>
          <c:w val="0.90065254492520797"/>
          <c:h val="0.86157323688969301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>
              <a:gsLst>
                <a:gs pos="0">
                  <a:srgbClr val="008BFF">
                    <a:alpha val="90000"/>
                  </a:srgbClr>
                </a:gs>
                <a:gs pos="100000">
                  <a:srgbClr val="0068BF"/>
                </a:gs>
              </a:gsLst>
              <a:lin ang="2700000" scaled="1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Sheet1!$B$1:$G$1</c:f>
              <c:strCache>
                <c:ptCount val="6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  <c:pt idx="4">
                  <c:v>L5</c:v>
                </c:pt>
                <c:pt idx="5">
                  <c:v>L6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343.12</c:v>
                </c:pt>
                <c:pt idx="1">
                  <c:v>558.95000000000005</c:v>
                </c:pt>
                <c:pt idx="2">
                  <c:v>659.02</c:v>
                </c:pt>
                <c:pt idx="3">
                  <c:v>1014.4</c:v>
                </c:pt>
                <c:pt idx="4">
                  <c:v>992.18</c:v>
                </c:pt>
                <c:pt idx="5">
                  <c:v>1053.32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32-4318-AFAF-3664F1592D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52964339"/>
        <c:axId val="318032478"/>
      </c:barChart>
      <c:catAx>
        <c:axId val="52964339"/>
        <c:scaling>
          <c:orientation val="minMax"/>
        </c:scaling>
        <c:delete val="0"/>
        <c:axPos val="l"/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1050" b="1" i="0" u="none" strike="noStrike" kern="1200" baseline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318032478"/>
        <c:crosses val="autoZero"/>
        <c:auto val="1"/>
        <c:lblAlgn val="ctr"/>
        <c:lblOffset val="0"/>
        <c:tickLblSkip val="1"/>
        <c:noMultiLvlLbl val="0"/>
      </c:catAx>
      <c:valAx>
        <c:axId val="318032478"/>
        <c:scaling>
          <c:orientation val="minMax"/>
          <c:max val="1055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529643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291f920-bba4-4173-a3da-e34a2cb2abe5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41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899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786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926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136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122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581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0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26" Type="http://schemas.openxmlformats.org/officeDocument/2006/relationships/tags" Target="../tags/tag90.xml"/><Relationship Id="rId21" Type="http://schemas.openxmlformats.org/officeDocument/2006/relationships/tags" Target="../tags/tag85.xml"/><Relationship Id="rId34" Type="http://schemas.openxmlformats.org/officeDocument/2006/relationships/image" Target="../media/image5.png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3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20" Type="http://schemas.openxmlformats.org/officeDocument/2006/relationships/tags" Target="../tags/tag84.xml"/><Relationship Id="rId29" Type="http://schemas.openxmlformats.org/officeDocument/2006/relationships/tags" Target="../tags/tag93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24" Type="http://schemas.openxmlformats.org/officeDocument/2006/relationships/tags" Target="../tags/tag88.xml"/><Relationship Id="rId32" Type="http://schemas.openxmlformats.org/officeDocument/2006/relationships/tags" Target="../tags/tag96.xml"/><Relationship Id="rId37" Type="http://schemas.openxmlformats.org/officeDocument/2006/relationships/image" Target="../media/image8.png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36" Type="http://schemas.openxmlformats.org/officeDocument/2006/relationships/image" Target="../media/image7.png"/><Relationship Id="rId10" Type="http://schemas.openxmlformats.org/officeDocument/2006/relationships/tags" Target="../tags/tag74.xml"/><Relationship Id="rId19" Type="http://schemas.openxmlformats.org/officeDocument/2006/relationships/tags" Target="../tags/tag83.xml"/><Relationship Id="rId31" Type="http://schemas.openxmlformats.org/officeDocument/2006/relationships/tags" Target="../tags/tag95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30" Type="http://schemas.openxmlformats.org/officeDocument/2006/relationships/tags" Target="../tags/tag94.xml"/><Relationship Id="rId35" Type="http://schemas.openxmlformats.org/officeDocument/2006/relationships/image" Target="../media/image6.png"/><Relationship Id="rId8" Type="http://schemas.openxmlformats.org/officeDocument/2006/relationships/tags" Target="../tags/tag72.xml"/><Relationship Id="rId3" Type="http://schemas.openxmlformats.org/officeDocument/2006/relationships/tags" Target="../tags/tag6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2" Type="http://schemas.openxmlformats.org/officeDocument/2006/relationships/tags" Target="../tags/tag98.xml"/><Relationship Id="rId16" Type="http://schemas.openxmlformats.org/officeDocument/2006/relationships/image" Target="../media/image9.png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image" Target="../media/image5.png"/><Relationship Id="rId10" Type="http://schemas.openxmlformats.org/officeDocument/2006/relationships/tags" Target="../tags/tag10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tags" Target="../tags/tag122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image" Target="../media/image11.png"/><Relationship Id="rId2" Type="http://schemas.openxmlformats.org/officeDocument/2006/relationships/tags" Target="../tags/tag111.xml"/><Relationship Id="rId16" Type="http://schemas.openxmlformats.org/officeDocument/2006/relationships/image" Target="../media/image10.png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5" Type="http://schemas.openxmlformats.org/officeDocument/2006/relationships/image" Target="../media/image5.png"/><Relationship Id="rId10" Type="http://schemas.openxmlformats.org/officeDocument/2006/relationships/tags" Target="../tags/tag119.xml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tags" Target="../tags/tag135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tags" Target="../tags/tag134.xml"/><Relationship Id="rId2" Type="http://schemas.openxmlformats.org/officeDocument/2006/relationships/tags" Target="../tags/tag124.xml"/><Relationship Id="rId16" Type="http://schemas.openxmlformats.org/officeDocument/2006/relationships/image" Target="../media/image12.png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5" Type="http://schemas.openxmlformats.org/officeDocument/2006/relationships/image" Target="../media/image5.png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image" Target="../media/image13.png"/><Relationship Id="rId2" Type="http://schemas.openxmlformats.org/officeDocument/2006/relationships/tags" Target="../tags/tag137.xml"/><Relationship Id="rId16" Type="http://schemas.openxmlformats.org/officeDocument/2006/relationships/image" Target="../media/image5.png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13" Type="http://schemas.openxmlformats.org/officeDocument/2006/relationships/tags" Target="../tags/tag161.xml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12" Type="http://schemas.openxmlformats.org/officeDocument/2006/relationships/tags" Target="../tags/tag160.xml"/><Relationship Id="rId17" Type="http://schemas.openxmlformats.org/officeDocument/2006/relationships/image" Target="../media/image14.png"/><Relationship Id="rId2" Type="http://schemas.openxmlformats.org/officeDocument/2006/relationships/tags" Target="../tags/tag150.xml"/><Relationship Id="rId16" Type="http://schemas.openxmlformats.org/officeDocument/2006/relationships/image" Target="../media/image5.png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tags" Target="../tags/tag159.xml"/><Relationship Id="rId5" Type="http://schemas.openxmlformats.org/officeDocument/2006/relationships/tags" Target="../tags/tag153.xml"/><Relationship Id="rId15" Type="http://schemas.openxmlformats.org/officeDocument/2006/relationships/notesSlide" Target="../notesSlides/notesSlide3.xml"/><Relationship Id="rId10" Type="http://schemas.openxmlformats.org/officeDocument/2006/relationships/tags" Target="../tags/tag158.xml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tags" Target="../tags/tag174.xml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12" Type="http://schemas.openxmlformats.org/officeDocument/2006/relationships/tags" Target="../tags/tag173.xml"/><Relationship Id="rId17" Type="http://schemas.openxmlformats.org/officeDocument/2006/relationships/image" Target="../media/image15.png"/><Relationship Id="rId2" Type="http://schemas.openxmlformats.org/officeDocument/2006/relationships/tags" Target="../tags/tag163.xml"/><Relationship Id="rId16" Type="http://schemas.openxmlformats.org/officeDocument/2006/relationships/image" Target="../media/image5.png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tags" Target="../tags/tag172.xml"/><Relationship Id="rId5" Type="http://schemas.openxmlformats.org/officeDocument/2006/relationships/tags" Target="../tags/tag16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171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13" Type="http://schemas.openxmlformats.org/officeDocument/2006/relationships/tags" Target="../tags/tag187.xml"/><Relationship Id="rId18" Type="http://schemas.openxmlformats.org/officeDocument/2006/relationships/chart" Target="../charts/chart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12" Type="http://schemas.openxmlformats.org/officeDocument/2006/relationships/tags" Target="../tags/tag186.xml"/><Relationship Id="rId17" Type="http://schemas.openxmlformats.org/officeDocument/2006/relationships/chart" Target="../charts/chart1.xml"/><Relationship Id="rId2" Type="http://schemas.openxmlformats.org/officeDocument/2006/relationships/tags" Target="../tags/tag176.xml"/><Relationship Id="rId16" Type="http://schemas.openxmlformats.org/officeDocument/2006/relationships/image" Target="../media/image5.png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tags" Target="../tags/tag185.xml"/><Relationship Id="rId5" Type="http://schemas.openxmlformats.org/officeDocument/2006/relationships/tags" Target="../tags/tag179.xml"/><Relationship Id="rId15" Type="http://schemas.openxmlformats.org/officeDocument/2006/relationships/notesSlide" Target="../notesSlides/notesSlide5.xml"/><Relationship Id="rId10" Type="http://schemas.openxmlformats.org/officeDocument/2006/relationships/tags" Target="../tags/tag184.xml"/><Relationship Id="rId19" Type="http://schemas.openxmlformats.org/officeDocument/2006/relationships/image" Target="../media/image16.png"/><Relationship Id="rId4" Type="http://schemas.openxmlformats.org/officeDocument/2006/relationships/tags" Target="../tags/tag178.xml"/><Relationship Id="rId9" Type="http://schemas.openxmlformats.org/officeDocument/2006/relationships/tags" Target="../tags/tag183.xml"/><Relationship Id="rId1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13" Type="http://schemas.openxmlformats.org/officeDocument/2006/relationships/tags" Target="../tags/tag200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tags" Target="../tags/tag199.xml"/><Relationship Id="rId2" Type="http://schemas.openxmlformats.org/officeDocument/2006/relationships/tags" Target="../tags/tag189.xml"/><Relationship Id="rId16" Type="http://schemas.openxmlformats.org/officeDocument/2006/relationships/image" Target="../media/image17.png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5" Type="http://schemas.openxmlformats.org/officeDocument/2006/relationships/image" Target="../media/image5.png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Relationship Id="rId1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18" Type="http://schemas.openxmlformats.org/officeDocument/2006/relationships/chart" Target="../charts/chart3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17" Type="http://schemas.openxmlformats.org/officeDocument/2006/relationships/image" Target="../media/image5.png"/><Relationship Id="rId2" Type="http://schemas.openxmlformats.org/officeDocument/2006/relationships/tags" Target="../tags/tag202.xml"/><Relationship Id="rId16" Type="http://schemas.openxmlformats.org/officeDocument/2006/relationships/image" Target="../media/image18.png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5" Type="http://schemas.openxmlformats.org/officeDocument/2006/relationships/tags" Target="../tags/tag205.xml"/><Relationship Id="rId15" Type="http://schemas.openxmlformats.org/officeDocument/2006/relationships/notesSlide" Target="../notesSlides/notesSlide6.xml"/><Relationship Id="rId10" Type="http://schemas.openxmlformats.org/officeDocument/2006/relationships/tags" Target="../tags/tag210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13" Type="http://schemas.openxmlformats.org/officeDocument/2006/relationships/tags" Target="../tags/tag226.xml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tags" Target="../tags/tag225.xml"/><Relationship Id="rId2" Type="http://schemas.openxmlformats.org/officeDocument/2006/relationships/tags" Target="../tags/tag215.xml"/><Relationship Id="rId16" Type="http://schemas.openxmlformats.org/officeDocument/2006/relationships/image" Target="../media/image19.png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tags" Target="../tags/tag224.xml"/><Relationship Id="rId5" Type="http://schemas.openxmlformats.org/officeDocument/2006/relationships/tags" Target="../tags/tag218.xml"/><Relationship Id="rId15" Type="http://schemas.openxmlformats.org/officeDocument/2006/relationships/image" Target="../media/image5.png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Relationship Id="rId1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18" Type="http://schemas.openxmlformats.org/officeDocument/2006/relationships/image" Target="../media/image20.png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17" Type="http://schemas.openxmlformats.org/officeDocument/2006/relationships/chart" Target="../charts/chart4.xml"/><Relationship Id="rId2" Type="http://schemas.openxmlformats.org/officeDocument/2006/relationships/tags" Target="../tags/tag228.xml"/><Relationship Id="rId16" Type="http://schemas.openxmlformats.org/officeDocument/2006/relationships/image" Target="../media/image5.png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notesSlide" Target="../notesSlides/notesSlide7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tags" Target="../tags/tag252.xml"/><Relationship Id="rId18" Type="http://schemas.openxmlformats.org/officeDocument/2006/relationships/image" Target="../media/image23.png"/><Relationship Id="rId3" Type="http://schemas.openxmlformats.org/officeDocument/2006/relationships/tags" Target="../tags/tag242.xml"/><Relationship Id="rId7" Type="http://schemas.openxmlformats.org/officeDocument/2006/relationships/tags" Target="../tags/tag246.xml"/><Relationship Id="rId12" Type="http://schemas.openxmlformats.org/officeDocument/2006/relationships/tags" Target="../tags/tag251.xml"/><Relationship Id="rId17" Type="http://schemas.openxmlformats.org/officeDocument/2006/relationships/image" Target="../media/image22.png"/><Relationship Id="rId2" Type="http://schemas.openxmlformats.org/officeDocument/2006/relationships/tags" Target="../tags/tag241.xml"/><Relationship Id="rId16" Type="http://schemas.openxmlformats.org/officeDocument/2006/relationships/image" Target="../media/image21.png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5" Type="http://schemas.openxmlformats.org/officeDocument/2006/relationships/tags" Target="../tags/tag244.xml"/><Relationship Id="rId15" Type="http://schemas.openxmlformats.org/officeDocument/2006/relationships/image" Target="../media/image5.png"/><Relationship Id="rId10" Type="http://schemas.openxmlformats.org/officeDocument/2006/relationships/tags" Target="../tags/tag249.xml"/><Relationship Id="rId19" Type="http://schemas.openxmlformats.org/officeDocument/2006/relationships/image" Target="../media/image24.png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13" Type="http://schemas.openxmlformats.org/officeDocument/2006/relationships/tags" Target="../tags/tag265.xml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12" Type="http://schemas.openxmlformats.org/officeDocument/2006/relationships/tags" Target="../tags/tag264.xml"/><Relationship Id="rId2" Type="http://schemas.openxmlformats.org/officeDocument/2006/relationships/tags" Target="../tags/tag254.xml"/><Relationship Id="rId16" Type="http://schemas.openxmlformats.org/officeDocument/2006/relationships/image" Target="../media/image25.png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5" Type="http://schemas.openxmlformats.org/officeDocument/2006/relationships/tags" Target="../tags/tag257.xml"/><Relationship Id="rId15" Type="http://schemas.openxmlformats.org/officeDocument/2006/relationships/image" Target="../media/image5.png"/><Relationship Id="rId10" Type="http://schemas.openxmlformats.org/officeDocument/2006/relationships/tags" Target="../tags/tag262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4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73.xml"/><Relationship Id="rId13" Type="http://schemas.openxmlformats.org/officeDocument/2006/relationships/tags" Target="../tags/tag278.xml"/><Relationship Id="rId3" Type="http://schemas.openxmlformats.org/officeDocument/2006/relationships/tags" Target="../tags/tag268.xml"/><Relationship Id="rId7" Type="http://schemas.openxmlformats.org/officeDocument/2006/relationships/tags" Target="../tags/tag272.xml"/><Relationship Id="rId12" Type="http://schemas.openxmlformats.org/officeDocument/2006/relationships/tags" Target="../tags/tag277.xml"/><Relationship Id="rId2" Type="http://schemas.openxmlformats.org/officeDocument/2006/relationships/tags" Target="../tags/tag267.xml"/><Relationship Id="rId16" Type="http://schemas.openxmlformats.org/officeDocument/2006/relationships/image" Target="../media/image5.png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tags" Target="../tags/tag276.xml"/><Relationship Id="rId5" Type="http://schemas.openxmlformats.org/officeDocument/2006/relationships/tags" Target="../tags/tag270.xml"/><Relationship Id="rId15" Type="http://schemas.openxmlformats.org/officeDocument/2006/relationships/notesSlide" Target="../notesSlides/notesSlide8.xml"/><Relationship Id="rId10" Type="http://schemas.openxmlformats.org/officeDocument/2006/relationships/tags" Target="../tags/tag275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4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9.xml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49419" y="1773748"/>
            <a:ext cx="112242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accent1">
                    <a:lumMod val="7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第十届全国大学生集成电路创新创业大赛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1794425" y="2852434"/>
            <a:ext cx="9219626" cy="977046"/>
          </a:xfrm>
          <a:prstGeom prst="roundRect">
            <a:avLst>
              <a:gd name="adj" fmla="val 15518"/>
            </a:avLst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tIns="144145"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646090" y="3003687"/>
            <a:ext cx="9333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基于中科芯</a:t>
            </a:r>
            <a:r>
              <a:rPr lang="en-US" altLang="zh-CN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高性能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信号处理运算库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2820670" y="4491056"/>
            <a:ext cx="2805366" cy="54153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CICC1001212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7154498" y="4491040"/>
            <a:ext cx="1962002" cy="54159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ym typeface="+mn-ea"/>
              </a:rPr>
              <a:t>非诚勿扰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396" y="178755"/>
            <a:ext cx="5725977" cy="14094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366E6B6-0EF8-B098-88C7-5C0F0C8CC3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30" y="108844"/>
            <a:ext cx="4741542" cy="15136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CC927F-32FB-5745-0EFC-4E03037230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44" b="16111"/>
          <a:stretch>
            <a:fillRect/>
          </a:stretch>
        </p:blipFill>
        <p:spPr>
          <a:xfrm>
            <a:off x="0" y="4838700"/>
            <a:ext cx="12192000" cy="20193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弧形 368"/>
          <p:cNvSpPr/>
          <p:nvPr>
            <p:custDataLst>
              <p:tags r:id="rId1"/>
            </p:custDataLst>
          </p:nvPr>
        </p:nvSpPr>
        <p:spPr>
          <a:xfrm flipV="1">
            <a:off x="7327844" y="1639635"/>
            <a:ext cx="2274570" cy="2274570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chemeClr val="accent3">
                <a:alpha val="60000"/>
              </a:schemeClr>
            </a:solidFill>
            <a:prstDash val="dash"/>
            <a:head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597C8EE-C88C-6240-6509-84370A878AE0}"/>
              </a:ext>
            </a:extLst>
          </p:cNvPr>
          <p:cNvGrpSpPr/>
          <p:nvPr/>
        </p:nvGrpSpPr>
        <p:grpSpPr>
          <a:xfrm>
            <a:off x="-3810" y="-1"/>
            <a:ext cx="12192000" cy="781512"/>
            <a:chOff x="-3810" y="-1"/>
            <a:chExt cx="12192000" cy="781512"/>
          </a:xfrm>
        </p:grpSpPr>
        <p:sp>
          <p:nvSpPr>
            <p:cNvPr id="23" name="任意多边形: 形状 30"/>
            <p:cNvSpPr/>
            <p:nvPr>
              <p:custDataLst>
                <p:tags r:id="rId19"/>
              </p:custDataLst>
            </p:nvPr>
          </p:nvSpPr>
          <p:spPr>
            <a:xfrm>
              <a:off x="-3810" y="-1"/>
              <a:ext cx="12192000" cy="767944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FFFFF">
                    <a:alpha val="80000"/>
                  </a:srgbClr>
                </a:gs>
                <a:gs pos="52000">
                  <a:srgbClr val="FFFFFF">
                    <a:alpha val="80000"/>
                  </a:srgbClr>
                </a:gs>
                <a:gs pos="0">
                  <a:srgbClr val="FFFFFF">
                    <a:alpha val="80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25" name="PA-文本框 6"/>
            <p:cNvSpPr txBox="1"/>
            <p:nvPr>
              <p:custDataLst>
                <p:tags r:id="rId20"/>
              </p:custDataLst>
            </p:nvPr>
          </p:nvSpPr>
          <p:spPr>
            <a:xfrm>
              <a:off x="4521835" y="215265"/>
              <a:ext cx="169100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+mn-ea"/>
                  <a:ea typeface="+mn-ea"/>
                  <a:cs typeface="仓耳玄三M W05" panose="02020400000000000000" charset="-128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4" name="PA-任意多边形 7"/>
            <p:cNvSpPr/>
            <p:nvPr>
              <p:custDataLst>
                <p:tags r:id="rId21"/>
              </p:custDataLst>
            </p:nvPr>
          </p:nvSpPr>
          <p:spPr>
            <a:xfrm>
              <a:off x="2772662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35" name="PA-文本框 8"/>
            <p:cNvSpPr txBox="1"/>
            <p:nvPr>
              <p:custDataLst>
                <p:tags r:id="rId22"/>
              </p:custDataLst>
            </p:nvPr>
          </p:nvSpPr>
          <p:spPr>
            <a:xfrm>
              <a:off x="2772662" y="215061"/>
              <a:ext cx="1586585" cy="3683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Saturday Sans Regular" panose="02010600010101010101" charset="-122"/>
                  <a:sym typeface="汉仪雅酷黑简" panose="00020600040101010101" charset="-122"/>
                  <a:rtl val="0"/>
                </a:rPr>
                <a:t>团队介绍</a:t>
              </a:r>
            </a:p>
          </p:txBody>
        </p:sp>
        <p:sp>
          <p:nvSpPr>
            <p:cNvPr id="36" name="PA-文本框 10"/>
            <p:cNvSpPr txBox="1"/>
            <p:nvPr>
              <p:custDataLst>
                <p:tags r:id="rId23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/>
            <p:cNvSpPr txBox="1"/>
            <p:nvPr>
              <p:custDataLst>
                <p:tags r:id="rId24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/>
            <p:cNvCxnSpPr/>
            <p:nvPr>
              <p:custDataLst>
                <p:tags r:id="rId25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/>
            <p:cNvSpPr/>
            <p:nvPr>
              <p:custDataLst>
                <p:tags r:id="rId26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/>
            <p:cNvSpPr txBox="1"/>
            <p:nvPr>
              <p:custDataLst>
                <p:tags r:id="rId27"/>
              </p:custDataLst>
            </p:nvPr>
          </p:nvSpPr>
          <p:spPr>
            <a:xfrm>
              <a:off x="6254294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+mn-ea"/>
                  <a:ea typeface="+mn-ea"/>
                  <a:cs typeface="仓耳玄三M W05" panose="02020400000000000000" charset="-128"/>
                  <a:sym typeface="汉仪雅酷黑简" panose="00020600040101010101" charset="-122"/>
                </a:rPr>
                <a:t>技术路线</a:t>
              </a:r>
            </a:p>
          </p:txBody>
        </p:sp>
        <p:cxnSp>
          <p:nvCxnSpPr>
            <p:cNvPr id="42" name="PA-直接连接符 26"/>
            <p:cNvCxnSpPr/>
            <p:nvPr>
              <p:custDataLst>
                <p:tags r:id="rId28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/>
            <p:cNvCxnSpPr/>
            <p:nvPr>
              <p:custDataLst>
                <p:tags r:id="rId29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/>
            <p:cNvSpPr/>
            <p:nvPr>
              <p:custDataLst>
                <p:tags r:id="rId30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/>
            <p:cNvSpPr/>
            <p:nvPr>
              <p:custDataLst>
                <p:tags r:id="rId31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/>
            <p:cNvCxnSpPr/>
            <p:nvPr>
              <p:custDataLst>
                <p:tags r:id="rId32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2" name="任意多边形: 形状 353"/>
          <p:cNvSpPr/>
          <p:nvPr>
            <p:custDataLst>
              <p:tags r:id="rId2"/>
            </p:custDataLst>
          </p:nvPr>
        </p:nvSpPr>
        <p:spPr>
          <a:xfrm>
            <a:off x="5180274" y="1925067"/>
            <a:ext cx="1766570" cy="1717675"/>
          </a:xfrm>
          <a:custGeom>
            <a:avLst/>
            <a:gdLst>
              <a:gd name="connsiteX0" fmla="*/ 810429 w 1766291"/>
              <a:gd name="connsiteY0" fmla="*/ 95 h 1717769"/>
              <a:gd name="connsiteX1" fmla="*/ 1607004 w 1766291"/>
              <a:gd name="connsiteY1" fmla="*/ 393960 h 1717769"/>
              <a:gd name="connsiteX2" fmla="*/ 1690188 w 1766291"/>
              <a:gd name="connsiteY2" fmla="*/ 1158193 h 1717769"/>
              <a:gd name="connsiteX3" fmla="*/ 1690552 w 1766291"/>
              <a:gd name="connsiteY3" fmla="*/ 1158713 h 1717769"/>
              <a:gd name="connsiteX4" fmla="*/ 784576 w 1766291"/>
              <a:gd name="connsiteY4" fmla="*/ 1714790 h 1717769"/>
              <a:gd name="connsiteX5" fmla="*/ 9006 w 1766291"/>
              <a:gd name="connsiteY5" fmla="*/ 701264 h 1717769"/>
              <a:gd name="connsiteX6" fmla="*/ 583905 w 1766291"/>
              <a:gd name="connsiteY6" fmla="*/ 42127 h 1717769"/>
              <a:gd name="connsiteX7" fmla="*/ 810429 w 1766291"/>
              <a:gd name="connsiteY7" fmla="*/ 95 h 1717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6291" h="1717769">
                <a:moveTo>
                  <a:pt x="810429" y="95"/>
                </a:moveTo>
                <a:cubicBezTo>
                  <a:pt x="1142938" y="-5181"/>
                  <a:pt x="1481571" y="210327"/>
                  <a:pt x="1607004" y="393960"/>
                </a:cubicBezTo>
                <a:cubicBezTo>
                  <a:pt x="1872782" y="784603"/>
                  <a:pt x="1736056" y="1053207"/>
                  <a:pt x="1690188" y="1158193"/>
                </a:cubicBezTo>
                <a:lnTo>
                  <a:pt x="1690552" y="1158713"/>
                </a:lnTo>
                <a:cubicBezTo>
                  <a:pt x="1582070" y="1406765"/>
                  <a:pt x="1156637" y="1753494"/>
                  <a:pt x="784576" y="1714790"/>
                </a:cubicBezTo>
                <a:cubicBezTo>
                  <a:pt x="219669" y="1655304"/>
                  <a:pt x="-54542" y="1234907"/>
                  <a:pt x="9006" y="701264"/>
                </a:cubicBezTo>
                <a:cubicBezTo>
                  <a:pt x="45275" y="399900"/>
                  <a:pt x="296814" y="144701"/>
                  <a:pt x="583905" y="42127"/>
                </a:cubicBezTo>
                <a:cubicBezTo>
                  <a:pt x="657290" y="14289"/>
                  <a:pt x="733697" y="1313"/>
                  <a:pt x="810429" y="95"/>
                </a:cubicBezTo>
                <a:close/>
              </a:path>
            </a:pathLst>
          </a:custGeom>
          <a:gradFill>
            <a:gsLst>
              <a:gs pos="5000">
                <a:schemeClr val="accent5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3" name="任意多边形: 形状 356"/>
          <p:cNvSpPr/>
          <p:nvPr>
            <p:custDataLst>
              <p:tags r:id="rId3"/>
            </p:custDataLst>
          </p:nvPr>
        </p:nvSpPr>
        <p:spPr>
          <a:xfrm>
            <a:off x="5187259" y="1849502"/>
            <a:ext cx="1709420" cy="1765935"/>
          </a:xfrm>
          <a:custGeom>
            <a:avLst/>
            <a:gdLst>
              <a:gd name="connsiteX0" fmla="*/ 949661 w 1709538"/>
              <a:gd name="connsiteY0" fmla="*/ 2381 h 1766102"/>
              <a:gd name="connsiteX1" fmla="*/ 1600848 w 1709538"/>
              <a:gd name="connsiteY1" fmla="*/ 427847 h 1766102"/>
              <a:gd name="connsiteX2" fmla="*/ 1469417 w 1709538"/>
              <a:gd name="connsiteY2" fmla="*/ 1501739 h 1766102"/>
              <a:gd name="connsiteX3" fmla="*/ 739180 w 1709538"/>
              <a:gd name="connsiteY3" fmla="*/ 1741998 h 1766102"/>
              <a:gd name="connsiteX4" fmla="*/ 738747 w 1709538"/>
              <a:gd name="connsiteY4" fmla="*/ 1742463 h 1766102"/>
              <a:gd name="connsiteX5" fmla="*/ 6459 w 1709538"/>
              <a:gd name="connsiteY5" fmla="*/ 971899 h 1766102"/>
              <a:gd name="connsiteX6" fmla="*/ 836586 w 1709538"/>
              <a:gd name="connsiteY6" fmla="*/ 2554 h 1766102"/>
              <a:gd name="connsiteX7" fmla="*/ 949661 w 1709538"/>
              <a:gd name="connsiteY7" fmla="*/ 2381 h 1766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9538" h="1766102">
                <a:moveTo>
                  <a:pt x="949661" y="2381"/>
                </a:moveTo>
                <a:cubicBezTo>
                  <a:pt x="1212169" y="24658"/>
                  <a:pt x="1460829" y="200793"/>
                  <a:pt x="1600848" y="427847"/>
                </a:cubicBezTo>
                <a:cubicBezTo>
                  <a:pt x="1827449" y="779813"/>
                  <a:pt x="1658392" y="1303744"/>
                  <a:pt x="1469417" y="1501739"/>
                </a:cubicBezTo>
                <a:cubicBezTo>
                  <a:pt x="1142570" y="1842929"/>
                  <a:pt x="851408" y="1765036"/>
                  <a:pt x="739180" y="1741998"/>
                </a:cubicBezTo>
                <a:lnTo>
                  <a:pt x="738747" y="1742463"/>
                </a:lnTo>
                <a:cubicBezTo>
                  <a:pt x="473561" y="1687924"/>
                  <a:pt x="45956" y="1343877"/>
                  <a:pt x="6459" y="971899"/>
                </a:cubicBezTo>
                <a:cubicBezTo>
                  <a:pt x="-52806" y="406969"/>
                  <a:pt x="301393" y="51345"/>
                  <a:pt x="836586" y="2554"/>
                </a:cubicBezTo>
                <a:cubicBezTo>
                  <a:pt x="874376" y="-843"/>
                  <a:pt x="912160" y="-801"/>
                  <a:pt x="949661" y="2381"/>
                </a:cubicBezTo>
                <a:close/>
              </a:path>
            </a:pathLst>
          </a:custGeom>
          <a:noFill/>
          <a:ln w="22225" cap="flat">
            <a:solidFill>
              <a:srgbClr val="000000">
                <a:lumMod val="75000"/>
                <a:lumOff val="25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64" name="椭圆 63"/>
          <p:cNvSpPr/>
          <p:nvPr>
            <p:custDataLst>
              <p:tags r:id="rId4"/>
            </p:custDataLst>
          </p:nvPr>
        </p:nvSpPr>
        <p:spPr>
          <a:xfrm>
            <a:off x="6579179" y="3202052"/>
            <a:ext cx="174625" cy="1752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65" name="椭圆 349"/>
          <p:cNvSpPr/>
          <p:nvPr>
            <p:custDataLst>
              <p:tags r:id="rId5"/>
            </p:custDataLst>
          </p:nvPr>
        </p:nvSpPr>
        <p:spPr>
          <a:xfrm>
            <a:off x="6593784" y="3218562"/>
            <a:ext cx="174625" cy="174625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rgbClr val="000000">
                <a:lumMod val="75000"/>
                <a:lumOff val="25000"/>
              </a:srgbClr>
            </a:solidFill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5375219" y="2678812"/>
            <a:ext cx="137668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FFFF"/>
                </a:solidFill>
                <a:latin typeface="标准粗黑" panose="02010600030101010101" charset="-122"/>
                <a:ea typeface="标准粗黑" panose="02010600030101010101" charset="-122"/>
                <a:cs typeface="+mn-ea"/>
              </a:rPr>
              <a:t>董喆</a:t>
            </a:r>
          </a:p>
        </p:txBody>
      </p:sp>
      <p:sp>
        <p:nvSpPr>
          <p:cNvPr id="77" name="弧形 368"/>
          <p:cNvSpPr/>
          <p:nvPr>
            <p:custDataLst>
              <p:tags r:id="rId7"/>
            </p:custDataLst>
          </p:nvPr>
        </p:nvSpPr>
        <p:spPr>
          <a:xfrm>
            <a:off x="4926274" y="1610742"/>
            <a:ext cx="2274570" cy="2274570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rgbClr val="17D594">
                <a:alpha val="60000"/>
              </a:srgbClr>
            </a:solidFill>
            <a:prstDash val="dash"/>
            <a:head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-10061" y="4093203"/>
            <a:ext cx="3821306" cy="27231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6"/>
                </a:solidFill>
                <a:latin typeface="汉仪汉黑简" panose="00020600040101010101" charset="-122"/>
                <a:ea typeface="汉仪汉黑简" panose="00020600040101010101" charset="-122"/>
              </a:rPr>
              <a:t>合理进行团队协作的安排，把控开发进度。</a:t>
            </a:r>
            <a:endParaRPr lang="en-US" altLang="zh-CN" sz="2000" dirty="0">
              <a:solidFill>
                <a:schemeClr val="accent6"/>
              </a:solidFill>
              <a:latin typeface="汉仪汉黑简" panose="00020600040101010101" charset="-122"/>
              <a:ea typeface="汉仪汉黑简" panose="0002060004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6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在赛程中主要负责代码库的构建、统一内部接口与外部接口、审批算子库以及两个算法提交的代码。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8078460" y="4093203"/>
            <a:ext cx="3974965" cy="24412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3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主要负责构建任务二算法与其所需要的算子的代码库的搭建。</a:t>
            </a:r>
            <a:endParaRPr lang="en-US" altLang="zh-CN" sz="2000" dirty="0">
              <a:solidFill>
                <a:schemeClr val="accent3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3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撰写技术文档、制作</a:t>
            </a:r>
            <a:r>
              <a:rPr lang="en-US" altLang="zh-CN" sz="2000" dirty="0">
                <a:solidFill>
                  <a:schemeClr val="accent3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PPT</a:t>
            </a:r>
            <a:r>
              <a:rPr lang="zh-CN" altLang="en-US" sz="2000" dirty="0">
                <a:solidFill>
                  <a:schemeClr val="accent3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的安排。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413F4B0-F123-A3B7-EA04-340E0AF2E7CC}"/>
              </a:ext>
            </a:extLst>
          </p:cNvPr>
          <p:cNvGrpSpPr/>
          <p:nvPr/>
        </p:nvGrpSpPr>
        <p:grpSpPr>
          <a:xfrm>
            <a:off x="2819344" y="1907137"/>
            <a:ext cx="1763395" cy="1758315"/>
            <a:chOff x="4064318" y="2482850"/>
            <a:chExt cx="1763395" cy="1758315"/>
          </a:xfrm>
        </p:grpSpPr>
        <p:sp>
          <p:nvSpPr>
            <p:cNvPr id="79" name="任意多边形: 形状 56"/>
            <p:cNvSpPr/>
            <p:nvPr>
              <p:custDataLst>
                <p:tags r:id="rId14"/>
              </p:custDataLst>
            </p:nvPr>
          </p:nvSpPr>
          <p:spPr>
            <a:xfrm>
              <a:off x="4074478" y="2545715"/>
              <a:ext cx="1753235" cy="1695450"/>
            </a:xfrm>
            <a:custGeom>
              <a:avLst/>
              <a:gdLst>
                <a:gd name="connsiteX0" fmla="*/ 2178 w 2761"/>
                <a:gd name="connsiteY0" fmla="*/ 2491 h 2670"/>
                <a:gd name="connsiteX1" fmla="*/ 2761 w 2761"/>
                <a:gd name="connsiteY1" fmla="*/ 1430 h 2670"/>
                <a:gd name="connsiteX2" fmla="*/ 1759 w 2761"/>
                <a:gd name="connsiteY2" fmla="*/ 52 h 2670"/>
                <a:gd name="connsiteX3" fmla="*/ 422 w 2761"/>
                <a:gd name="connsiteY3" fmla="*/ 383 h 2670"/>
                <a:gd name="connsiteX4" fmla="*/ 507 w 2761"/>
                <a:gd name="connsiteY4" fmla="*/ 2391 h 2670"/>
                <a:gd name="connsiteX5" fmla="*/ 2178 w 2761"/>
                <a:gd name="connsiteY5" fmla="*/ 2492 h 2670"/>
                <a:gd name="connsiteX6" fmla="*/ 2178 w 2761"/>
                <a:gd name="connsiteY6" fmla="*/ 2491 h 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1" h="2670">
                  <a:moveTo>
                    <a:pt x="2178" y="2491"/>
                  </a:moveTo>
                  <a:cubicBezTo>
                    <a:pt x="2332" y="2397"/>
                    <a:pt x="2751" y="2174"/>
                    <a:pt x="2761" y="1430"/>
                  </a:cubicBezTo>
                  <a:cubicBezTo>
                    <a:pt x="2766" y="999"/>
                    <a:pt x="2398" y="214"/>
                    <a:pt x="1759" y="52"/>
                  </a:cubicBezTo>
                  <a:cubicBezTo>
                    <a:pt x="1296" y="-75"/>
                    <a:pt x="741" y="27"/>
                    <a:pt x="422" y="383"/>
                  </a:cubicBezTo>
                  <a:cubicBezTo>
                    <a:pt x="-142" y="1014"/>
                    <a:pt x="-168" y="1804"/>
                    <a:pt x="507" y="2391"/>
                  </a:cubicBezTo>
                  <a:cubicBezTo>
                    <a:pt x="952" y="2777"/>
                    <a:pt x="1814" y="2714"/>
                    <a:pt x="2178" y="2492"/>
                  </a:cubicBezTo>
                  <a:lnTo>
                    <a:pt x="2178" y="2491"/>
                  </a:lnTo>
                  <a:close/>
                </a:path>
              </a:pathLst>
            </a:custGeom>
            <a:gradFill>
              <a:gsLst>
                <a:gs pos="5000">
                  <a:schemeClr val="accent6"/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35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376FFF">
                    <a:lumMod val="60000"/>
                    <a:lumOff val="40000"/>
                  </a:srgbClr>
                </a:solidFill>
                <a:latin typeface="汉仪粗圆简" charset="0"/>
                <a:ea typeface="汉仪粗圆简" charset="0"/>
                <a:sym typeface="汉仪粗圆简" charset="0"/>
              </a:endParaRPr>
            </a:p>
          </p:txBody>
        </p:sp>
        <p:sp>
          <p:nvSpPr>
            <p:cNvPr id="80" name="任意多边形: 形状 56"/>
            <p:cNvSpPr/>
            <p:nvPr>
              <p:custDataLst>
                <p:tags r:id="rId15"/>
              </p:custDataLst>
            </p:nvPr>
          </p:nvSpPr>
          <p:spPr>
            <a:xfrm>
              <a:off x="4064318" y="2482850"/>
              <a:ext cx="1753235" cy="1695450"/>
            </a:xfrm>
            <a:custGeom>
              <a:avLst/>
              <a:gdLst>
                <a:gd name="connsiteX0" fmla="*/ 2178 w 2761"/>
                <a:gd name="connsiteY0" fmla="*/ 2491 h 2670"/>
                <a:gd name="connsiteX1" fmla="*/ 2761 w 2761"/>
                <a:gd name="connsiteY1" fmla="*/ 1430 h 2670"/>
                <a:gd name="connsiteX2" fmla="*/ 1759 w 2761"/>
                <a:gd name="connsiteY2" fmla="*/ 52 h 2670"/>
                <a:gd name="connsiteX3" fmla="*/ 422 w 2761"/>
                <a:gd name="connsiteY3" fmla="*/ 383 h 2670"/>
                <a:gd name="connsiteX4" fmla="*/ 507 w 2761"/>
                <a:gd name="connsiteY4" fmla="*/ 2391 h 2670"/>
                <a:gd name="connsiteX5" fmla="*/ 2178 w 2761"/>
                <a:gd name="connsiteY5" fmla="*/ 2492 h 2670"/>
                <a:gd name="connsiteX6" fmla="*/ 2178 w 2761"/>
                <a:gd name="connsiteY6" fmla="*/ 2491 h 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1" h="2670">
                  <a:moveTo>
                    <a:pt x="2178" y="2491"/>
                  </a:moveTo>
                  <a:cubicBezTo>
                    <a:pt x="2332" y="2397"/>
                    <a:pt x="2751" y="2174"/>
                    <a:pt x="2761" y="1430"/>
                  </a:cubicBezTo>
                  <a:cubicBezTo>
                    <a:pt x="2766" y="999"/>
                    <a:pt x="2398" y="214"/>
                    <a:pt x="1759" y="52"/>
                  </a:cubicBezTo>
                  <a:cubicBezTo>
                    <a:pt x="1296" y="-75"/>
                    <a:pt x="741" y="27"/>
                    <a:pt x="422" y="383"/>
                  </a:cubicBezTo>
                  <a:cubicBezTo>
                    <a:pt x="-142" y="1014"/>
                    <a:pt x="-168" y="1804"/>
                    <a:pt x="507" y="2391"/>
                  </a:cubicBezTo>
                  <a:cubicBezTo>
                    <a:pt x="952" y="2777"/>
                    <a:pt x="1814" y="2714"/>
                    <a:pt x="2178" y="2492"/>
                  </a:cubicBezTo>
                  <a:lnTo>
                    <a:pt x="2178" y="2491"/>
                  </a:lnTo>
                  <a:close/>
                </a:path>
              </a:pathLst>
            </a:custGeom>
            <a:noFill/>
            <a:ln w="22225" cap="flat">
              <a:solidFill>
                <a:srgbClr val="000000">
                  <a:lumMod val="75000"/>
                  <a:lumOff val="25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376FFF">
                    <a:lumMod val="60000"/>
                    <a:lumOff val="40000"/>
                  </a:srgbClr>
                </a:solidFill>
                <a:latin typeface="汉仪粗圆简" charset="0"/>
                <a:ea typeface="汉仪粗圆简" charset="0"/>
                <a:sym typeface="汉仪粗圆简" charset="0"/>
              </a:endParaRPr>
            </a:p>
          </p:txBody>
        </p:sp>
        <p:sp>
          <p:nvSpPr>
            <p:cNvPr id="81" name="椭圆 80"/>
            <p:cNvSpPr/>
            <p:nvPr>
              <p:custDataLst>
                <p:tags r:id="rId16"/>
              </p:custDataLst>
            </p:nvPr>
          </p:nvSpPr>
          <p:spPr>
            <a:xfrm>
              <a:off x="4101148" y="2700020"/>
              <a:ext cx="257810" cy="25781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粗圆简" charset="0"/>
                <a:ea typeface="汉仪粗圆简" charset="0"/>
                <a:sym typeface="汉仪粗圆简" charset="0"/>
              </a:endParaRPr>
            </a:p>
          </p:txBody>
        </p:sp>
        <p:sp>
          <p:nvSpPr>
            <p:cNvPr id="82" name="椭圆 349"/>
            <p:cNvSpPr/>
            <p:nvPr>
              <p:custDataLst>
                <p:tags r:id="rId17"/>
              </p:custDataLst>
            </p:nvPr>
          </p:nvSpPr>
          <p:spPr>
            <a:xfrm>
              <a:off x="4122738" y="2724785"/>
              <a:ext cx="257175" cy="257175"/>
            </a:xfrm>
            <a:custGeom>
              <a:avLst/>
              <a:gdLst>
                <a:gd name="connsiteX0" fmla="*/ 0 w 280035"/>
                <a:gd name="connsiteY0" fmla="*/ 140018 h 280035"/>
                <a:gd name="connsiteX1" fmla="*/ 140018 w 280035"/>
                <a:gd name="connsiteY1" fmla="*/ 0 h 280035"/>
                <a:gd name="connsiteX2" fmla="*/ 280036 w 280035"/>
                <a:gd name="connsiteY2" fmla="*/ 140018 h 280035"/>
                <a:gd name="connsiteX3" fmla="*/ 140018 w 280035"/>
                <a:gd name="connsiteY3" fmla="*/ 280036 h 280035"/>
                <a:gd name="connsiteX4" fmla="*/ 0 w 280035"/>
                <a:gd name="connsiteY4" fmla="*/ 140018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0035" h="280035" extrusionOk="0">
                  <a:moveTo>
                    <a:pt x="0" y="140018"/>
                  </a:moveTo>
                  <a:cubicBezTo>
                    <a:pt x="-14284" y="53877"/>
                    <a:pt x="48309" y="5397"/>
                    <a:pt x="140018" y="0"/>
                  </a:cubicBezTo>
                  <a:cubicBezTo>
                    <a:pt x="219315" y="414"/>
                    <a:pt x="267859" y="63075"/>
                    <a:pt x="280036" y="140018"/>
                  </a:cubicBezTo>
                  <a:cubicBezTo>
                    <a:pt x="269241" y="227890"/>
                    <a:pt x="214191" y="297487"/>
                    <a:pt x="140018" y="280036"/>
                  </a:cubicBezTo>
                  <a:cubicBezTo>
                    <a:pt x="59543" y="278315"/>
                    <a:pt x="13443" y="223771"/>
                    <a:pt x="0" y="140018"/>
                  </a:cubicBezTo>
                  <a:close/>
                </a:path>
              </a:pathLst>
            </a:custGeom>
            <a:noFill/>
            <a:ln w="19050">
              <a:solidFill>
                <a:srgbClr val="000000">
                  <a:lumMod val="75000"/>
                  <a:lumOff val="25000"/>
                </a:srgbClr>
              </a:solidFill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汉仪粗圆简" charset="0"/>
                <a:ea typeface="汉仪粗圆简" charset="0"/>
                <a:sym typeface="汉仪粗圆简" charset="0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18"/>
              </p:custDataLst>
            </p:nvPr>
          </p:nvSpPr>
          <p:spPr>
            <a:xfrm>
              <a:off x="4257358" y="3295015"/>
              <a:ext cx="1376680" cy="515620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FFFFFF"/>
                  </a:solidFill>
                  <a:latin typeface="标准粗黑" panose="02010600030101010101" charset="-122"/>
                  <a:ea typeface="标准粗黑" panose="02010600030101010101" charset="-122"/>
                  <a:cs typeface="+mn-ea"/>
                </a:rPr>
                <a:t>杨美子</a:t>
              </a: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4940935" y="980542"/>
            <a:ext cx="23006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汉仪铸字美心体简" panose="00020600040101010101" charset="-122"/>
                <a:ea typeface="汉仪铸字美心体简" panose="00020600040101010101" charset="-122"/>
              </a:rPr>
              <a:t>团队介绍</a:t>
            </a:r>
          </a:p>
        </p:txBody>
      </p:sp>
      <p:sp>
        <p:nvSpPr>
          <p:cNvPr id="5" name="弧形 368">
            <a:extLst>
              <a:ext uri="{FF2B5EF4-FFF2-40B4-BE49-F238E27FC236}">
                <a16:creationId xmlns:a16="http://schemas.microsoft.com/office/drawing/2014/main" id="{CD44A595-96AA-CC73-3B19-34498AD1558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flipV="1">
            <a:off x="2584394" y="1582017"/>
            <a:ext cx="2274570" cy="2274570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chemeClr val="accent6">
                <a:alpha val="60000"/>
              </a:schemeClr>
            </a:solidFill>
            <a:prstDash val="dash"/>
            <a:head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1410EF3-6F90-08D4-14C4-65AE6470D720}"/>
              </a:ext>
            </a:extLst>
          </p:cNvPr>
          <p:cNvGrpSpPr/>
          <p:nvPr/>
        </p:nvGrpSpPr>
        <p:grpSpPr>
          <a:xfrm>
            <a:off x="7581844" y="1862202"/>
            <a:ext cx="1763395" cy="1758315"/>
            <a:chOff x="4064318" y="2482850"/>
            <a:chExt cx="1763395" cy="1758315"/>
          </a:xfrm>
        </p:grpSpPr>
        <p:sp>
          <p:nvSpPr>
            <p:cNvPr id="10" name="任意多边形: 形状 56">
              <a:extLst>
                <a:ext uri="{FF2B5EF4-FFF2-40B4-BE49-F238E27FC236}">
                  <a16:creationId xmlns:a16="http://schemas.microsoft.com/office/drawing/2014/main" id="{E4D1C4AF-AE3E-AA20-36C4-8D0EAB0DA5B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4074478" y="2545715"/>
              <a:ext cx="1753235" cy="1695450"/>
            </a:xfrm>
            <a:custGeom>
              <a:avLst/>
              <a:gdLst>
                <a:gd name="connsiteX0" fmla="*/ 2178 w 2761"/>
                <a:gd name="connsiteY0" fmla="*/ 2491 h 2670"/>
                <a:gd name="connsiteX1" fmla="*/ 2761 w 2761"/>
                <a:gd name="connsiteY1" fmla="*/ 1430 h 2670"/>
                <a:gd name="connsiteX2" fmla="*/ 1759 w 2761"/>
                <a:gd name="connsiteY2" fmla="*/ 52 h 2670"/>
                <a:gd name="connsiteX3" fmla="*/ 422 w 2761"/>
                <a:gd name="connsiteY3" fmla="*/ 383 h 2670"/>
                <a:gd name="connsiteX4" fmla="*/ 507 w 2761"/>
                <a:gd name="connsiteY4" fmla="*/ 2391 h 2670"/>
                <a:gd name="connsiteX5" fmla="*/ 2178 w 2761"/>
                <a:gd name="connsiteY5" fmla="*/ 2492 h 2670"/>
                <a:gd name="connsiteX6" fmla="*/ 2178 w 2761"/>
                <a:gd name="connsiteY6" fmla="*/ 2491 h 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1" h="2670">
                  <a:moveTo>
                    <a:pt x="2178" y="2491"/>
                  </a:moveTo>
                  <a:cubicBezTo>
                    <a:pt x="2332" y="2397"/>
                    <a:pt x="2751" y="2174"/>
                    <a:pt x="2761" y="1430"/>
                  </a:cubicBezTo>
                  <a:cubicBezTo>
                    <a:pt x="2766" y="999"/>
                    <a:pt x="2398" y="214"/>
                    <a:pt x="1759" y="52"/>
                  </a:cubicBezTo>
                  <a:cubicBezTo>
                    <a:pt x="1296" y="-75"/>
                    <a:pt x="741" y="27"/>
                    <a:pt x="422" y="383"/>
                  </a:cubicBezTo>
                  <a:cubicBezTo>
                    <a:pt x="-142" y="1014"/>
                    <a:pt x="-168" y="1804"/>
                    <a:pt x="507" y="2391"/>
                  </a:cubicBezTo>
                  <a:cubicBezTo>
                    <a:pt x="952" y="2777"/>
                    <a:pt x="1814" y="2714"/>
                    <a:pt x="2178" y="2492"/>
                  </a:cubicBezTo>
                  <a:lnTo>
                    <a:pt x="2178" y="2491"/>
                  </a:lnTo>
                  <a:close/>
                </a:path>
              </a:pathLst>
            </a:custGeom>
            <a:gradFill>
              <a:gsLst>
                <a:gs pos="5000">
                  <a:schemeClr val="accent3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135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376FFF">
                    <a:lumMod val="60000"/>
                    <a:lumOff val="40000"/>
                  </a:srgbClr>
                </a:solidFill>
                <a:latin typeface="汉仪粗圆简" charset="0"/>
                <a:ea typeface="汉仪粗圆简" charset="0"/>
                <a:sym typeface="汉仪粗圆简" charset="0"/>
              </a:endParaRPr>
            </a:p>
          </p:txBody>
        </p:sp>
        <p:sp>
          <p:nvSpPr>
            <p:cNvPr id="11" name="任意多边形: 形状 56">
              <a:extLst>
                <a:ext uri="{FF2B5EF4-FFF2-40B4-BE49-F238E27FC236}">
                  <a16:creationId xmlns:a16="http://schemas.microsoft.com/office/drawing/2014/main" id="{B740A98D-C0D9-7E3E-4D7D-FA1694A214A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064318" y="2482850"/>
              <a:ext cx="1753235" cy="1695450"/>
            </a:xfrm>
            <a:custGeom>
              <a:avLst/>
              <a:gdLst>
                <a:gd name="connsiteX0" fmla="*/ 2178 w 2761"/>
                <a:gd name="connsiteY0" fmla="*/ 2491 h 2670"/>
                <a:gd name="connsiteX1" fmla="*/ 2761 w 2761"/>
                <a:gd name="connsiteY1" fmla="*/ 1430 h 2670"/>
                <a:gd name="connsiteX2" fmla="*/ 1759 w 2761"/>
                <a:gd name="connsiteY2" fmla="*/ 52 h 2670"/>
                <a:gd name="connsiteX3" fmla="*/ 422 w 2761"/>
                <a:gd name="connsiteY3" fmla="*/ 383 h 2670"/>
                <a:gd name="connsiteX4" fmla="*/ 507 w 2761"/>
                <a:gd name="connsiteY4" fmla="*/ 2391 h 2670"/>
                <a:gd name="connsiteX5" fmla="*/ 2178 w 2761"/>
                <a:gd name="connsiteY5" fmla="*/ 2492 h 2670"/>
                <a:gd name="connsiteX6" fmla="*/ 2178 w 2761"/>
                <a:gd name="connsiteY6" fmla="*/ 2491 h 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1" h="2670">
                  <a:moveTo>
                    <a:pt x="2178" y="2491"/>
                  </a:moveTo>
                  <a:cubicBezTo>
                    <a:pt x="2332" y="2397"/>
                    <a:pt x="2751" y="2174"/>
                    <a:pt x="2761" y="1430"/>
                  </a:cubicBezTo>
                  <a:cubicBezTo>
                    <a:pt x="2766" y="999"/>
                    <a:pt x="2398" y="214"/>
                    <a:pt x="1759" y="52"/>
                  </a:cubicBezTo>
                  <a:cubicBezTo>
                    <a:pt x="1296" y="-75"/>
                    <a:pt x="741" y="27"/>
                    <a:pt x="422" y="383"/>
                  </a:cubicBezTo>
                  <a:cubicBezTo>
                    <a:pt x="-142" y="1014"/>
                    <a:pt x="-168" y="1804"/>
                    <a:pt x="507" y="2391"/>
                  </a:cubicBezTo>
                  <a:cubicBezTo>
                    <a:pt x="952" y="2777"/>
                    <a:pt x="1814" y="2714"/>
                    <a:pt x="2178" y="2492"/>
                  </a:cubicBezTo>
                  <a:lnTo>
                    <a:pt x="2178" y="2491"/>
                  </a:lnTo>
                  <a:close/>
                </a:path>
              </a:pathLst>
            </a:custGeom>
            <a:noFill/>
            <a:ln w="22225" cap="flat">
              <a:solidFill>
                <a:srgbClr val="000000">
                  <a:lumMod val="75000"/>
                  <a:lumOff val="25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376FFF">
                    <a:lumMod val="60000"/>
                    <a:lumOff val="40000"/>
                  </a:srgbClr>
                </a:solidFill>
                <a:latin typeface="汉仪粗圆简" charset="0"/>
                <a:ea typeface="汉仪粗圆简" charset="0"/>
                <a:sym typeface="汉仪粗圆简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529709F-86F5-571E-12EE-E5A4DD1B7F0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101148" y="2700020"/>
              <a:ext cx="257810" cy="25781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粗圆简" charset="0"/>
                <a:ea typeface="汉仪粗圆简" charset="0"/>
                <a:sym typeface="汉仪粗圆简" charset="0"/>
              </a:endParaRPr>
            </a:p>
          </p:txBody>
        </p:sp>
        <p:sp>
          <p:nvSpPr>
            <p:cNvPr id="13" name="椭圆 349">
              <a:extLst>
                <a:ext uri="{FF2B5EF4-FFF2-40B4-BE49-F238E27FC236}">
                  <a16:creationId xmlns:a16="http://schemas.microsoft.com/office/drawing/2014/main" id="{9D570D9D-E514-5A16-22CC-92A609CEC45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122738" y="2724785"/>
              <a:ext cx="257175" cy="257175"/>
            </a:xfrm>
            <a:custGeom>
              <a:avLst/>
              <a:gdLst>
                <a:gd name="connsiteX0" fmla="*/ 0 w 280035"/>
                <a:gd name="connsiteY0" fmla="*/ 140018 h 280035"/>
                <a:gd name="connsiteX1" fmla="*/ 140018 w 280035"/>
                <a:gd name="connsiteY1" fmla="*/ 0 h 280035"/>
                <a:gd name="connsiteX2" fmla="*/ 280036 w 280035"/>
                <a:gd name="connsiteY2" fmla="*/ 140018 h 280035"/>
                <a:gd name="connsiteX3" fmla="*/ 140018 w 280035"/>
                <a:gd name="connsiteY3" fmla="*/ 280036 h 280035"/>
                <a:gd name="connsiteX4" fmla="*/ 0 w 280035"/>
                <a:gd name="connsiteY4" fmla="*/ 140018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0035" h="280035" extrusionOk="0">
                  <a:moveTo>
                    <a:pt x="0" y="140018"/>
                  </a:moveTo>
                  <a:cubicBezTo>
                    <a:pt x="-14284" y="53877"/>
                    <a:pt x="48309" y="5397"/>
                    <a:pt x="140018" y="0"/>
                  </a:cubicBezTo>
                  <a:cubicBezTo>
                    <a:pt x="219315" y="414"/>
                    <a:pt x="267859" y="63075"/>
                    <a:pt x="280036" y="140018"/>
                  </a:cubicBezTo>
                  <a:cubicBezTo>
                    <a:pt x="269241" y="227890"/>
                    <a:pt x="214191" y="297487"/>
                    <a:pt x="140018" y="280036"/>
                  </a:cubicBezTo>
                  <a:cubicBezTo>
                    <a:pt x="59543" y="278315"/>
                    <a:pt x="13443" y="223771"/>
                    <a:pt x="0" y="140018"/>
                  </a:cubicBezTo>
                  <a:close/>
                </a:path>
              </a:pathLst>
            </a:custGeom>
            <a:noFill/>
            <a:ln w="19050">
              <a:solidFill>
                <a:srgbClr val="000000">
                  <a:lumMod val="75000"/>
                  <a:lumOff val="25000"/>
                </a:srgbClr>
              </a:solidFill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汉仪粗圆简" charset="0"/>
                <a:ea typeface="汉仪粗圆简" charset="0"/>
                <a:sym typeface="汉仪粗圆简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A142690-8888-EB6E-ECAE-56EA2BABDBD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257358" y="3295015"/>
              <a:ext cx="1376680" cy="515620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FFFFFF"/>
                  </a:solidFill>
                  <a:latin typeface="标准粗黑" panose="02010600030101010101" charset="-122"/>
                  <a:ea typeface="标准粗黑" panose="02010600030101010101" charset="-122"/>
                  <a:cs typeface="+mn-ea"/>
                </a:rPr>
                <a:t>段晶晶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D508EF5D-1951-BB35-F9AD-BF577DD50100}"/>
              </a:ext>
            </a:extLst>
          </p:cNvPr>
          <p:cNvSpPr txBox="1"/>
          <p:nvPr/>
        </p:nvSpPr>
        <p:spPr>
          <a:xfrm>
            <a:off x="3959881" y="4093203"/>
            <a:ext cx="4272240" cy="2383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主要负责算子算法的理解与数学优化、构建任务一算法与其所需要的算子的代码库的搭建。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协助队长完成任务二的算法算子开发。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770792B-D1CC-BB2F-EACD-0849C0C988B8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18133" y="1621971"/>
            <a:ext cx="1066799" cy="106679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DE86E6B-DD32-390C-FCC0-5A19BB57301A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301" y="1588168"/>
            <a:ext cx="1114354" cy="111435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86C057F-1BF5-3E1A-20D6-96718B09E6FE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01499" y="1618533"/>
            <a:ext cx="1079977" cy="10799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069C-A904-ED2E-DCD1-F43E9A09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E131975-DBF8-0AFB-D91B-1E4D5483224E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0B8EE2F9-D096-DBC5-AF62-BEF42EBEFC2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573961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78F8B494-079C-0F25-DD20-9E54F9DC1653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199192"/>
              <a:ext cx="169100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22DB5A14-46B7-AA99-B222-7E2E5EFF9FE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49556877-3E5D-236F-6BB4-91BA84075F07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9E519243-D0CB-D5D7-9229-076C9A070E15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E22D635B-0B1A-2B8C-8ED0-E9176EF38DD1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96F661CD-92D9-3C4E-3E77-2A0B9D708D3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ADDE9DC5-7B18-5F8C-8789-F9CDF645338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+mn-ea"/>
                  <a:ea typeface="+mn-ea"/>
                  <a:cs typeface="仓耳玄三M W05" panose="02020400000000000000" charset="-128"/>
                  <a:sym typeface="汉仪雅酷黑简" panose="00020600040101010101" charset="-122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A524EA57-E27D-0B95-3FC1-FF55FF93B65B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9ED50E32-4554-2B4A-4C5B-DDC92CCB9E99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1EC00F76-AB96-44CE-8A65-20F146B90E0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84B45A9D-01F7-71E1-2F73-F98DF6C8789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D5C99495-DDE7-957B-60B3-355B51A54545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DDF26F8D-B646-300A-06B0-8F3DB10B6A1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BCD5279-4BF0-F8FA-8B29-832E2D7E8F2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6" b="4161"/>
          <a:stretch>
            <a:fillRect/>
          </a:stretch>
        </p:blipFill>
        <p:spPr>
          <a:xfrm>
            <a:off x="3239" y="821419"/>
            <a:ext cx="12185522" cy="597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5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6C17A-A2C3-A129-0561-3D249FFC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5B35237-58F7-FD24-415D-506737CAD078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DEAABD33-A73C-B897-E387-93DC5DCE468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245A3003-8099-00EF-DFD0-F85F75287F5E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ADDBA057-972E-0599-67DF-178BF54969DF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5CFA9A40-0C7C-0929-96AA-0B151DC5281B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658381EF-9E9F-32A6-A910-C816EE64EFD7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D7FECFF9-8C01-04F7-0641-EE5F18C244EE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FEFE5DEB-CC82-CE9F-8AEF-6FD1E11FCCA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DECE4B98-BE56-ACF7-8E1E-455B525295D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675F818A-6816-8426-7394-362C659BD1BD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899F6F17-43B5-E55C-3829-D0643D1272D5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CF68652B-EDB9-DBC7-093E-000374BDA00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ACB75C6D-25EE-2990-6596-A3D07F3C253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D80045D5-4144-7534-70EF-71EE51C66B6A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BDD27884-BBE7-35E8-DA4A-A31A4898C5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D58ACDA-705B-2102-C902-861F057018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5" b="2588"/>
          <a:stretch>
            <a:fillRect/>
          </a:stretch>
        </p:blipFill>
        <p:spPr>
          <a:xfrm>
            <a:off x="3239" y="812201"/>
            <a:ext cx="12185522" cy="60457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9BEDBEB-E934-BC50-575E-C82F1BC826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88250" y="1536168"/>
            <a:ext cx="3998981" cy="495631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EF3D49D-6B5E-FF62-37C7-A168FD3987A8}"/>
              </a:ext>
            </a:extLst>
          </p:cNvPr>
          <p:cNvSpPr/>
          <p:nvPr/>
        </p:nvSpPr>
        <p:spPr>
          <a:xfrm>
            <a:off x="8779565" y="991582"/>
            <a:ext cx="2332383" cy="284948"/>
          </a:xfrm>
          <a:prstGeom prst="rect">
            <a:avLst/>
          </a:prstGeom>
          <a:solidFill>
            <a:srgbClr val="FE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3B68B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代码树状结构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1B9485-D3D5-8C58-18C1-7B583F615FF0}"/>
              </a:ext>
            </a:extLst>
          </p:cNvPr>
          <p:cNvSpPr/>
          <p:nvPr/>
        </p:nvSpPr>
        <p:spPr>
          <a:xfrm>
            <a:off x="390939" y="1437861"/>
            <a:ext cx="5121965" cy="284922"/>
          </a:xfrm>
          <a:prstGeom prst="rect">
            <a:avLst/>
          </a:prstGeom>
          <a:solidFill>
            <a:srgbClr val="FE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AB3F45-C97A-3058-74F6-B79365371167}"/>
              </a:ext>
            </a:extLst>
          </p:cNvPr>
          <p:cNvSpPr/>
          <p:nvPr/>
        </p:nvSpPr>
        <p:spPr>
          <a:xfrm>
            <a:off x="211679" y="6343143"/>
            <a:ext cx="4287931" cy="435343"/>
          </a:xfrm>
          <a:prstGeom prst="rect">
            <a:avLst/>
          </a:prstGeom>
          <a:solidFill>
            <a:srgbClr val="FE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DE41CA-322F-052E-2B58-0A7E6FEC89BA}"/>
              </a:ext>
            </a:extLst>
          </p:cNvPr>
          <p:cNvSpPr/>
          <p:nvPr/>
        </p:nvSpPr>
        <p:spPr>
          <a:xfrm>
            <a:off x="390939" y="846596"/>
            <a:ext cx="6983897" cy="876187"/>
          </a:xfrm>
          <a:prstGeom prst="rect">
            <a:avLst/>
          </a:prstGeom>
          <a:solidFill>
            <a:srgbClr val="FE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整体代码库架构</a:t>
            </a:r>
          </a:p>
        </p:txBody>
      </p:sp>
    </p:spTree>
    <p:extLst>
      <p:ext uri="{BB962C8B-B14F-4D97-AF65-F5344CB8AC3E}">
        <p14:creationId xmlns:p14="http://schemas.microsoft.com/office/powerpoint/2010/main" val="133102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0362-FB4B-425D-35AA-DDB1679C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69D8967-DDEB-A2CE-B015-5111C2DE4309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0685DB5B-03A0-EB00-BA88-76811FF4703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5326C3B6-BB63-471A-C9DB-49AF60CE8962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7DE34E56-2FA8-5587-C0BF-5F28592B519A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65EE8E13-ACE2-2A80-A9EF-BCAE14DD363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70AF90E1-7A92-8E6D-95FB-2D5CB50300AC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83B3FAD2-9A54-5E9A-3A65-715FA1228819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D192D2CA-8045-1F28-5500-B416AC1CD8E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3A214398-83FD-9375-1B2E-55982042809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70F40970-7420-AE45-A98C-81CAC0C3775A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9E79D11F-0595-EADD-841E-ED433CA709EC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B57979EB-E618-E253-D42F-5D0F50BC24B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2551EFD6-FC26-2C0F-123B-FC86A14E52E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DA5BD299-826D-2CE5-9474-3912E17DB11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A08C561E-1E1B-0EA3-AD10-9F7D9D3320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2A711E3-A3EE-6DFE-DAAF-30D28978AD3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920" y="805493"/>
            <a:ext cx="11948160" cy="604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1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7F1-2556-21E3-DFC9-CBF02B148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A8F2F4D-F40E-CAB1-679C-867E1196167E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68772115-9DBC-51D9-08E4-336A4DD33B1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36140110-6192-8151-5D90-8C14D98580B4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671C8CE1-8FAC-778E-FC54-A6013B047763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DD3CB9AE-E834-E61A-2FE7-AE604446145E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59464550-F8AC-C228-CF01-8FFDCDC2C87D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C64153FA-8FAF-3B63-39C2-FD68AB4EEA86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9EA44DA1-F1C9-218A-CFAD-EB6F3902507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9ECE9FB9-0EF6-CD5F-7C97-0B0FFEC2AFB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D6DCEF56-F53B-ACFF-0A31-B6AD9FD640FC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C9E5269B-26C5-AAE4-ED6D-EC4BB99D5755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C7C1AE84-269E-D088-1889-7B9DA390DAD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8DE7463D-8B14-8F75-5D39-8E319AE0F6C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F94B7DB1-E47D-E788-1B8A-D479EC3E6BD1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C0B684AE-E64E-EEE6-F158-BD2BF8E7601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DF3B95-44DE-1FCE-CE19-A3C579C166F0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066" b="1066"/>
          <a:stretch>
            <a:fillRect/>
          </a:stretch>
        </p:blipFill>
        <p:spPr>
          <a:xfrm>
            <a:off x="0" y="775480"/>
            <a:ext cx="12192000" cy="60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71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F0AD-F193-9CBC-5739-FF0421EB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E7F71C3-7607-BBE6-B0AA-6B7D444FFFDB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AFAD2F85-9374-11F4-8695-0C3361833C0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02A238E2-19C3-C1AD-AA27-DCC4A62EDBFC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3308F4FF-6D15-59EF-4FFE-F1AD116FA3B0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C29296E7-1519-46CC-18A7-706DC79F086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FBDAE58F-1204-8C4A-74AE-BDE882B32DC7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DC214BEA-B5CB-5B2E-F628-F21D6DB6315A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6B0A20C4-B499-134D-68B4-D82D1211E21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3B2FF375-222A-72BF-5FDD-F1EC8EB101C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D6291C03-8FFC-FADE-EC7F-F54F2F44E570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2AC3FDB9-2F57-E67B-2108-522B7FD26BDA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056F1B2E-4B4F-6667-7C2F-6D8A28B023D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F438436F-FDA2-E271-3A1E-13204F55942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BBF2FAE5-1603-E968-9C54-24FFE1664D53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859A9EE6-9EEE-1A88-6BEA-2365A185B63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0C68C10-A379-4657-E3C3-2EF1BF6402D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775480"/>
            <a:ext cx="12192000" cy="60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7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CF59A-13D6-247F-3E32-01907348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C244BD3-6627-5C5E-15D7-7195E13B7008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35B8D81D-415E-9AFA-1FB7-7F5E603ACB86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2E965B24-A386-F56E-CE6F-287E13C7ED22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A3EB3A10-BA9B-4AAB-76EF-94F0A22A2CA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D0D51970-A0A6-2C5A-F987-40C6802A1709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4D17CD99-AC93-156D-D4E9-A3DEC3CDD371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1D3D1666-1B07-CD10-69A7-2AB1892C5CB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53200463-A949-CAFF-19B8-C0E9DB6766D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DE65212B-EB34-8824-A740-32FBEAC24AB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7E19CF6F-DD2C-7E84-FF44-D1DA142965FB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A96FC440-19B9-9A64-848B-387B12B5DBA9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51DA604E-097E-A90A-9503-753CDCEF884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A410EC21-0C0A-26AA-B24A-3AD3A7D1DC1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E353F88F-47B3-86EC-8DEF-ED1266559B8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FFCDB14A-CC27-E875-8599-4F3548D1014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443C2497-8E10-2DE1-27B0-DB730CE93AA2}"/>
              </a:ext>
            </a:extLst>
          </p:cNvPr>
          <p:cNvSpPr/>
          <p:nvPr/>
        </p:nvSpPr>
        <p:spPr>
          <a:xfrm>
            <a:off x="4087504" y="1371600"/>
            <a:ext cx="2483893" cy="29342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D03A1D-7536-4F9E-A0F2-3D77E61F097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920" y="790982"/>
            <a:ext cx="11948160" cy="606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88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89523-F02E-D8FE-A496-7C2D0C76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F3970787-3DBD-C49A-902C-18A919421797}"/>
              </a:ext>
            </a:extLst>
          </p:cNvPr>
          <p:cNvSpPr/>
          <p:nvPr/>
        </p:nvSpPr>
        <p:spPr>
          <a:xfrm>
            <a:off x="351182" y="911952"/>
            <a:ext cx="11012805" cy="3693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zh-CN" b="1" dirty="0">
                <a:solidFill>
                  <a:schemeClr val="bg1"/>
                </a:solidFill>
                <a:latin typeface="Open Sans" panose="020B0606030504020204" pitchFamily="34" charset="0"/>
              </a:rPr>
              <a:t>53</a:t>
            </a:r>
            <a:r>
              <a:rPr lang="zh-CN" altLang="en-US" b="1" dirty="0">
                <a:solidFill>
                  <a:schemeClr val="bg1"/>
                </a:solidFill>
                <a:latin typeface="Open Sans" panose="020B0606030504020204" pitchFamily="34" charset="0"/>
              </a:rPr>
              <a:t>个附录</a:t>
            </a:r>
            <a:r>
              <a:rPr lang="zh-CN" altLang="zh-CN" b="1" dirty="0">
                <a:solidFill>
                  <a:schemeClr val="bg1"/>
                </a:solidFill>
                <a:latin typeface="Open Sans" panose="020B0606030504020204" pitchFamily="34" charset="0"/>
              </a:rPr>
              <a:t>基础算子性能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FA6C4E-B848-098B-A3D8-D5A61BC9B648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6C41FEA0-BA8A-163F-B446-116AD4F84A8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FCC823B5-5648-1AE8-5A4A-273636A8E2F8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DB11CA1E-9D68-5B39-07FC-686013DC0FA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87334086-0855-7234-9D18-7BBBC88FB0E1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BC735B3C-6DDE-6D8A-76B0-6A4ED8CBEA2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788AE25A-8913-2EA1-76A9-AAE3F2B8EEBA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DCBC5A86-4D54-6A70-8552-EB0D9AD8905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C53BDD38-7E2F-684B-E54B-B7276371A7C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590ACE4E-22EA-38DF-B47D-0A4138B7E174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D38297CF-550E-5493-4B32-02DA08B14CC7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8135F13B-56AF-E108-4D68-955CAA40AD7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9D0B79D5-17EC-2781-F9B7-5848D50F375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50A3BC67-5DE7-EDC5-6C87-2B83965B9357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AA9A91F5-6BA6-0927-97F6-EEB28318D8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4097FB6-8A3F-1E58-9C41-4EE1C1F0CD96}"/>
              </a:ext>
            </a:extLst>
          </p:cNvPr>
          <p:cNvCxnSpPr>
            <a:cxnSpLocks/>
          </p:cNvCxnSpPr>
          <p:nvPr/>
        </p:nvCxnSpPr>
        <p:spPr>
          <a:xfrm>
            <a:off x="11519179" y="815009"/>
            <a:ext cx="0" cy="6023113"/>
          </a:xfrm>
          <a:prstGeom prst="line">
            <a:avLst/>
          </a:prstGeom>
          <a:ln w="50800">
            <a:gradFill>
              <a:gsLst>
                <a:gs pos="100000">
                  <a:srgbClr val="56E9B7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图表 12" descr="7b0a202020202263686172745265734964223a20223530303533343239220a7d0a">
            <a:extLst>
              <a:ext uri="{FF2B5EF4-FFF2-40B4-BE49-F238E27FC236}">
                <a16:creationId xmlns:a16="http://schemas.microsoft.com/office/drawing/2014/main" id="{D6EB3516-B7D8-225F-D2BC-E9A5BE28EA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445285"/>
              </p:ext>
            </p:extLst>
          </p:nvPr>
        </p:nvGraphicFramePr>
        <p:xfrm>
          <a:off x="58711" y="1612536"/>
          <a:ext cx="4073693" cy="475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5919F957-594D-4D8A-DE62-DF4C1D64D467}"/>
              </a:ext>
            </a:extLst>
          </p:cNvPr>
          <p:cNvSpPr/>
          <p:nvPr/>
        </p:nvSpPr>
        <p:spPr>
          <a:xfrm>
            <a:off x="606188" y="6263822"/>
            <a:ext cx="3072492" cy="513574"/>
          </a:xfrm>
          <a:prstGeom prst="roundRect">
            <a:avLst/>
          </a:prstGeom>
          <a:gradFill>
            <a:gsLst>
              <a:gs pos="100000">
                <a:srgbClr val="56E9B7">
                  <a:alpha val="14000"/>
                </a:srgbClr>
              </a:gs>
              <a:gs pos="0">
                <a:srgbClr val="3BD8FF">
                  <a:alpha val="24000"/>
                </a:srgbClr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最优加速比</a:t>
            </a:r>
            <a:r>
              <a:rPr lang="en-US" altLang="zh-CN" sz="3200" dirty="0">
                <a:solidFill>
                  <a:srgbClr val="FF0000"/>
                </a:solidFill>
              </a:rPr>
              <a:t>412.122x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4" name="箭头: 上 12">
            <a:extLst>
              <a:ext uri="{FF2B5EF4-FFF2-40B4-BE49-F238E27FC236}">
                <a16:creationId xmlns:a16="http://schemas.microsoft.com/office/drawing/2014/main" id="{D25FE0F2-D277-04BB-7695-94941F4E1746}"/>
              </a:ext>
            </a:extLst>
          </p:cNvPr>
          <p:cNvSpPr/>
          <p:nvPr/>
        </p:nvSpPr>
        <p:spPr>
          <a:xfrm flipH="1">
            <a:off x="58711" y="6151626"/>
            <a:ext cx="567485" cy="706374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rgbClr val="0068BF">
                  <a:alpha val="30000"/>
                </a:srgbClr>
              </a:gs>
              <a:gs pos="100000">
                <a:srgbClr val="008BFF"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0068BF">
                    <a:alpha val="64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软雅黑 Light" panose="020B0502040204020203" charset="-122"/>
              <a:cs typeface="+mn-cs"/>
            </a:endParaRPr>
          </a:p>
        </p:txBody>
      </p:sp>
      <p:sp>
        <p:nvSpPr>
          <p:cNvPr id="65" name="箭头: 上 13">
            <a:extLst>
              <a:ext uri="{FF2B5EF4-FFF2-40B4-BE49-F238E27FC236}">
                <a16:creationId xmlns:a16="http://schemas.microsoft.com/office/drawing/2014/main" id="{3A544013-C342-29B3-2A8B-17F4A83C1839}"/>
              </a:ext>
            </a:extLst>
          </p:cNvPr>
          <p:cNvSpPr/>
          <p:nvPr/>
        </p:nvSpPr>
        <p:spPr>
          <a:xfrm flipH="1">
            <a:off x="805732" y="5922756"/>
            <a:ext cx="596799" cy="742862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rgbClr val="0068BF">
                  <a:alpha val="30000"/>
                </a:srgbClr>
              </a:gs>
              <a:gs pos="100000">
                <a:srgbClr val="008BFF"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0068BF">
                    <a:alpha val="64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软雅黑 Light" panose="020B0502040204020203" charset="-122"/>
              <a:cs typeface="+mn-cs"/>
            </a:endParaRPr>
          </a:p>
        </p:txBody>
      </p:sp>
      <p:cxnSp>
        <p:nvCxnSpPr>
          <p:cNvPr id="67" name="直接连接符 15">
            <a:extLst>
              <a:ext uri="{FF2B5EF4-FFF2-40B4-BE49-F238E27FC236}">
                <a16:creationId xmlns:a16="http://schemas.microsoft.com/office/drawing/2014/main" id="{EC7DB0C9-CDD3-668D-CBF8-073301715BEE}"/>
              </a:ext>
            </a:extLst>
          </p:cNvPr>
          <p:cNvCxnSpPr/>
          <p:nvPr/>
        </p:nvCxnSpPr>
        <p:spPr>
          <a:xfrm>
            <a:off x="1595194" y="6194750"/>
            <a:ext cx="0" cy="38100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0068BF"/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68" name="直接连接符 16">
            <a:extLst>
              <a:ext uri="{FF2B5EF4-FFF2-40B4-BE49-F238E27FC236}">
                <a16:creationId xmlns:a16="http://schemas.microsoft.com/office/drawing/2014/main" id="{1888C98E-B7B2-C355-628C-83EA8F6ABE1C}"/>
              </a:ext>
            </a:extLst>
          </p:cNvPr>
          <p:cNvCxnSpPr/>
          <p:nvPr/>
        </p:nvCxnSpPr>
        <p:spPr>
          <a:xfrm>
            <a:off x="574616" y="5905500"/>
            <a:ext cx="0" cy="38100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0068BF">
                    <a:alpha val="32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71" name="直接连接符 19">
            <a:extLst>
              <a:ext uri="{FF2B5EF4-FFF2-40B4-BE49-F238E27FC236}">
                <a16:creationId xmlns:a16="http://schemas.microsoft.com/office/drawing/2014/main" id="{23995ABA-19F9-E0CD-EDFE-7D11A38BC374}"/>
              </a:ext>
            </a:extLst>
          </p:cNvPr>
          <p:cNvCxnSpPr/>
          <p:nvPr/>
        </p:nvCxnSpPr>
        <p:spPr>
          <a:xfrm>
            <a:off x="940746" y="6400490"/>
            <a:ext cx="0" cy="37719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0068BF">
                    <a:alpha val="32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75" name="箭头: 上 14">
            <a:extLst>
              <a:ext uri="{FF2B5EF4-FFF2-40B4-BE49-F238E27FC236}">
                <a16:creationId xmlns:a16="http://schemas.microsoft.com/office/drawing/2014/main" id="{CEBA60FC-93AB-5871-E592-ACDE9226BF18}"/>
              </a:ext>
            </a:extLst>
          </p:cNvPr>
          <p:cNvSpPr/>
          <p:nvPr/>
        </p:nvSpPr>
        <p:spPr>
          <a:xfrm flipH="1">
            <a:off x="3648416" y="6001944"/>
            <a:ext cx="431583" cy="537210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rgbClr val="0068BF">
                  <a:alpha val="30000"/>
                </a:srgbClr>
              </a:gs>
              <a:gs pos="100000">
                <a:srgbClr val="008BFF"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0068BF">
                    <a:alpha val="64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软雅黑 Light" panose="020B0502040204020203" charset="-122"/>
              <a:cs typeface="+mn-cs"/>
            </a:endParaRPr>
          </a:p>
        </p:txBody>
      </p:sp>
      <p:cxnSp>
        <p:nvCxnSpPr>
          <p:cNvPr id="76" name="直接连接符 17">
            <a:extLst>
              <a:ext uri="{FF2B5EF4-FFF2-40B4-BE49-F238E27FC236}">
                <a16:creationId xmlns:a16="http://schemas.microsoft.com/office/drawing/2014/main" id="{EF18D170-07F5-D3BE-57BA-C5C96AB0861B}"/>
              </a:ext>
            </a:extLst>
          </p:cNvPr>
          <p:cNvCxnSpPr/>
          <p:nvPr/>
        </p:nvCxnSpPr>
        <p:spPr>
          <a:xfrm>
            <a:off x="4235830" y="6067617"/>
            <a:ext cx="0" cy="38100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0068BF">
                    <a:alpha val="32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77" name="直接连接符 18">
            <a:extLst>
              <a:ext uri="{FF2B5EF4-FFF2-40B4-BE49-F238E27FC236}">
                <a16:creationId xmlns:a16="http://schemas.microsoft.com/office/drawing/2014/main" id="{64CDB0B4-5A34-95DC-A7AD-D971D6EA9DA8}"/>
              </a:ext>
            </a:extLst>
          </p:cNvPr>
          <p:cNvCxnSpPr/>
          <p:nvPr/>
        </p:nvCxnSpPr>
        <p:spPr>
          <a:xfrm>
            <a:off x="3473178" y="6057574"/>
            <a:ext cx="0" cy="38100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0068BF">
                    <a:alpha val="32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78" name="箭头: 上 20">
            <a:extLst>
              <a:ext uri="{FF2B5EF4-FFF2-40B4-BE49-F238E27FC236}">
                <a16:creationId xmlns:a16="http://schemas.microsoft.com/office/drawing/2014/main" id="{91F5A5D6-21AA-9C5F-2F4E-79D9FFAB684C}"/>
              </a:ext>
            </a:extLst>
          </p:cNvPr>
          <p:cNvSpPr/>
          <p:nvPr/>
        </p:nvSpPr>
        <p:spPr>
          <a:xfrm flipH="1">
            <a:off x="4235701" y="6269571"/>
            <a:ext cx="462192" cy="575310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rgbClr val="0068BF">
                  <a:alpha val="10000"/>
                </a:srgbClr>
              </a:gs>
              <a:gs pos="100000">
                <a:srgbClr val="008BFF"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0068BF">
                    <a:alpha val="19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软雅黑 Light" panose="020B0502040204020203" charset="-122"/>
              <a:cs typeface="+mn-cs"/>
            </a:endParaRPr>
          </a:p>
        </p:txBody>
      </p:sp>
      <p:graphicFrame>
        <p:nvGraphicFramePr>
          <p:cNvPr id="2" name="图表 1" descr="7b0a202020202263686172745265734964223a20223530303533343239220a7d0a">
            <a:extLst>
              <a:ext uri="{FF2B5EF4-FFF2-40B4-BE49-F238E27FC236}">
                <a16:creationId xmlns:a16="http://schemas.microsoft.com/office/drawing/2014/main" id="{58B28357-7928-BBD6-E9D0-B3127AA8BA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1860792"/>
              </p:ext>
            </p:extLst>
          </p:nvPr>
        </p:nvGraphicFramePr>
        <p:xfrm>
          <a:off x="3297773" y="1619157"/>
          <a:ext cx="4073693" cy="475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3" name="矩形: 圆角 2">
            <a:extLst>
              <a:ext uri="{FF2B5EF4-FFF2-40B4-BE49-F238E27FC236}">
                <a16:creationId xmlns:a16="http://schemas.microsoft.com/office/drawing/2014/main" id="{A6DF8DDC-1DB1-5C2E-CA3D-BCF0C2C2B2CD}"/>
              </a:ext>
            </a:extLst>
          </p:cNvPr>
          <p:cNvSpPr/>
          <p:nvPr/>
        </p:nvSpPr>
        <p:spPr>
          <a:xfrm>
            <a:off x="4079999" y="6263822"/>
            <a:ext cx="3059937" cy="513574"/>
          </a:xfrm>
          <a:prstGeom prst="roundRect">
            <a:avLst/>
          </a:prstGeom>
          <a:gradFill>
            <a:gsLst>
              <a:gs pos="100000">
                <a:srgbClr val="56E9B7">
                  <a:alpha val="14000"/>
                </a:srgbClr>
              </a:gs>
              <a:gs pos="0">
                <a:srgbClr val="3BD8FF">
                  <a:alpha val="24000"/>
                </a:srgbClr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最优加速比</a:t>
            </a:r>
            <a:r>
              <a:rPr lang="en-US" altLang="zh-CN" sz="3200" dirty="0">
                <a:solidFill>
                  <a:srgbClr val="FF0000"/>
                </a:solidFill>
              </a:rPr>
              <a:t>512.803x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CAB4D8-AA59-EF8B-403A-BE08209D9C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54070" y="1700389"/>
            <a:ext cx="4193069" cy="4856837"/>
          </a:xfrm>
          <a:prstGeom prst="rect">
            <a:avLst/>
          </a:prstGeom>
        </p:spPr>
      </p:pic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45725E64-0541-B741-04C4-FB5A4111F128}"/>
              </a:ext>
            </a:extLst>
          </p:cNvPr>
          <p:cNvSpPr/>
          <p:nvPr/>
        </p:nvSpPr>
        <p:spPr>
          <a:xfrm>
            <a:off x="828012" y="1281284"/>
            <a:ext cx="2469759" cy="337873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27</a:t>
            </a:r>
            <a:r>
              <a:rPr lang="zh-CN" altLang="en-US" dirty="0"/>
              <a:t>个任务算子性能</a:t>
            </a:r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7FAA4156-3745-527B-AAA0-E536A7006471}"/>
              </a:ext>
            </a:extLst>
          </p:cNvPr>
          <p:cNvSpPr/>
          <p:nvPr/>
        </p:nvSpPr>
        <p:spPr>
          <a:xfrm>
            <a:off x="4132404" y="1280285"/>
            <a:ext cx="2624947" cy="337873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26</a:t>
            </a:r>
            <a:r>
              <a:rPr lang="zh-CN" altLang="en-US" dirty="0"/>
              <a:t>个其余附录算子性能</a:t>
            </a:r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ED10545F-F729-95FD-8CA0-A160A27F76AC}"/>
              </a:ext>
            </a:extLst>
          </p:cNvPr>
          <p:cNvSpPr/>
          <p:nvPr/>
        </p:nvSpPr>
        <p:spPr>
          <a:xfrm>
            <a:off x="7913626" y="1280285"/>
            <a:ext cx="2624947" cy="337873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全量算子测试截图</a:t>
            </a:r>
          </a:p>
        </p:txBody>
      </p:sp>
      <p:sp>
        <p:nvSpPr>
          <p:cNvPr id="16" name="箭头: 上 14">
            <a:extLst>
              <a:ext uri="{FF2B5EF4-FFF2-40B4-BE49-F238E27FC236}">
                <a16:creationId xmlns:a16="http://schemas.microsoft.com/office/drawing/2014/main" id="{520F4E5F-F970-25B9-A9B4-19388B5B659D}"/>
              </a:ext>
            </a:extLst>
          </p:cNvPr>
          <p:cNvSpPr/>
          <p:nvPr/>
        </p:nvSpPr>
        <p:spPr>
          <a:xfrm flipH="1">
            <a:off x="6204723" y="6009148"/>
            <a:ext cx="431583" cy="537210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rgbClr val="0068BF">
                  <a:alpha val="30000"/>
                </a:srgbClr>
              </a:gs>
              <a:gs pos="100000">
                <a:srgbClr val="008BFF"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0068BF">
                    <a:alpha val="64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软雅黑 Light" panose="020B0502040204020203" charset="-122"/>
              <a:cs typeface="+mn-cs"/>
            </a:endParaRPr>
          </a:p>
        </p:txBody>
      </p:sp>
      <p:cxnSp>
        <p:nvCxnSpPr>
          <p:cNvPr id="19" name="直接连接符 17">
            <a:extLst>
              <a:ext uri="{FF2B5EF4-FFF2-40B4-BE49-F238E27FC236}">
                <a16:creationId xmlns:a16="http://schemas.microsoft.com/office/drawing/2014/main" id="{62DC1FF4-D806-C35D-B5D1-B43C11C1730B}"/>
              </a:ext>
            </a:extLst>
          </p:cNvPr>
          <p:cNvCxnSpPr/>
          <p:nvPr/>
        </p:nvCxnSpPr>
        <p:spPr>
          <a:xfrm>
            <a:off x="6792137" y="6074821"/>
            <a:ext cx="0" cy="38100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0068BF">
                    <a:alpha val="32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20" name="直接连接符 18">
            <a:extLst>
              <a:ext uri="{FF2B5EF4-FFF2-40B4-BE49-F238E27FC236}">
                <a16:creationId xmlns:a16="http://schemas.microsoft.com/office/drawing/2014/main" id="{F2E6A7A0-9BBE-C7F2-A15A-5E061236CD71}"/>
              </a:ext>
            </a:extLst>
          </p:cNvPr>
          <p:cNvCxnSpPr/>
          <p:nvPr/>
        </p:nvCxnSpPr>
        <p:spPr>
          <a:xfrm>
            <a:off x="6029485" y="6064778"/>
            <a:ext cx="0" cy="38100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0068BF">
                    <a:alpha val="32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21" name="箭头: 上 20">
            <a:extLst>
              <a:ext uri="{FF2B5EF4-FFF2-40B4-BE49-F238E27FC236}">
                <a16:creationId xmlns:a16="http://schemas.microsoft.com/office/drawing/2014/main" id="{8A29E100-BB6A-28E2-67F3-584FE7D6A4B8}"/>
              </a:ext>
            </a:extLst>
          </p:cNvPr>
          <p:cNvSpPr/>
          <p:nvPr/>
        </p:nvSpPr>
        <p:spPr>
          <a:xfrm flipH="1">
            <a:off x="6792008" y="6276775"/>
            <a:ext cx="462192" cy="575310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rgbClr val="0068BF">
                  <a:alpha val="10000"/>
                </a:srgbClr>
              </a:gs>
              <a:gs pos="100000">
                <a:srgbClr val="008BFF"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0068BF">
                    <a:alpha val="19000"/>
                  </a:srgbClr>
                </a:gs>
                <a:gs pos="100000">
                  <a:srgbClr val="0068B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软雅黑 Light" panose="020B0502040204020203" charset="-122"/>
              <a:cs typeface="+mn-cs"/>
            </a:endParaRPr>
          </a:p>
        </p:txBody>
      </p:sp>
      <p:sp>
        <p:nvSpPr>
          <p:cNvPr id="22" name="矩形: 圆顶角 21">
            <a:extLst>
              <a:ext uri="{FF2B5EF4-FFF2-40B4-BE49-F238E27FC236}">
                <a16:creationId xmlns:a16="http://schemas.microsoft.com/office/drawing/2014/main" id="{80D4318D-2014-814D-FA38-A7EAAF398C4C}"/>
              </a:ext>
            </a:extLst>
          </p:cNvPr>
          <p:cNvSpPr/>
          <p:nvPr/>
        </p:nvSpPr>
        <p:spPr>
          <a:xfrm rot="5400000">
            <a:off x="9105129" y="3572129"/>
            <a:ext cx="5753666" cy="433312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Open Sans" panose="020B0606030504020204" pitchFamily="34" charset="0"/>
              </a:rPr>
              <a:t>28</a:t>
            </a:r>
            <a:r>
              <a:rPr lang="zh-CN" altLang="en-US" b="1" dirty="0">
                <a:solidFill>
                  <a:schemeClr val="bg1"/>
                </a:solidFill>
                <a:latin typeface="Open Sans" panose="020B0606030504020204" pitchFamily="34" charset="0"/>
              </a:rPr>
              <a:t>个</a:t>
            </a:r>
            <a:r>
              <a:rPr lang="zh-CN" altLang="zh-CN" b="1" dirty="0">
                <a:solidFill>
                  <a:schemeClr val="bg1"/>
                </a:solidFill>
                <a:latin typeface="Open Sans" panose="020B0606030504020204" pitchFamily="34" charset="0"/>
              </a:rPr>
              <a:t>扩展算子</a:t>
            </a:r>
            <a:r>
              <a:rPr lang="zh-CN" altLang="en-US" b="1" dirty="0">
                <a:solidFill>
                  <a:schemeClr val="bg1"/>
                </a:solidFill>
                <a:latin typeface="Open Sans" panose="020B0606030504020204" pitchFamily="34" charset="0"/>
              </a:rPr>
              <a:t>全部在精度约束下实现</a:t>
            </a:r>
            <a:endParaRPr lang="zh-CN" altLang="zh-CN" b="1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pPr algn="ctr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364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54833-55E3-82A4-4B84-122C32D3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E5AD2BA-DC86-23B8-3116-3F63E7A18373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D3B56710-C07B-8979-5530-8F7B2092690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21C47199-DEBE-FD15-1422-75F0EDA04F1D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EEC83585-7C8B-20FC-4AED-935A25D90743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6ED923B8-E013-F884-2AD0-C0D6FEA04C1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848D9BC2-4781-6889-9F33-B380B60AE86B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E85338CD-0665-68DD-69F4-31D0066D72A6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1FA1ED47-6A53-7FB6-3358-04C0725A9EF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0E211141-2A47-887F-B57E-309C89118BC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A006ADEB-4F71-AB93-BA9E-3DB529AC7EC5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1E9BED10-5F94-3C57-90E2-835A3870CB81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A89F666A-AA3F-75F4-5622-ED69ABBAE11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8B1450A3-54A4-F058-B177-6BA53FB88CB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AC966085-7D14-0D17-3C4B-A1EABEAF5074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648C79C4-77BF-FDED-ECC1-531BFC89DFB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6686622-4CB3-4D23-A28B-BF5D4406F3B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" y="798396"/>
            <a:ext cx="12089130" cy="605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2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CCCD-494B-3939-790D-310388495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图片 67">
            <a:extLst>
              <a:ext uri="{FF2B5EF4-FFF2-40B4-BE49-F238E27FC236}">
                <a16:creationId xmlns:a16="http://schemas.microsoft.com/office/drawing/2014/main" id="{E3BEA7C7-48B1-FDCD-5B92-4213247433E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2432"/>
          <a:stretch>
            <a:fillRect/>
          </a:stretch>
        </p:blipFill>
        <p:spPr>
          <a:xfrm>
            <a:off x="56146" y="4745647"/>
            <a:ext cx="9720314" cy="2072357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129345A-6CED-BBC6-3469-7D11EDE06354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14B56E9D-1269-187B-0A13-FCF911FAD74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8C0F2C82-7EAE-0BD5-827E-5DBFEF66E83B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22E275BD-FCDD-6FF8-6434-8B3819C81269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D54FACCE-3603-39AE-E8A1-9608B38DFA5E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60D7A0CB-83DA-3857-B136-079051E34024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E7613ED3-0CD3-CBFA-3E86-85F7388BA8AD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3C02B090-4A22-EE8B-3630-28240E5786D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8C6AAD83-03ED-5D37-BBE2-472FBD1A5CC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E9D69E1A-30EF-C537-F815-BE068DAC2811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4EB1E295-8AFB-BA98-84C7-954C33EA4E28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42E17C65-68EB-B2F3-FD5A-731479E4E36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21B7DE2E-5C8F-FD54-01CF-2961E623ED9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775569A3-62CB-C7CA-4B84-31AC79CDBEAF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BADA255D-E6E8-9586-18B8-A0902C8B7B0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5BFD1D4-61B7-496C-9C8C-193C2DDEA514}"/>
              </a:ext>
            </a:extLst>
          </p:cNvPr>
          <p:cNvSpPr txBox="1"/>
          <p:nvPr/>
        </p:nvSpPr>
        <p:spPr>
          <a:xfrm>
            <a:off x="5958538" y="866391"/>
            <a:ext cx="2224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GPU_kernel_ms</a:t>
            </a:r>
            <a:endParaRPr lang="en-US" altLang="zh-CN" sz="16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1F610DA-7E08-63EC-F7A1-D9EE57541B01}"/>
              </a:ext>
            </a:extLst>
          </p:cNvPr>
          <p:cNvGrpSpPr/>
          <p:nvPr/>
        </p:nvGrpSpPr>
        <p:grpSpPr>
          <a:xfrm>
            <a:off x="36456" y="805494"/>
            <a:ext cx="7887534" cy="3939724"/>
            <a:chOff x="36456" y="805494"/>
            <a:chExt cx="7887534" cy="393972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3F19835-F3B1-BA58-2D65-E922899BF4BA}"/>
                </a:ext>
              </a:extLst>
            </p:cNvPr>
            <p:cNvSpPr/>
            <p:nvPr/>
          </p:nvSpPr>
          <p:spPr>
            <a:xfrm>
              <a:off x="46621" y="805924"/>
              <a:ext cx="7870508" cy="3939294"/>
            </a:xfrm>
            <a:prstGeom prst="rect">
              <a:avLst/>
            </a:prstGeom>
            <a:solidFill>
              <a:srgbClr val="0068BF">
                <a:lumMod val="781"/>
                <a:lumOff val="99219"/>
              </a:srgbClr>
            </a:solidFill>
            <a:ln w="12700" cap="flat" cmpd="sng" algn="ctr">
              <a:solidFill>
                <a:srgbClr val="0068BF">
                  <a:lumMod val="92969"/>
                  <a:alpha val="4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76200" dist="38100" sx="101000" sy="101000" algn="tr" rotWithShape="0">
                <a:srgbClr val="0068BF">
                  <a:lumMod val="92969"/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OPPOSans M"/>
                <a:cs typeface="+mn-cs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7356B43-7D19-E3EA-28B7-7B45AAD2FD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06" y="856769"/>
              <a:ext cx="7856223" cy="9622"/>
            </a:xfrm>
            <a:prstGeom prst="line">
              <a:avLst/>
            </a:prstGeom>
            <a:noFill/>
            <a:ln w="19050" cap="flat" cmpd="sng" algn="ctr">
              <a:solidFill>
                <a:srgbClr val="0068BF"/>
              </a:solidFill>
              <a:prstDash val="solid"/>
              <a:miter lim="800000"/>
            </a:ln>
            <a:effectLst/>
          </p:spPr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3341B7-6081-D4DD-0AFE-8F8CF8CA37C0}"/>
                </a:ext>
              </a:extLst>
            </p:cNvPr>
            <p:cNvSpPr txBox="1"/>
            <p:nvPr/>
          </p:nvSpPr>
          <p:spPr>
            <a:xfrm>
              <a:off x="42810" y="1260813"/>
              <a:ext cx="7870508" cy="476797"/>
            </a:xfrm>
            <a:prstGeom prst="rect">
              <a:avLst/>
            </a:prstGeom>
            <a:solidFill>
              <a:srgbClr val="0068BF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kern="0" dirty="0">
                  <a:gradFill>
                    <a:gsLst>
                      <a:gs pos="100000">
                        <a:srgbClr val="FFC000"/>
                      </a:gs>
                      <a:gs pos="0">
                        <a:srgbClr val="FFFFFF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Task1</a:t>
              </a:r>
              <a:endParaRPr lang="zh-CN" altLang="en-US" sz="24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4BBB02B-2779-5A34-129A-CF12DCD30FCB}"/>
                </a:ext>
              </a:extLst>
            </p:cNvPr>
            <p:cNvSpPr txBox="1"/>
            <p:nvPr/>
          </p:nvSpPr>
          <p:spPr>
            <a:xfrm>
              <a:off x="48525" y="1733853"/>
              <a:ext cx="7868799" cy="429429"/>
            </a:xfrm>
            <a:prstGeom prst="rect">
              <a:avLst/>
            </a:prstGeom>
            <a:solidFill>
              <a:srgbClr val="008BFF">
                <a:lumMod val="60000"/>
                <a:lumOff val="40000"/>
              </a:srgbClr>
            </a:solidFill>
          </p:spPr>
          <p:txBody>
            <a:bodyPr wrap="square" rtlCol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sz="2000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input_construction</a:t>
              </a:r>
              <a:endParaRPr lang="zh-CN" altLang="en-US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093CCB2-FE49-19EA-5C48-A3F4CC3D85EA}"/>
                </a:ext>
              </a:extLst>
            </p:cNvPr>
            <p:cNvSpPr txBox="1"/>
            <p:nvPr/>
          </p:nvSpPr>
          <p:spPr>
            <a:xfrm>
              <a:off x="48525" y="2165493"/>
              <a:ext cx="7868799" cy="429430"/>
            </a:xfrm>
            <a:prstGeom prst="rect">
              <a:avLst/>
            </a:prstGeom>
            <a:solidFill>
              <a:srgbClr val="008BFF">
                <a:lumMod val="20000"/>
                <a:lumOff val="80000"/>
              </a:srgbClr>
            </a:solidFill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</a:lvl1pPr>
            </a:lstStyle>
            <a:p>
              <a:r>
                <a:rPr lang="zh-CN" altLang="zh-CN" sz="2000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pulse_compression</a:t>
              </a:r>
              <a:endParaRPr lang="zh-CN" altLang="en-US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DED625E-ADAE-13D0-A3CB-F2C771171C81}"/>
                </a:ext>
              </a:extLst>
            </p:cNvPr>
            <p:cNvSpPr txBox="1"/>
            <p:nvPr/>
          </p:nvSpPr>
          <p:spPr>
            <a:xfrm>
              <a:off x="48525" y="2590534"/>
              <a:ext cx="7868799" cy="429431"/>
            </a:xfrm>
            <a:prstGeom prst="rect">
              <a:avLst/>
            </a:prstGeom>
            <a:solidFill>
              <a:srgbClr val="008BFF">
                <a:lumMod val="60000"/>
                <a:lumOff val="40000"/>
              </a:srgbClr>
            </a:solidFill>
          </p:spPr>
          <p:txBody>
            <a:bodyPr wrap="square" rtlCol="0">
              <a:noAutofit/>
            </a:bodyPr>
            <a:lstStyle/>
            <a:p>
              <a:pPr lvl="0">
                <a:lnSpc>
                  <a:spcPct val="120000"/>
                </a:lnSpc>
              </a:pPr>
              <a:r>
                <a:rPr lang="en-US" altLang="zh-CN" sz="2000" b="1" kern="0" dirty="0" err="1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pulse_doppler</a:t>
              </a:r>
              <a:endParaRPr lang="zh-CN" altLang="en-US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7A8E60B-EF77-4139-54C5-9724F1521598}"/>
                </a:ext>
              </a:extLst>
            </p:cNvPr>
            <p:cNvSpPr txBox="1"/>
            <p:nvPr/>
          </p:nvSpPr>
          <p:spPr>
            <a:xfrm>
              <a:off x="48525" y="3009340"/>
              <a:ext cx="7868799" cy="434757"/>
            </a:xfrm>
            <a:prstGeom prst="rect">
              <a:avLst/>
            </a:prstGeom>
            <a:solidFill>
              <a:srgbClr val="008BFF">
                <a:lumMod val="20000"/>
                <a:lumOff val="80000"/>
              </a:srgbClr>
            </a:solidFill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</a:lvl1pPr>
            </a:lstStyle>
            <a:p>
              <a:r>
                <a:rPr lang="zh-CN" altLang="zh-CN" sz="2000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power_map</a:t>
              </a:r>
              <a:endParaRPr lang="zh-CN" altLang="en-US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E20630B-A20B-8F09-37F5-2098FC275040}"/>
                </a:ext>
              </a:extLst>
            </p:cNvPr>
            <p:cNvSpPr txBox="1"/>
            <p:nvPr/>
          </p:nvSpPr>
          <p:spPr>
            <a:xfrm>
              <a:off x="52969" y="3435397"/>
              <a:ext cx="7868799" cy="446019"/>
            </a:xfrm>
            <a:prstGeom prst="rect">
              <a:avLst/>
            </a:prstGeom>
            <a:solidFill>
              <a:srgbClr val="008BFF">
                <a:lumMod val="60000"/>
                <a:lumOff val="40000"/>
              </a:srgbClr>
            </a:solidFill>
          </p:spPr>
          <p:txBody>
            <a:bodyPr wrap="square" rtlCol="0">
              <a:noAutofit/>
            </a:bodyPr>
            <a:lstStyle/>
            <a:p>
              <a:pPr lvl="0">
                <a:lnSpc>
                  <a:spcPct val="120000"/>
                </a:lnSpc>
              </a:pPr>
              <a:r>
                <a:rPr lang="en-US" altLang="zh-CN" sz="2000" b="1" kern="0" dirty="0" err="1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ca_cfar</a:t>
              </a:r>
              <a:endParaRPr lang="zh-CN" altLang="en-US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2DE253C-FB63-C95F-0332-E594BCF7E3FF}"/>
                </a:ext>
              </a:extLst>
            </p:cNvPr>
            <p:cNvSpPr txBox="1"/>
            <p:nvPr/>
          </p:nvSpPr>
          <p:spPr>
            <a:xfrm>
              <a:off x="52968" y="3875814"/>
              <a:ext cx="7868799" cy="431659"/>
            </a:xfrm>
            <a:prstGeom prst="rect">
              <a:avLst/>
            </a:prstGeom>
            <a:solidFill>
              <a:srgbClr val="008BFF">
                <a:lumMod val="20000"/>
                <a:lumOff val="80000"/>
              </a:srgbClr>
            </a:solidFill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</a:lvl1pPr>
            </a:lstStyle>
            <a:p>
              <a:pPr lvl="0"/>
              <a:r>
                <a:rPr lang="en-US" altLang="zh-CN" sz="2000" b="1" kern="0" dirty="0" err="1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ambgfun</a:t>
              </a:r>
              <a:endParaRPr lang="zh-CN" altLang="en-US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22431C6-5D27-884F-8B4A-591F3A9D97F1}"/>
                </a:ext>
              </a:extLst>
            </p:cNvPr>
            <p:cNvSpPr txBox="1"/>
            <p:nvPr/>
          </p:nvSpPr>
          <p:spPr>
            <a:xfrm>
              <a:off x="55191" y="4295394"/>
              <a:ext cx="7868799" cy="420818"/>
            </a:xfrm>
            <a:prstGeom prst="rect">
              <a:avLst/>
            </a:prstGeom>
            <a:solidFill>
              <a:srgbClr val="008BFF">
                <a:lumMod val="60000"/>
                <a:lumOff val="40000"/>
              </a:srgbClr>
            </a:solidFill>
          </p:spPr>
          <p:txBody>
            <a:bodyPr wrap="square" rtlCol="0">
              <a:noAutofit/>
            </a:bodyPr>
            <a:lstStyle/>
            <a:p>
              <a:pPr lvl="0">
                <a:lnSpc>
                  <a:spcPct val="120000"/>
                </a:lnSpc>
              </a:pPr>
              <a:r>
                <a:rPr lang="en-US" altLang="zh-CN" sz="2000" b="1" kern="0" dirty="0" err="1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final_detection</a:t>
              </a:r>
              <a:endParaRPr lang="zh-CN" altLang="en-US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DE9E24F-E1AC-C3BE-B34B-984E3EAAE3D7}"/>
                </a:ext>
              </a:extLst>
            </p:cNvPr>
            <p:cNvSpPr txBox="1"/>
            <p:nvPr/>
          </p:nvSpPr>
          <p:spPr>
            <a:xfrm>
              <a:off x="36456" y="805494"/>
              <a:ext cx="27362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rgbClr val="008BFF">
                      <a:lumMod val="75000"/>
                    </a:srgb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以</a:t>
              </a:r>
              <a:r>
                <a:rPr kumimoji="1" lang="en-US" altLang="zh-CN" sz="2000" b="1" dirty="0">
                  <a:solidFill>
                    <a:srgbClr val="008BFF">
                      <a:lumMod val="75000"/>
                    </a:srgb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L6</a:t>
              </a:r>
              <a:r>
                <a:rPr kumimoji="1" lang="zh-CN" altLang="en-US" sz="2000" b="1" dirty="0">
                  <a:solidFill>
                    <a:srgbClr val="008BFF">
                      <a:lumMod val="75000"/>
                    </a:srgb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数据规模为例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27F0638-42A7-E841-2514-7712AE4507BC}"/>
                </a:ext>
              </a:extLst>
            </p:cNvPr>
            <p:cNvSpPr txBox="1"/>
            <p:nvPr/>
          </p:nvSpPr>
          <p:spPr>
            <a:xfrm>
              <a:off x="2918876" y="856769"/>
              <a:ext cx="12612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CPU_ms</a:t>
              </a:r>
              <a:endParaRPr lang="en-US" altLang="zh-CN" sz="16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7758000-4EEA-CC14-5D23-1019569E30D9}"/>
                </a:ext>
              </a:extLst>
            </p:cNvPr>
            <p:cNvSpPr txBox="1"/>
            <p:nvPr/>
          </p:nvSpPr>
          <p:spPr>
            <a:xfrm>
              <a:off x="4479070" y="856769"/>
              <a:ext cx="12612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GPU_ms</a:t>
              </a:r>
              <a:endParaRPr lang="en-US" altLang="zh-CN" sz="16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7DC79B-3A91-B341-EC1A-F6EA235D408B}"/>
                </a:ext>
              </a:extLst>
            </p:cNvPr>
            <p:cNvSpPr txBox="1"/>
            <p:nvPr/>
          </p:nvSpPr>
          <p:spPr>
            <a:xfrm>
              <a:off x="2918876" y="1241367"/>
              <a:ext cx="1279692" cy="476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kern="0" dirty="0">
                  <a:gradFill>
                    <a:gsLst>
                      <a:gs pos="100000">
                        <a:srgbClr val="FFC000"/>
                      </a:gs>
                      <a:gs pos="0">
                        <a:srgbClr val="FFFFFF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364.91</a:t>
              </a:r>
              <a:endParaRPr lang="zh-CN" altLang="en-US" sz="24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7FEEC26-9426-C926-347B-793C52D3830B}"/>
                </a:ext>
              </a:extLst>
            </p:cNvPr>
            <p:cNvSpPr txBox="1"/>
            <p:nvPr/>
          </p:nvSpPr>
          <p:spPr>
            <a:xfrm>
              <a:off x="4521835" y="1241367"/>
              <a:ext cx="1042117" cy="476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kern="0" dirty="0">
                  <a:gradFill>
                    <a:gsLst>
                      <a:gs pos="100000">
                        <a:srgbClr val="FFC000"/>
                      </a:gs>
                      <a:gs pos="0">
                        <a:srgbClr val="FFFFFF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11.90</a:t>
              </a:r>
              <a:endParaRPr lang="zh-CN" altLang="en-US" sz="24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DC78ECF-FF11-A165-8909-90FB96B597A7}"/>
                </a:ext>
              </a:extLst>
            </p:cNvPr>
            <p:cNvSpPr txBox="1"/>
            <p:nvPr/>
          </p:nvSpPr>
          <p:spPr>
            <a:xfrm>
              <a:off x="6379042" y="1241790"/>
              <a:ext cx="1139690" cy="476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kern="0" dirty="0">
                  <a:gradFill>
                    <a:gsLst>
                      <a:gs pos="100000">
                        <a:srgbClr val="FFC000"/>
                      </a:gs>
                      <a:gs pos="0">
                        <a:srgbClr val="FFFFFF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11.53</a:t>
              </a:r>
              <a:endParaRPr lang="zh-CN" altLang="en-US" sz="24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988769A-F3A2-60F4-FAE2-87A2DF42903D}"/>
                </a:ext>
              </a:extLst>
            </p:cNvPr>
            <p:cNvSpPr txBox="1"/>
            <p:nvPr/>
          </p:nvSpPr>
          <p:spPr>
            <a:xfrm>
              <a:off x="2918876" y="1763149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157.45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66A778D-939F-97A3-40CB-32AC38F2DA19}"/>
                </a:ext>
              </a:extLst>
            </p:cNvPr>
            <p:cNvSpPr txBox="1"/>
            <p:nvPr/>
          </p:nvSpPr>
          <p:spPr>
            <a:xfrm>
              <a:off x="4479070" y="1763148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3.72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A73ACDD-58BD-8F82-BB6D-0E3C895FB591}"/>
                </a:ext>
              </a:extLst>
            </p:cNvPr>
            <p:cNvSpPr txBox="1"/>
            <p:nvPr/>
          </p:nvSpPr>
          <p:spPr>
            <a:xfrm>
              <a:off x="6279296" y="1753578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3.68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AAD1CFB-E56F-41A7-0875-F422B2419A19}"/>
                </a:ext>
              </a:extLst>
            </p:cNvPr>
            <p:cNvSpPr txBox="1"/>
            <p:nvPr/>
          </p:nvSpPr>
          <p:spPr>
            <a:xfrm>
              <a:off x="2918876" y="2186491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22.03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8F9DA77-1D56-4C6D-4D55-A75C53B75762}"/>
                </a:ext>
              </a:extLst>
            </p:cNvPr>
            <p:cNvSpPr txBox="1"/>
            <p:nvPr/>
          </p:nvSpPr>
          <p:spPr>
            <a:xfrm>
              <a:off x="4479070" y="2186490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1.44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75D3DD5-BFBA-EA63-2631-D7104A092156}"/>
                </a:ext>
              </a:extLst>
            </p:cNvPr>
            <p:cNvSpPr txBox="1"/>
            <p:nvPr/>
          </p:nvSpPr>
          <p:spPr>
            <a:xfrm>
              <a:off x="6279296" y="2176920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1.39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644E579-574F-CE86-4B38-32819086AC89}"/>
                </a:ext>
              </a:extLst>
            </p:cNvPr>
            <p:cNvSpPr txBox="1"/>
            <p:nvPr/>
          </p:nvSpPr>
          <p:spPr>
            <a:xfrm>
              <a:off x="2918876" y="2595593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76.11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2F02E5C-A5BE-DC68-E4A9-DD3E4E4DC860}"/>
                </a:ext>
              </a:extLst>
            </p:cNvPr>
            <p:cNvSpPr txBox="1"/>
            <p:nvPr/>
          </p:nvSpPr>
          <p:spPr>
            <a:xfrm>
              <a:off x="4479070" y="2595592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1.69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6991C42-0ECF-35BE-3CE2-7FD0FAA0C43D}"/>
                </a:ext>
              </a:extLst>
            </p:cNvPr>
            <p:cNvSpPr txBox="1"/>
            <p:nvPr/>
          </p:nvSpPr>
          <p:spPr>
            <a:xfrm>
              <a:off x="6279296" y="2586022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1.63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55E4714-10AD-32B7-05BA-2D172013B68F}"/>
                </a:ext>
              </a:extLst>
            </p:cNvPr>
            <p:cNvSpPr txBox="1"/>
            <p:nvPr/>
          </p:nvSpPr>
          <p:spPr>
            <a:xfrm>
              <a:off x="2918876" y="3017856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0.29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2D8C8D9D-AB7D-9F72-6F16-857EADC72F13}"/>
                </a:ext>
              </a:extLst>
            </p:cNvPr>
            <p:cNvSpPr txBox="1"/>
            <p:nvPr/>
          </p:nvSpPr>
          <p:spPr>
            <a:xfrm>
              <a:off x="4479070" y="3017855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0.24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00E087B-A926-7661-E4FD-2B94E0AF74A1}"/>
                </a:ext>
              </a:extLst>
            </p:cNvPr>
            <p:cNvSpPr txBox="1"/>
            <p:nvPr/>
          </p:nvSpPr>
          <p:spPr>
            <a:xfrm>
              <a:off x="6279296" y="3008285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0.19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D013ABE-631D-2855-CFF0-CED7DB53825D}"/>
                </a:ext>
              </a:extLst>
            </p:cNvPr>
            <p:cNvSpPr txBox="1"/>
            <p:nvPr/>
          </p:nvSpPr>
          <p:spPr>
            <a:xfrm>
              <a:off x="2918876" y="3453668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1.29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B8510F5-F163-D33A-254B-131EE6E9D238}"/>
                </a:ext>
              </a:extLst>
            </p:cNvPr>
            <p:cNvSpPr txBox="1"/>
            <p:nvPr/>
          </p:nvSpPr>
          <p:spPr>
            <a:xfrm>
              <a:off x="4479070" y="3453667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1.32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F54BA0AB-75EA-7B18-3ABF-EE0414E8EEE6}"/>
                </a:ext>
              </a:extLst>
            </p:cNvPr>
            <p:cNvSpPr txBox="1"/>
            <p:nvPr/>
          </p:nvSpPr>
          <p:spPr>
            <a:xfrm>
              <a:off x="6279296" y="3444097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1.24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D94566C-7EAD-2B95-3FCB-85805A6666C6}"/>
                </a:ext>
              </a:extLst>
            </p:cNvPr>
            <p:cNvSpPr txBox="1"/>
            <p:nvPr/>
          </p:nvSpPr>
          <p:spPr>
            <a:xfrm>
              <a:off x="2918876" y="3879725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106.75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84806B7-5D65-2D43-F1B4-A243EC5D43EA}"/>
                </a:ext>
              </a:extLst>
            </p:cNvPr>
            <p:cNvSpPr txBox="1"/>
            <p:nvPr/>
          </p:nvSpPr>
          <p:spPr>
            <a:xfrm>
              <a:off x="4479070" y="3879724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3.17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CDA58D07-83EF-F335-F9E9-FC7BA1728204}"/>
                </a:ext>
              </a:extLst>
            </p:cNvPr>
            <p:cNvSpPr txBox="1"/>
            <p:nvPr/>
          </p:nvSpPr>
          <p:spPr>
            <a:xfrm>
              <a:off x="6279296" y="3870154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3.12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E32B335-5B58-D06A-4E76-3880726D4A3C}"/>
                </a:ext>
              </a:extLst>
            </p:cNvPr>
            <p:cNvSpPr txBox="1"/>
            <p:nvPr/>
          </p:nvSpPr>
          <p:spPr>
            <a:xfrm>
              <a:off x="2918876" y="4290770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0.96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6358F02-6AAB-0C3C-8353-627DD1E0F7B4}"/>
                </a:ext>
              </a:extLst>
            </p:cNvPr>
            <p:cNvSpPr txBox="1"/>
            <p:nvPr/>
          </p:nvSpPr>
          <p:spPr>
            <a:xfrm>
              <a:off x="4479070" y="4290769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0.29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C4F79305-FC17-26E0-B09B-462EC5A34A13}"/>
                </a:ext>
              </a:extLst>
            </p:cNvPr>
            <p:cNvSpPr txBox="1"/>
            <p:nvPr/>
          </p:nvSpPr>
          <p:spPr>
            <a:xfrm>
              <a:off x="6279296" y="4281199"/>
              <a:ext cx="1076492" cy="3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kern="0" dirty="0"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0.24</a:t>
              </a:r>
              <a:endParaRPr lang="zh-CN" altLang="en-US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60" name="矩形: 圆顶角 59">
            <a:extLst>
              <a:ext uri="{FF2B5EF4-FFF2-40B4-BE49-F238E27FC236}">
                <a16:creationId xmlns:a16="http://schemas.microsoft.com/office/drawing/2014/main" id="{FC2F2732-3DA7-3857-C4DC-27019AC14457}"/>
              </a:ext>
            </a:extLst>
          </p:cNvPr>
          <p:cNvSpPr/>
          <p:nvPr/>
        </p:nvSpPr>
        <p:spPr>
          <a:xfrm rot="16200000">
            <a:off x="8701484" y="5388933"/>
            <a:ext cx="2073175" cy="785744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altLang="zh-CN" dirty="0"/>
              <a:t>Task1</a:t>
            </a:r>
            <a:r>
              <a:rPr lang="zh-CN" altLang="en-US" dirty="0"/>
              <a:t>性能测试截图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A047A0D-F2C6-A6EC-23A0-5CDDDBA59A76}"/>
              </a:ext>
            </a:extLst>
          </p:cNvPr>
          <p:cNvSpPr txBox="1"/>
          <p:nvPr/>
        </p:nvSpPr>
        <p:spPr>
          <a:xfrm>
            <a:off x="10304473" y="5160424"/>
            <a:ext cx="17515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8BFF">
                    <a:lumMod val="75000"/>
                  </a:srgb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最优加速比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32.52x</a:t>
            </a:r>
            <a:endParaRPr kumimoji="1" lang="zh-CN" altLang="en-US" sz="2400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768EB817-5B79-FD92-E45A-028F16293AB5}"/>
              </a:ext>
            </a:extLst>
          </p:cNvPr>
          <p:cNvCxnSpPr>
            <a:cxnSpLocks/>
          </p:cNvCxnSpPr>
          <p:nvPr/>
        </p:nvCxnSpPr>
        <p:spPr>
          <a:xfrm>
            <a:off x="11978640" y="1341120"/>
            <a:ext cx="0" cy="3825240"/>
          </a:xfrm>
          <a:prstGeom prst="straightConnector1">
            <a:avLst/>
          </a:prstGeom>
          <a:ln w="50800"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5C05A089-06BB-04C7-D642-A682FFFA3222}"/>
              </a:ext>
            </a:extLst>
          </p:cNvPr>
          <p:cNvSpPr txBox="1"/>
          <p:nvPr/>
        </p:nvSpPr>
        <p:spPr>
          <a:xfrm>
            <a:off x="8183110" y="826707"/>
            <a:ext cx="3713263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2480" dirty="0">
                <a:solidFill>
                  <a:schemeClr val="accent1"/>
                </a:solidFill>
                <a:effectLst>
                  <a:glow rad="101600">
                    <a:srgbClr val="FFFFFF"/>
                  </a:glo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六种数据规模下加速比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08A92462-F2AC-5DF8-BCD8-F66D4338BCD6}"/>
              </a:ext>
            </a:extLst>
          </p:cNvPr>
          <p:cNvGrpSpPr/>
          <p:nvPr/>
        </p:nvGrpSpPr>
        <p:grpSpPr>
          <a:xfrm>
            <a:off x="10208087" y="5983072"/>
            <a:ext cx="1947457" cy="347625"/>
            <a:chOff x="5242452" y="3179800"/>
            <a:chExt cx="2892716" cy="464296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A542C763-4DAA-84AF-CA33-8039907B5305}"/>
                </a:ext>
              </a:extLst>
            </p:cNvPr>
            <p:cNvSpPr/>
            <p:nvPr/>
          </p:nvSpPr>
          <p:spPr>
            <a:xfrm>
              <a:off x="5481734" y="3227346"/>
              <a:ext cx="2414154" cy="387484"/>
            </a:xfrm>
            <a:prstGeom prst="ellipse">
              <a:avLst/>
            </a:prstGeom>
            <a:gradFill>
              <a:gsLst>
                <a:gs pos="0">
                  <a:srgbClr val="0068BF">
                    <a:alpha val="76000"/>
                  </a:srgbClr>
                </a:gs>
                <a:gs pos="100000">
                  <a:srgbClr val="0068BF">
                    <a:lumMod val="20000"/>
                    <a:lumOff val="80000"/>
                    <a:alpha val="0"/>
                  </a:srgb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5050" tIns="42525" rIns="85050" bIns="42525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9pPr>
            </a:lstStyle>
            <a:p>
              <a:pPr algn="ctr" defTabSz="472440">
                <a:defRPr/>
              </a:pPr>
              <a:endParaRPr lang="zh-CN" altLang="en-US" sz="1675" kern="0">
                <a:latin typeface="DIN"/>
                <a:ea typeface="微软雅黑 Light" panose="020B0502040204020203" charset="-122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D0CAC61B-6F93-1A39-93F7-CEB271DE3AFC}"/>
                </a:ext>
              </a:extLst>
            </p:cNvPr>
            <p:cNvSpPr/>
            <p:nvPr/>
          </p:nvSpPr>
          <p:spPr>
            <a:xfrm>
              <a:off x="5242452" y="3179800"/>
              <a:ext cx="2892716" cy="464296"/>
            </a:xfrm>
            <a:prstGeom prst="ellipse">
              <a:avLst/>
            </a:prstGeom>
            <a:noFill/>
            <a:ln w="11430" cap="flat" cmpd="sng" algn="ctr">
              <a:gradFill flip="none" rotWithShape="1">
                <a:gsLst>
                  <a:gs pos="0">
                    <a:srgbClr val="0068BF">
                      <a:alpha val="0"/>
                    </a:srgbClr>
                  </a:gs>
                  <a:gs pos="66000">
                    <a:srgbClr val="0068BF">
                      <a:alpha val="0"/>
                    </a:srgbClr>
                  </a:gs>
                  <a:gs pos="100000">
                    <a:srgbClr val="0068BF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miter lim="800000"/>
            </a:ln>
            <a:effectLst/>
          </p:spPr>
          <p:txBody>
            <a:bodyPr lIns="85050" tIns="42525" rIns="85050" bIns="42525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9pPr>
            </a:lstStyle>
            <a:p>
              <a:pPr algn="ctr" defTabSz="472440">
                <a:defRPr/>
              </a:pPr>
              <a:endParaRPr lang="zh-CN" altLang="en-US" sz="1675" kern="0">
                <a:latin typeface="DIN"/>
                <a:ea typeface="微软雅黑 Light" panose="020B0502040204020203" charset="-122"/>
              </a:endParaRP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D9B928C1-285A-1CFF-23E1-D5E21876AD63}"/>
              </a:ext>
            </a:extLst>
          </p:cNvPr>
          <p:cNvSpPr txBox="1"/>
          <p:nvPr/>
        </p:nvSpPr>
        <p:spPr>
          <a:xfrm>
            <a:off x="6063614" y="854029"/>
            <a:ext cx="1703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GPU_kernel_ms</a:t>
            </a:r>
            <a:endParaRPr lang="en-US" altLang="zh-CN" sz="1600" dirty="0"/>
          </a:p>
        </p:txBody>
      </p:sp>
      <p:graphicFrame>
        <p:nvGraphicFramePr>
          <p:cNvPr id="69" name="图表 68" descr="7b0a202020202263686172745265734964223a20223530303533343239220a7d0a">
            <a:extLst>
              <a:ext uri="{FF2B5EF4-FFF2-40B4-BE49-F238E27FC236}">
                <a16:creationId xmlns:a16="http://schemas.microsoft.com/office/drawing/2014/main" id="{A3E94460-0DFD-47B4-17EE-41EFA6D5905B}"/>
              </a:ext>
            </a:extLst>
          </p:cNvPr>
          <p:cNvGraphicFramePr/>
          <p:nvPr/>
        </p:nvGraphicFramePr>
        <p:xfrm>
          <a:off x="7928155" y="1273244"/>
          <a:ext cx="4263845" cy="3702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</p:spTree>
    <p:extLst>
      <p:ext uri="{BB962C8B-B14F-4D97-AF65-F5344CB8AC3E}">
        <p14:creationId xmlns:p14="http://schemas.microsoft.com/office/powerpoint/2010/main" val="3315132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AB7F9-144D-13A4-2340-3D9552BA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F95A325-0078-41E5-4581-98B2B850B13D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7DA0E31C-38FB-2BD8-B168-91A3C3F1490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14E103DF-5E97-3A7E-5B26-722E479F78DB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4E5FAA40-6E54-729D-DAA2-C1F50BA8686D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1BF6E8F7-EB10-DC17-D8B4-8FA2445E78D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B9410F69-EBBF-5EF7-A4F4-68C826C6777A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8EC47432-B623-CE82-C0E8-BAE1D1FA124E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87DA00D1-96F6-3DB5-D3EF-281E9E50121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A0950979-FE89-6B97-CF5E-52F5C04AF8D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EA04AF56-7D37-4493-3A08-601018A9E056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320DD76A-A8C3-EADC-4B19-7841E8E9FB00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2EDC9CAB-6F79-4C5C-0446-175A6A88142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F0EAD3AF-CE76-97A6-F3D4-879C43FB152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062CB83D-8CEB-6995-E30A-7E5C1F8FE419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A69368E3-A69D-8467-783F-B7DBE962258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25A4B8B-58F9-5DB8-F9C2-0802049E66B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5260" y="805494"/>
            <a:ext cx="11841480" cy="605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44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73F7-3EBB-7F6E-894B-E378114C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291C8B2-FDDC-2A14-0E4E-E61CD7C4BBE4}"/>
              </a:ext>
            </a:extLst>
          </p:cNvPr>
          <p:cNvGrpSpPr/>
          <p:nvPr/>
        </p:nvGrpSpPr>
        <p:grpSpPr>
          <a:xfrm>
            <a:off x="-3810" y="171166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E7A87FEB-A7F4-BF78-17F4-817AB63A0A6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1079EB20-9013-13D9-0CB2-060B3B18C537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909B0956-4BEA-1724-7D71-F9792D5EB47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5D8A68E0-44EF-7DDA-4DA2-54F59C9655C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61D52DB9-BE88-FA6D-74DB-39F7EA7692DD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9BC1A22E-BED2-55E4-DCAD-7BD9FC498A3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EA8958F2-887B-51A4-D48A-B35571B981F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A9C31C11-EDF0-9FCF-6893-1AA579B80F0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11252452-93C9-9671-1EAF-679DC376747B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E15F56F3-8EFE-3A98-05C4-EC86216F660D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9A4402A5-0E74-BF5F-2018-258B6F6B5A8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B4E9DA69-CA5C-0AAA-63C2-7D86799A230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75A03359-BBDF-E62E-6653-F5BB5ED58D7E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F7408F4A-D670-7F05-6C73-89766CA1DB9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239" name="文本框 238">
            <a:extLst>
              <a:ext uri="{FF2B5EF4-FFF2-40B4-BE49-F238E27FC236}">
                <a16:creationId xmlns:a16="http://schemas.microsoft.com/office/drawing/2014/main" id="{69C3BB01-65B5-9B04-E407-C53A0495DD0F}"/>
              </a:ext>
            </a:extLst>
          </p:cNvPr>
          <p:cNvSpPr txBox="1"/>
          <p:nvPr/>
        </p:nvSpPr>
        <p:spPr>
          <a:xfrm>
            <a:off x="5958538" y="866391"/>
            <a:ext cx="2224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GPU_kernel_ms</a:t>
            </a:r>
            <a:endParaRPr lang="en-US" altLang="zh-CN" sz="1600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7C80F66-14F2-66E5-28BC-9A9A74D9207D}"/>
              </a:ext>
            </a:extLst>
          </p:cNvPr>
          <p:cNvSpPr/>
          <p:nvPr/>
        </p:nvSpPr>
        <p:spPr>
          <a:xfrm>
            <a:off x="46621" y="805924"/>
            <a:ext cx="7870508" cy="4512870"/>
          </a:xfrm>
          <a:prstGeom prst="rect">
            <a:avLst/>
          </a:prstGeom>
          <a:solidFill>
            <a:srgbClr val="0068BF">
              <a:lumMod val="781"/>
              <a:lumOff val="99219"/>
            </a:srgbClr>
          </a:solidFill>
          <a:ln w="12700" cap="flat" cmpd="sng" algn="ctr">
            <a:solidFill>
              <a:srgbClr val="0068BF">
                <a:lumMod val="92969"/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rgbClr val="0068BF">
                <a:lumMod val="92969"/>
                <a:alpha val="1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OPPOSans M"/>
              <a:cs typeface="+mn-cs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0B929335-58B3-28E4-8014-D180DF2AF711}"/>
              </a:ext>
            </a:extLst>
          </p:cNvPr>
          <p:cNvCxnSpPr>
            <a:cxnSpLocks/>
          </p:cNvCxnSpPr>
          <p:nvPr/>
        </p:nvCxnSpPr>
        <p:spPr>
          <a:xfrm>
            <a:off x="60906" y="856769"/>
            <a:ext cx="7856223" cy="9622"/>
          </a:xfrm>
          <a:prstGeom prst="line">
            <a:avLst/>
          </a:prstGeom>
          <a:noFill/>
          <a:ln w="19050" cap="flat" cmpd="sng" algn="ctr">
            <a:solidFill>
              <a:srgbClr val="0068BF"/>
            </a:solidFill>
            <a:prstDash val="solid"/>
            <a:miter lim="800000"/>
          </a:ln>
          <a:effectLst/>
        </p:spPr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4E86AE81-A2B2-0FAF-55D1-E18B81169F0C}"/>
              </a:ext>
            </a:extLst>
          </p:cNvPr>
          <p:cNvSpPr txBox="1"/>
          <p:nvPr/>
        </p:nvSpPr>
        <p:spPr>
          <a:xfrm>
            <a:off x="42810" y="1260813"/>
            <a:ext cx="7870508" cy="476797"/>
          </a:xfrm>
          <a:prstGeom prst="rect">
            <a:avLst/>
          </a:prstGeom>
          <a:solidFill>
            <a:srgbClr val="0068BF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Task2</a:t>
            </a:r>
            <a:endParaRPr lang="zh-CN" altLang="en-US" sz="2400" b="1" kern="0" dirty="0">
              <a:gradFill>
                <a:gsLst>
                  <a:gs pos="100000">
                    <a:srgbClr val="FFC000"/>
                  </a:gs>
                  <a:gs pos="0">
                    <a:srgbClr val="FFFFFF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BF3C516-D56C-6CEB-60E3-DF6C335A51A0}"/>
              </a:ext>
            </a:extLst>
          </p:cNvPr>
          <p:cNvSpPr txBox="1"/>
          <p:nvPr/>
        </p:nvSpPr>
        <p:spPr>
          <a:xfrm>
            <a:off x="48525" y="1696729"/>
            <a:ext cx="7868799" cy="429429"/>
          </a:xfrm>
          <a:prstGeom prst="rect">
            <a:avLst/>
          </a:prstGeom>
          <a:solidFill>
            <a:srgbClr val="008BFF">
              <a:lumMod val="60000"/>
              <a:lumOff val="40000"/>
            </a:srgbClr>
          </a:solidFill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zh-CN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input_construction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818D722-B5FC-EEDA-D8BB-E741773ABDCD}"/>
              </a:ext>
            </a:extLst>
          </p:cNvPr>
          <p:cNvSpPr txBox="1"/>
          <p:nvPr/>
        </p:nvSpPr>
        <p:spPr>
          <a:xfrm>
            <a:off x="48525" y="2097524"/>
            <a:ext cx="7868799" cy="429430"/>
          </a:xfrm>
          <a:prstGeom prst="rect">
            <a:avLst/>
          </a:prstGeom>
          <a:solidFill>
            <a:srgbClr val="008BFF">
              <a:lumMod val="20000"/>
              <a:lumOff val="80000"/>
            </a:srgb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r>
              <a:rPr lang="en-US" altLang="zh-CN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filter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D82FCC4-B8A0-D7BD-93CE-6F2C848DA57A}"/>
              </a:ext>
            </a:extLst>
          </p:cNvPr>
          <p:cNvSpPr txBox="1"/>
          <p:nvPr/>
        </p:nvSpPr>
        <p:spPr>
          <a:xfrm>
            <a:off x="48525" y="2494237"/>
            <a:ext cx="7868799" cy="429431"/>
          </a:xfrm>
          <a:prstGeom prst="rect">
            <a:avLst/>
          </a:prstGeom>
          <a:solidFill>
            <a:srgbClr val="008BFF">
              <a:lumMod val="60000"/>
              <a:lumOff val="40000"/>
            </a:srgbClr>
          </a:solidFill>
        </p:spPr>
        <p:txBody>
          <a:bodyPr wrap="square" rtlCol="0">
            <a:no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000" b="1" kern="0" dirty="0" err="1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demod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853EC43-29D4-3204-FC94-DA3570A8C759}"/>
              </a:ext>
            </a:extLst>
          </p:cNvPr>
          <p:cNvSpPr txBox="1"/>
          <p:nvPr/>
        </p:nvSpPr>
        <p:spPr>
          <a:xfrm>
            <a:off x="48525" y="2891663"/>
            <a:ext cx="7868799" cy="434757"/>
          </a:xfrm>
          <a:prstGeom prst="rect">
            <a:avLst/>
          </a:prstGeom>
          <a:solidFill>
            <a:srgbClr val="008BFF">
              <a:lumMod val="20000"/>
              <a:lumOff val="80000"/>
            </a:srgb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r>
              <a:rPr lang="en-US" altLang="zh-CN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correlate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9500FAA5-0307-6FB8-E90E-70FF1446ACFB}"/>
              </a:ext>
            </a:extLst>
          </p:cNvPr>
          <p:cNvSpPr txBox="1"/>
          <p:nvPr/>
        </p:nvSpPr>
        <p:spPr>
          <a:xfrm>
            <a:off x="52969" y="3286801"/>
            <a:ext cx="7868799" cy="446019"/>
          </a:xfrm>
          <a:prstGeom prst="rect">
            <a:avLst/>
          </a:prstGeom>
          <a:solidFill>
            <a:srgbClr val="008BFF">
              <a:lumMod val="60000"/>
              <a:lumOff val="40000"/>
            </a:srgbClr>
          </a:solidFill>
        </p:spPr>
        <p:txBody>
          <a:bodyPr wrap="square" rtlCol="0">
            <a:no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spectrogram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E99BCE0F-12B1-B31B-3C7D-C0C8F13D648B}"/>
              </a:ext>
            </a:extLst>
          </p:cNvPr>
          <p:cNvSpPr txBox="1"/>
          <p:nvPr/>
        </p:nvSpPr>
        <p:spPr>
          <a:xfrm>
            <a:off x="52968" y="3677466"/>
            <a:ext cx="7868799" cy="431659"/>
          </a:xfrm>
          <a:prstGeom prst="rect">
            <a:avLst/>
          </a:prstGeom>
          <a:solidFill>
            <a:srgbClr val="008BFF">
              <a:lumMod val="20000"/>
              <a:lumOff val="80000"/>
            </a:srgb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 lvl="0"/>
            <a:r>
              <a:rPr lang="en-US" altLang="zh-CN" sz="2000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cwt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3CA174CF-FA3C-95A2-AA6A-AA85F4B5E83D}"/>
              </a:ext>
            </a:extLst>
          </p:cNvPr>
          <p:cNvSpPr txBox="1"/>
          <p:nvPr/>
        </p:nvSpPr>
        <p:spPr>
          <a:xfrm>
            <a:off x="55191" y="4073377"/>
            <a:ext cx="7868799" cy="420818"/>
          </a:xfrm>
          <a:prstGeom prst="rect">
            <a:avLst/>
          </a:prstGeom>
          <a:solidFill>
            <a:srgbClr val="008BFF">
              <a:lumMod val="60000"/>
              <a:lumOff val="40000"/>
            </a:srgbClr>
          </a:solidFill>
        </p:spPr>
        <p:txBody>
          <a:bodyPr wrap="square" rtlCol="0">
            <a:no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000" b="1" kern="0" dirty="0" err="1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feature_fusion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F6B4F91-0333-CAC4-98C6-1679B95224EE}"/>
              </a:ext>
            </a:extLst>
          </p:cNvPr>
          <p:cNvSpPr txBox="1"/>
          <p:nvPr/>
        </p:nvSpPr>
        <p:spPr>
          <a:xfrm>
            <a:off x="36456" y="805494"/>
            <a:ext cx="2736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rgbClr val="008BFF">
                    <a:lumMod val="75000"/>
                  </a:srgb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以</a:t>
            </a:r>
            <a:r>
              <a:rPr kumimoji="1" lang="en-US" altLang="zh-CN" sz="2000" b="1" dirty="0">
                <a:solidFill>
                  <a:srgbClr val="008BFF">
                    <a:lumMod val="75000"/>
                  </a:srgb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L6</a:t>
            </a:r>
            <a:r>
              <a:rPr kumimoji="1" lang="zh-CN" altLang="en-US" sz="2000" b="1" dirty="0">
                <a:solidFill>
                  <a:srgbClr val="008BFF">
                    <a:lumMod val="75000"/>
                  </a:srgb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数据规模为例</a:t>
            </a: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6BEB1506-BAE8-B10D-43CC-B1294ADDDA5A}"/>
              </a:ext>
            </a:extLst>
          </p:cNvPr>
          <p:cNvSpPr txBox="1"/>
          <p:nvPr/>
        </p:nvSpPr>
        <p:spPr>
          <a:xfrm>
            <a:off x="2918876" y="856769"/>
            <a:ext cx="1261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CPU_ms</a:t>
            </a:r>
            <a:endParaRPr lang="en-US" altLang="zh-CN" sz="1600" dirty="0"/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7C53465D-952B-A788-8C17-0C82F43A48BA}"/>
              </a:ext>
            </a:extLst>
          </p:cNvPr>
          <p:cNvSpPr txBox="1"/>
          <p:nvPr/>
        </p:nvSpPr>
        <p:spPr>
          <a:xfrm>
            <a:off x="4479070" y="856769"/>
            <a:ext cx="1261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GPU_ms</a:t>
            </a:r>
            <a:endParaRPr lang="en-US" altLang="zh-CN" sz="1600" dirty="0"/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CA8752BE-FFF6-AEED-2DFB-8094FE63CD3D}"/>
              </a:ext>
            </a:extLst>
          </p:cNvPr>
          <p:cNvSpPr txBox="1"/>
          <p:nvPr/>
        </p:nvSpPr>
        <p:spPr>
          <a:xfrm>
            <a:off x="2851733" y="1241367"/>
            <a:ext cx="1413978" cy="476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28629.33</a:t>
            </a:r>
            <a:endParaRPr lang="zh-CN" altLang="en-US" sz="2400" b="1" kern="0" dirty="0">
              <a:gradFill>
                <a:gsLst>
                  <a:gs pos="100000">
                    <a:srgbClr val="FFC000"/>
                  </a:gs>
                  <a:gs pos="0">
                    <a:srgbClr val="FFFFFF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A438F9FF-DE89-0926-414A-87A988F2F893}"/>
              </a:ext>
            </a:extLst>
          </p:cNvPr>
          <p:cNvSpPr txBox="1"/>
          <p:nvPr/>
        </p:nvSpPr>
        <p:spPr>
          <a:xfrm>
            <a:off x="4521835" y="1241367"/>
            <a:ext cx="1042117" cy="476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27.28</a:t>
            </a:r>
            <a:endParaRPr lang="zh-CN" altLang="en-US" sz="2400" b="1" kern="0" dirty="0">
              <a:gradFill>
                <a:gsLst>
                  <a:gs pos="100000">
                    <a:srgbClr val="FFC000"/>
                  </a:gs>
                  <a:gs pos="0">
                    <a:srgbClr val="FFFFFF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5B5ED18D-BF91-7F9C-06FF-523DBD9E8EA3}"/>
              </a:ext>
            </a:extLst>
          </p:cNvPr>
          <p:cNvSpPr txBox="1"/>
          <p:nvPr/>
        </p:nvSpPr>
        <p:spPr>
          <a:xfrm>
            <a:off x="6379042" y="1241790"/>
            <a:ext cx="1139690" cy="476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26.94</a:t>
            </a:r>
            <a:endParaRPr lang="zh-CN" altLang="en-US" sz="2400" b="1" kern="0" dirty="0">
              <a:gradFill>
                <a:gsLst>
                  <a:gs pos="100000">
                    <a:srgbClr val="FFC000"/>
                  </a:gs>
                  <a:gs pos="0">
                    <a:srgbClr val="FFFFFF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2DFEC891-D175-5035-EBFA-CB54BACEDD5B}"/>
              </a:ext>
            </a:extLst>
          </p:cNvPr>
          <p:cNvSpPr txBox="1"/>
          <p:nvPr/>
        </p:nvSpPr>
        <p:spPr>
          <a:xfrm>
            <a:off x="2833571" y="1682603"/>
            <a:ext cx="124710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14405.58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CEB09EC1-3457-57E4-1F85-61808C6C6C23}"/>
              </a:ext>
            </a:extLst>
          </p:cNvPr>
          <p:cNvSpPr txBox="1"/>
          <p:nvPr/>
        </p:nvSpPr>
        <p:spPr>
          <a:xfrm>
            <a:off x="4479070" y="1682602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5.10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F33CFBE1-934F-95BE-4140-13529B6EDBD5}"/>
              </a:ext>
            </a:extLst>
          </p:cNvPr>
          <p:cNvSpPr txBox="1"/>
          <p:nvPr/>
        </p:nvSpPr>
        <p:spPr>
          <a:xfrm>
            <a:off x="6279296" y="1673032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5.08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A95A6E74-3CDA-0EBE-35D8-6A762A5DDB13}"/>
              </a:ext>
            </a:extLst>
          </p:cNvPr>
          <p:cNvSpPr txBox="1"/>
          <p:nvPr/>
        </p:nvSpPr>
        <p:spPr>
          <a:xfrm>
            <a:off x="2918876" y="2061334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44.78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5D74DD62-BFC8-F44D-C129-70218D7DDB4E}"/>
              </a:ext>
            </a:extLst>
          </p:cNvPr>
          <p:cNvSpPr txBox="1"/>
          <p:nvPr/>
        </p:nvSpPr>
        <p:spPr>
          <a:xfrm>
            <a:off x="4479070" y="2061333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2.51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F623A8CB-5FCA-9A5E-05E6-B4FB825F7B7F}"/>
              </a:ext>
            </a:extLst>
          </p:cNvPr>
          <p:cNvSpPr txBox="1"/>
          <p:nvPr/>
        </p:nvSpPr>
        <p:spPr>
          <a:xfrm>
            <a:off x="6279296" y="2051763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2.49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A5B6B11F-07D8-D02E-3B0B-68F150117C5E}"/>
              </a:ext>
            </a:extLst>
          </p:cNvPr>
          <p:cNvSpPr txBox="1"/>
          <p:nvPr/>
        </p:nvSpPr>
        <p:spPr>
          <a:xfrm>
            <a:off x="2918876" y="2470436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14.78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DDE8BD7A-49CF-CDB7-3580-81AA8176F6CD}"/>
              </a:ext>
            </a:extLst>
          </p:cNvPr>
          <p:cNvSpPr txBox="1"/>
          <p:nvPr/>
        </p:nvSpPr>
        <p:spPr>
          <a:xfrm>
            <a:off x="4479070" y="2470435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0.28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883C731B-65B1-B647-E0EC-F546D4CB3DFA}"/>
              </a:ext>
            </a:extLst>
          </p:cNvPr>
          <p:cNvSpPr txBox="1"/>
          <p:nvPr/>
        </p:nvSpPr>
        <p:spPr>
          <a:xfrm>
            <a:off x="6279296" y="2460865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0.24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79153B77-77B4-8F29-A74B-0DDBD04250B0}"/>
              </a:ext>
            </a:extLst>
          </p:cNvPr>
          <p:cNvSpPr txBox="1"/>
          <p:nvPr/>
        </p:nvSpPr>
        <p:spPr>
          <a:xfrm>
            <a:off x="2918876" y="2865574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9581.13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2F6C7D96-EC7A-AB86-1390-F7FBA3F254BE}"/>
              </a:ext>
            </a:extLst>
          </p:cNvPr>
          <p:cNvSpPr txBox="1"/>
          <p:nvPr/>
        </p:nvSpPr>
        <p:spPr>
          <a:xfrm>
            <a:off x="4479070" y="2865573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2.21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3140C248-8CBF-3566-8154-063F4CC07BE9}"/>
              </a:ext>
            </a:extLst>
          </p:cNvPr>
          <p:cNvSpPr txBox="1"/>
          <p:nvPr/>
        </p:nvSpPr>
        <p:spPr>
          <a:xfrm>
            <a:off x="6279296" y="2856003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2.14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79B4908B-C867-0F59-9DAA-124F79D7E62A}"/>
              </a:ext>
            </a:extLst>
          </p:cNvPr>
          <p:cNvSpPr txBox="1"/>
          <p:nvPr/>
        </p:nvSpPr>
        <p:spPr>
          <a:xfrm>
            <a:off x="2918876" y="3277950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61.23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931B4140-E073-A373-416A-C36E3F475556}"/>
              </a:ext>
            </a:extLst>
          </p:cNvPr>
          <p:cNvSpPr txBox="1"/>
          <p:nvPr/>
        </p:nvSpPr>
        <p:spPr>
          <a:xfrm>
            <a:off x="4479070" y="3277949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3.75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37D6D646-F53C-A94A-E3F8-7AB1597E0C0A}"/>
              </a:ext>
            </a:extLst>
          </p:cNvPr>
          <p:cNvSpPr txBox="1"/>
          <p:nvPr/>
        </p:nvSpPr>
        <p:spPr>
          <a:xfrm>
            <a:off x="6279296" y="3268379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3.68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79E7DCCF-D7C4-036F-6384-3D65B881DDB8}"/>
              </a:ext>
            </a:extLst>
          </p:cNvPr>
          <p:cNvSpPr txBox="1"/>
          <p:nvPr/>
        </p:nvSpPr>
        <p:spPr>
          <a:xfrm>
            <a:off x="2918876" y="3681536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4519.38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31C84CD2-D300-5944-36D1-C361D6874296}"/>
              </a:ext>
            </a:extLst>
          </p:cNvPr>
          <p:cNvSpPr txBox="1"/>
          <p:nvPr/>
        </p:nvSpPr>
        <p:spPr>
          <a:xfrm>
            <a:off x="4479070" y="3681535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12.56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BA14B0C8-DE8F-5B09-3D33-5A0EAF72F606}"/>
              </a:ext>
            </a:extLst>
          </p:cNvPr>
          <p:cNvSpPr txBox="1"/>
          <p:nvPr/>
        </p:nvSpPr>
        <p:spPr>
          <a:xfrm>
            <a:off x="6279296" y="3671965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12.49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66FA15ED-D007-106D-1202-37E94DDF41DA}"/>
              </a:ext>
            </a:extLst>
          </p:cNvPr>
          <p:cNvSpPr txBox="1"/>
          <p:nvPr/>
        </p:nvSpPr>
        <p:spPr>
          <a:xfrm>
            <a:off x="2918876" y="4073066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2.22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75F2C9EA-72A2-C291-3163-34DAC9F2E639}"/>
              </a:ext>
            </a:extLst>
          </p:cNvPr>
          <p:cNvSpPr txBox="1"/>
          <p:nvPr/>
        </p:nvSpPr>
        <p:spPr>
          <a:xfrm>
            <a:off x="4479070" y="4073065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0.29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660A7F60-2281-DF78-C386-98BDC231AB0F}"/>
              </a:ext>
            </a:extLst>
          </p:cNvPr>
          <p:cNvSpPr txBox="1"/>
          <p:nvPr/>
        </p:nvSpPr>
        <p:spPr>
          <a:xfrm>
            <a:off x="6279296" y="4063495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0.70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F78065FB-1E28-AA51-4A38-86B12A6A1EDC}"/>
              </a:ext>
            </a:extLst>
          </p:cNvPr>
          <p:cNvSpPr txBox="1"/>
          <p:nvPr/>
        </p:nvSpPr>
        <p:spPr>
          <a:xfrm>
            <a:off x="9806573" y="5160424"/>
            <a:ext cx="2089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8BFF">
                    <a:lumMod val="75000"/>
                  </a:srgb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最优加速比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1053.32x</a:t>
            </a:r>
            <a:endParaRPr kumimoji="1" lang="zh-CN" altLang="en-US" sz="2400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cxnSp>
        <p:nvCxnSpPr>
          <p:cNvPr id="283" name="直接箭头连接符 282">
            <a:extLst>
              <a:ext uri="{FF2B5EF4-FFF2-40B4-BE49-F238E27FC236}">
                <a16:creationId xmlns:a16="http://schemas.microsoft.com/office/drawing/2014/main" id="{B941DE6D-F2AB-5FD2-1588-D66A538EF151}"/>
              </a:ext>
            </a:extLst>
          </p:cNvPr>
          <p:cNvCxnSpPr>
            <a:cxnSpLocks/>
          </p:cNvCxnSpPr>
          <p:nvPr/>
        </p:nvCxnSpPr>
        <p:spPr>
          <a:xfrm>
            <a:off x="11917335" y="1341120"/>
            <a:ext cx="0" cy="3825240"/>
          </a:xfrm>
          <a:prstGeom prst="straightConnector1">
            <a:avLst/>
          </a:prstGeom>
          <a:ln w="50800"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文本框 285">
            <a:extLst>
              <a:ext uri="{FF2B5EF4-FFF2-40B4-BE49-F238E27FC236}">
                <a16:creationId xmlns:a16="http://schemas.microsoft.com/office/drawing/2014/main" id="{D902EB42-3A16-EE18-B489-F81EA885E9CF}"/>
              </a:ext>
            </a:extLst>
          </p:cNvPr>
          <p:cNvSpPr txBox="1"/>
          <p:nvPr/>
        </p:nvSpPr>
        <p:spPr>
          <a:xfrm>
            <a:off x="8183110" y="826707"/>
            <a:ext cx="3713263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2480" dirty="0">
                <a:solidFill>
                  <a:schemeClr val="accent1"/>
                </a:solidFill>
                <a:effectLst>
                  <a:glow rad="101600">
                    <a:srgbClr val="FFFFFF"/>
                  </a:glo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六种数据规模下加速比</a:t>
            </a:r>
          </a:p>
        </p:txBody>
      </p:sp>
      <p:grpSp>
        <p:nvGrpSpPr>
          <p:cNvPr id="288" name="组合 287">
            <a:extLst>
              <a:ext uri="{FF2B5EF4-FFF2-40B4-BE49-F238E27FC236}">
                <a16:creationId xmlns:a16="http://schemas.microsoft.com/office/drawing/2014/main" id="{9EDE240C-F066-38CA-BF28-0744DE4BB266}"/>
              </a:ext>
            </a:extLst>
          </p:cNvPr>
          <p:cNvGrpSpPr/>
          <p:nvPr/>
        </p:nvGrpSpPr>
        <p:grpSpPr>
          <a:xfrm>
            <a:off x="9552131" y="5983072"/>
            <a:ext cx="2603414" cy="377519"/>
            <a:chOff x="5242452" y="3179800"/>
            <a:chExt cx="2892716" cy="464296"/>
          </a:xfrm>
        </p:grpSpPr>
        <p:sp>
          <p:nvSpPr>
            <p:cNvPr id="289" name="椭圆 288">
              <a:extLst>
                <a:ext uri="{FF2B5EF4-FFF2-40B4-BE49-F238E27FC236}">
                  <a16:creationId xmlns:a16="http://schemas.microsoft.com/office/drawing/2014/main" id="{BC86B439-4E3A-C821-E77E-6F569D8C370F}"/>
                </a:ext>
              </a:extLst>
            </p:cNvPr>
            <p:cNvSpPr/>
            <p:nvPr/>
          </p:nvSpPr>
          <p:spPr>
            <a:xfrm>
              <a:off x="5481734" y="3227346"/>
              <a:ext cx="2414154" cy="387484"/>
            </a:xfrm>
            <a:prstGeom prst="ellipse">
              <a:avLst/>
            </a:prstGeom>
            <a:gradFill>
              <a:gsLst>
                <a:gs pos="0">
                  <a:srgbClr val="0068BF">
                    <a:alpha val="76000"/>
                  </a:srgbClr>
                </a:gs>
                <a:gs pos="100000">
                  <a:srgbClr val="0068BF">
                    <a:lumMod val="20000"/>
                    <a:lumOff val="80000"/>
                    <a:alpha val="0"/>
                  </a:srgb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5050" tIns="42525" rIns="85050" bIns="42525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9pPr>
            </a:lstStyle>
            <a:p>
              <a:pPr algn="ctr" defTabSz="472440">
                <a:defRPr/>
              </a:pPr>
              <a:endParaRPr lang="zh-CN" altLang="en-US" sz="1675" kern="0">
                <a:latin typeface="DIN"/>
                <a:ea typeface="微软雅黑 Light" panose="020B0502040204020203" charset="-122"/>
              </a:endParaRPr>
            </a:p>
          </p:txBody>
        </p:sp>
        <p:sp>
          <p:nvSpPr>
            <p:cNvPr id="290" name="椭圆 289">
              <a:extLst>
                <a:ext uri="{FF2B5EF4-FFF2-40B4-BE49-F238E27FC236}">
                  <a16:creationId xmlns:a16="http://schemas.microsoft.com/office/drawing/2014/main" id="{A2004296-CCD4-AE26-09EF-64D0CD35C509}"/>
                </a:ext>
              </a:extLst>
            </p:cNvPr>
            <p:cNvSpPr/>
            <p:nvPr/>
          </p:nvSpPr>
          <p:spPr>
            <a:xfrm>
              <a:off x="5242452" y="3179800"/>
              <a:ext cx="2892716" cy="464296"/>
            </a:xfrm>
            <a:prstGeom prst="ellipse">
              <a:avLst/>
            </a:prstGeom>
            <a:noFill/>
            <a:ln w="11430" cap="flat" cmpd="sng" algn="ctr">
              <a:gradFill flip="none" rotWithShape="1">
                <a:gsLst>
                  <a:gs pos="0">
                    <a:srgbClr val="0068BF">
                      <a:alpha val="0"/>
                    </a:srgbClr>
                  </a:gs>
                  <a:gs pos="66000">
                    <a:srgbClr val="0068BF">
                      <a:alpha val="0"/>
                    </a:srgbClr>
                  </a:gs>
                  <a:gs pos="100000">
                    <a:srgbClr val="0068BF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miter lim="800000"/>
            </a:ln>
            <a:effectLst/>
          </p:spPr>
          <p:txBody>
            <a:bodyPr lIns="85050" tIns="42525" rIns="85050" bIns="42525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9pPr>
            </a:lstStyle>
            <a:p>
              <a:pPr algn="ctr" defTabSz="472440">
                <a:defRPr/>
              </a:pPr>
              <a:endParaRPr lang="zh-CN" altLang="en-US" sz="1675" kern="0">
                <a:latin typeface="DIN"/>
                <a:ea typeface="微软雅黑 Light" panose="020B0502040204020203" charset="-122"/>
              </a:endParaRPr>
            </a:p>
          </p:txBody>
        </p:sp>
      </p:grpSp>
      <p:sp>
        <p:nvSpPr>
          <p:cNvPr id="297" name="文本框 296">
            <a:extLst>
              <a:ext uri="{FF2B5EF4-FFF2-40B4-BE49-F238E27FC236}">
                <a16:creationId xmlns:a16="http://schemas.microsoft.com/office/drawing/2014/main" id="{02ABC34F-8AD2-E8AD-468A-847E9D1E3349}"/>
              </a:ext>
            </a:extLst>
          </p:cNvPr>
          <p:cNvSpPr txBox="1"/>
          <p:nvPr/>
        </p:nvSpPr>
        <p:spPr>
          <a:xfrm>
            <a:off x="6063614" y="854029"/>
            <a:ext cx="1703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GPU_kernel_ms</a:t>
            </a:r>
            <a:endParaRPr lang="en-US" altLang="zh-CN" sz="1600" dirty="0"/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C42949B8-BDC8-79D4-C970-C9EF31BB0013}"/>
              </a:ext>
            </a:extLst>
          </p:cNvPr>
          <p:cNvSpPr txBox="1"/>
          <p:nvPr/>
        </p:nvSpPr>
        <p:spPr>
          <a:xfrm>
            <a:off x="48525" y="4479395"/>
            <a:ext cx="7868799" cy="431659"/>
          </a:xfrm>
          <a:prstGeom prst="rect">
            <a:avLst/>
          </a:prstGeom>
          <a:solidFill>
            <a:srgbClr val="008BFF">
              <a:lumMod val="20000"/>
              <a:lumOff val="80000"/>
            </a:srgb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 lvl="0"/>
            <a:r>
              <a:rPr lang="en-US" altLang="zh-CN" sz="2000" b="1" kern="0" dirty="0" err="1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measurement_conversion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D4A1E99C-B8E7-5CC6-F238-DD285149F340}"/>
              </a:ext>
            </a:extLst>
          </p:cNvPr>
          <p:cNvSpPr txBox="1"/>
          <p:nvPr/>
        </p:nvSpPr>
        <p:spPr>
          <a:xfrm>
            <a:off x="52141" y="4870887"/>
            <a:ext cx="7868799" cy="420818"/>
          </a:xfrm>
          <a:prstGeom prst="rect">
            <a:avLst/>
          </a:prstGeom>
          <a:solidFill>
            <a:srgbClr val="008BFF">
              <a:lumMod val="60000"/>
              <a:lumOff val="40000"/>
            </a:srgbClr>
          </a:solidFill>
        </p:spPr>
        <p:txBody>
          <a:bodyPr wrap="square" rtlCol="0">
            <a:no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000" b="1" kern="0" dirty="0" err="1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kalman</a:t>
            </a:r>
            <a:endParaRPr lang="zh-CN" altLang="en-US" sz="2000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64D70C00-6B8E-3046-C4E7-86BB3D40DE07}"/>
              </a:ext>
            </a:extLst>
          </p:cNvPr>
          <p:cNvSpPr txBox="1"/>
          <p:nvPr/>
        </p:nvSpPr>
        <p:spPr>
          <a:xfrm>
            <a:off x="2918876" y="4492221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0.0002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AED4D40D-9CB0-5BB3-3490-9E7A190FD4E4}"/>
              </a:ext>
            </a:extLst>
          </p:cNvPr>
          <p:cNvSpPr txBox="1"/>
          <p:nvPr/>
        </p:nvSpPr>
        <p:spPr>
          <a:xfrm>
            <a:off x="4479070" y="4492220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0.0000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9892D9D5-8FBB-3CBE-F181-B925110A5D0E}"/>
              </a:ext>
            </a:extLst>
          </p:cNvPr>
          <p:cNvSpPr txBox="1"/>
          <p:nvPr/>
        </p:nvSpPr>
        <p:spPr>
          <a:xfrm>
            <a:off x="6279296" y="4482650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0.0000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FDBC6000-EEDB-2530-1937-BDD59BAE79AA}"/>
              </a:ext>
            </a:extLst>
          </p:cNvPr>
          <p:cNvSpPr txBox="1"/>
          <p:nvPr/>
        </p:nvSpPr>
        <p:spPr>
          <a:xfrm>
            <a:off x="2918876" y="4888076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0.17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248C8586-0E83-C949-0E96-253FE54AB358}"/>
              </a:ext>
            </a:extLst>
          </p:cNvPr>
          <p:cNvSpPr txBox="1"/>
          <p:nvPr/>
        </p:nvSpPr>
        <p:spPr>
          <a:xfrm>
            <a:off x="4479070" y="4888075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0.11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C531790E-278E-6C0F-9037-145B48E240F9}"/>
              </a:ext>
            </a:extLst>
          </p:cNvPr>
          <p:cNvSpPr txBox="1"/>
          <p:nvPr/>
        </p:nvSpPr>
        <p:spPr>
          <a:xfrm>
            <a:off x="6279296" y="4878505"/>
            <a:ext cx="1076492" cy="38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kern="0" dirty="0"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0.08</a:t>
            </a:r>
            <a:endParaRPr lang="zh-CN" altLang="en-US" b="1" kern="0" dirty="0"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graphicFrame>
        <p:nvGraphicFramePr>
          <p:cNvPr id="309" name="图表 308" descr="7b0a202020202263686172745265734964223a20223530303533343239220a7d0a">
            <a:extLst>
              <a:ext uri="{FF2B5EF4-FFF2-40B4-BE49-F238E27FC236}">
                <a16:creationId xmlns:a16="http://schemas.microsoft.com/office/drawing/2014/main" id="{D9729948-8E1E-E5D0-6F36-B6FABB195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7402806"/>
              </p:ext>
            </p:extLst>
          </p:nvPr>
        </p:nvGraphicFramePr>
        <p:xfrm>
          <a:off x="7928155" y="1273244"/>
          <a:ext cx="4263845" cy="3702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pic>
        <p:nvPicPr>
          <p:cNvPr id="310" name="图片 309">
            <a:extLst>
              <a:ext uri="{FF2B5EF4-FFF2-40B4-BE49-F238E27FC236}">
                <a16:creationId xmlns:a16="http://schemas.microsoft.com/office/drawing/2014/main" id="{220E5A76-837F-0D2D-C838-686990E3671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2588" y="5265243"/>
            <a:ext cx="7455130" cy="1556676"/>
          </a:xfrm>
          <a:prstGeom prst="rect">
            <a:avLst/>
          </a:prstGeom>
        </p:spPr>
      </p:pic>
      <p:sp>
        <p:nvSpPr>
          <p:cNvPr id="311" name="矩形: 圆顶角 310">
            <a:extLst>
              <a:ext uri="{FF2B5EF4-FFF2-40B4-BE49-F238E27FC236}">
                <a16:creationId xmlns:a16="http://schemas.microsoft.com/office/drawing/2014/main" id="{D70409B5-CD7E-B2CC-8405-97865ED3DB5E}"/>
              </a:ext>
            </a:extLst>
          </p:cNvPr>
          <p:cNvSpPr/>
          <p:nvPr/>
        </p:nvSpPr>
        <p:spPr>
          <a:xfrm rot="16200000">
            <a:off x="7463795" y="5650735"/>
            <a:ext cx="1549571" cy="785744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altLang="zh-CN" dirty="0"/>
              <a:t>Task2</a:t>
            </a:r>
            <a:r>
              <a:rPr lang="zh-CN" altLang="en-US" dirty="0"/>
              <a:t>性能测试截图</a:t>
            </a:r>
          </a:p>
        </p:txBody>
      </p:sp>
    </p:spTree>
    <p:extLst>
      <p:ext uri="{BB962C8B-B14F-4D97-AF65-F5344CB8AC3E}">
        <p14:creationId xmlns:p14="http://schemas.microsoft.com/office/powerpoint/2010/main" val="4011119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0E59D-6345-EFFA-A3A6-EC9ACCEF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DCB697C-17FA-E4D5-FC7A-2A6EBF11C21D}"/>
              </a:ext>
            </a:extLst>
          </p:cNvPr>
          <p:cNvSpPr/>
          <p:nvPr/>
        </p:nvSpPr>
        <p:spPr>
          <a:xfrm>
            <a:off x="11064633" y="4204187"/>
            <a:ext cx="1007919" cy="250858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Open Sans" panose="020B0606030504020204" pitchFamily="34" charset="0"/>
              </a:rPr>
              <a:t>Task2-Kalman </a:t>
            </a:r>
            <a:r>
              <a:rPr lang="zh-CN" altLang="zh-CN" b="1" dirty="0">
                <a:solidFill>
                  <a:schemeClr val="bg1"/>
                </a:solidFill>
                <a:latin typeface="Open Sans" panose="020B0606030504020204" pitchFamily="34" charset="0"/>
              </a:rPr>
              <a:t>轨迹与真值</a:t>
            </a:r>
            <a:r>
              <a:rPr lang="zh-CN" altLang="en-US" b="1" dirty="0">
                <a:solidFill>
                  <a:schemeClr val="bg1"/>
                </a:solidFill>
                <a:latin typeface="Open Sans" panose="020B0606030504020204" pitchFamily="34" charset="0"/>
              </a:rPr>
              <a:t>几乎重合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0A9BF63-EDF1-4709-8D16-280176CB9761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428A7CEB-B916-DA49-267B-A7820102C41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5C4AF6AD-348A-2243-0660-10254F3C603F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90E72C39-1522-EF60-9A90-92369F874BB9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C41D654E-1A00-6BC4-D1EE-5C139C82AD6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1E9D5E1D-6B92-0A67-2B39-25163658966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57DF248B-29A9-482E-9626-E64D6729BFA0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DAD1C097-B3E5-62E4-7334-7E72938867D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41EA8009-FF24-00B4-F519-C0728A8A766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F1B6100C-A623-F89F-BA1B-D7B1F985F11E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F83B7490-B6B1-0855-83D0-6A876A1C55A8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12914DEA-B923-03C7-9DE9-30F63BD5BDB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6B204C2C-34EC-3FC7-60A3-927B0FC8E24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C1A2997A-6A1C-479D-DAE8-44BFFA3F35D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069E635E-DFE4-44F4-A354-C8EFB0C8AD4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9D14C15-0D32-2EEA-A626-5F891A0DE259}"/>
              </a:ext>
            </a:extLst>
          </p:cNvPr>
          <p:cNvGrpSpPr/>
          <p:nvPr/>
        </p:nvGrpSpPr>
        <p:grpSpPr>
          <a:xfrm>
            <a:off x="204952" y="798396"/>
            <a:ext cx="12191365" cy="617855"/>
            <a:chOff x="204952" y="883516"/>
            <a:chExt cx="12191365" cy="61785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BFC5E26-3BCA-9396-3B07-44240FABB39D}"/>
                </a:ext>
              </a:extLst>
            </p:cNvPr>
            <p:cNvSpPr/>
            <p:nvPr/>
          </p:nvSpPr>
          <p:spPr>
            <a:xfrm rot="5400000">
              <a:off x="6042825" y="-4934937"/>
              <a:ext cx="515620" cy="12191365"/>
            </a:xfrm>
            <a:prstGeom prst="rect">
              <a:avLst/>
            </a:prstGeom>
            <a:gradFill flip="none" rotWithShape="1">
              <a:gsLst>
                <a:gs pos="74000">
                  <a:srgbClr val="008BFF">
                    <a:lumMod val="75000"/>
                  </a:srgbClr>
                </a:gs>
                <a:gs pos="28000">
                  <a:srgbClr val="008BFF">
                    <a:lumMod val="75000"/>
                  </a:srgbClr>
                </a:gs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22225" cap="flat" cmpd="sng" algn="ctr">
              <a:gradFill>
                <a:gsLst>
                  <a:gs pos="52300">
                    <a:srgbClr val="FFFFFF"/>
                  </a:gs>
                  <a:gs pos="26000">
                    <a:srgbClr val="FFFFFF">
                      <a:alpha val="0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14300" algn="ctr" rotWithShape="0">
                <a:srgbClr val="026CD4">
                  <a:alpha val="12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微软雅黑" panose="020B050302020402020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D89730C-E0C7-C5C8-F879-54C90035CFF0}"/>
                </a:ext>
              </a:extLst>
            </p:cNvPr>
            <p:cNvSpPr txBox="1"/>
            <p:nvPr/>
          </p:nvSpPr>
          <p:spPr>
            <a:xfrm>
              <a:off x="3577920" y="883516"/>
              <a:ext cx="5444160" cy="6178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800" b="1" kern="0" dirty="0">
                  <a:gradFill>
                    <a:gsLst>
                      <a:gs pos="100000">
                        <a:srgbClr val="FFC000"/>
                      </a:gs>
                      <a:gs pos="0">
                        <a:srgbClr val="FFFFFF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迁移完整性统计与正确性评估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681EE19B-7DC5-1998-D1A3-153DA6AA61C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901" y="1329116"/>
            <a:ext cx="4045967" cy="2955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C408F4A-9F7B-3796-C336-FE4DD9F1976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232"/>
          <a:stretch>
            <a:fillRect/>
          </a:stretch>
        </p:blipFill>
        <p:spPr>
          <a:xfrm>
            <a:off x="1117836" y="1349713"/>
            <a:ext cx="4322050" cy="36841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AA66D3D-3C67-FC9F-F706-4C564C1B4218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4493"/>
          <a:stretch>
            <a:fillRect/>
          </a:stretch>
        </p:blipFill>
        <p:spPr>
          <a:xfrm>
            <a:off x="753703" y="5458482"/>
            <a:ext cx="5115435" cy="139951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C7B678B-839D-3476-0FB6-E9288133E0AD}"/>
              </a:ext>
            </a:extLst>
          </p:cNvPr>
          <p:cNvSpPr txBox="1"/>
          <p:nvPr/>
        </p:nvSpPr>
        <p:spPr>
          <a:xfrm>
            <a:off x="1359463" y="5058372"/>
            <a:ext cx="379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思源宋体 CN Heavy" panose="02010600030101010101" charset="-122"/>
                <a:ea typeface="思源宋体 CN Heavy" panose="02010600030101010101" charset="-122"/>
              </a:rPr>
              <a:t>完成内容误差均低于设定阈值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28E9ECF-DF38-92EF-05DB-651F3338F75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887" y="4285002"/>
            <a:ext cx="3521997" cy="253669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DD03905-18FD-16F0-A6A6-0EB4CE0536FA}"/>
              </a:ext>
            </a:extLst>
          </p:cNvPr>
          <p:cNvSpPr/>
          <p:nvPr/>
        </p:nvSpPr>
        <p:spPr>
          <a:xfrm>
            <a:off x="11064633" y="1643449"/>
            <a:ext cx="1007919" cy="250858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zh-CN" b="1" dirty="0">
                <a:solidFill>
                  <a:schemeClr val="bg1"/>
                </a:solidFill>
                <a:latin typeface="Open Sans" panose="020B0606030504020204" pitchFamily="34" charset="0"/>
              </a:rPr>
              <a:t>Task1-</a:t>
            </a:r>
            <a:r>
              <a:rPr lang="zh-CN" altLang="en-US" b="1" dirty="0">
                <a:solidFill>
                  <a:schemeClr val="bg1"/>
                </a:solidFill>
                <a:latin typeface="Open Sans" panose="020B0606030504020204" pitchFamily="34" charset="0"/>
              </a:rPr>
              <a:t>目标检测位置一致</a:t>
            </a:r>
            <a:endParaRPr lang="zh-CN" altLang="zh-CN" b="1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59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7A574-253A-DA8C-957E-0FFD0176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F283C15-72D3-5A86-8755-9D770974FA46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A851C784-5951-78D0-D96E-7DFD202B948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26CE31EA-2B30-08B9-8221-2A557D1E19EC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087855A1-BF8F-15BA-0087-4A353109E31C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E7F1B507-7123-E1A3-E664-E62DA530E42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ED57D081-B505-FFB3-7BD7-48394327093B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D6D7096F-FB38-3FAE-92DE-0DBA316B8A9E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70F9EA73-E328-3275-ECBF-0F40BF633C1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15706468-535D-57A9-F028-066BE937C89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A63295B4-857C-299A-5B4A-1C918019BB60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68C53F6F-92C1-CB95-C020-A59980EB9DD6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C1E77FDE-ABC4-E427-39DC-297CF1FB470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DBB42A50-BB49-44C4-C5AF-519C7A0D9BF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59B13321-9194-95B3-5502-EDBDFA4AD307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E073FD06-43CD-3979-0275-2D03FCCEC2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D4607FA-71C5-5664-4D9F-FCF92AE4640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500" t="2372" r="423"/>
          <a:stretch>
            <a:fillRect/>
          </a:stretch>
        </p:blipFill>
        <p:spPr>
          <a:xfrm>
            <a:off x="314327" y="798396"/>
            <a:ext cx="11694792" cy="605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3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E49C7-1E01-F1ED-6087-87A034B0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37824B8-429A-AF2A-56E2-6AE081F01764}"/>
              </a:ext>
            </a:extLst>
          </p:cNvPr>
          <p:cNvGrpSpPr/>
          <p:nvPr/>
        </p:nvGrpSpPr>
        <p:grpSpPr>
          <a:xfrm>
            <a:off x="-3810" y="149953"/>
            <a:ext cx="12192000" cy="631558"/>
            <a:chOff x="-3810" y="149953"/>
            <a:chExt cx="12192000" cy="631558"/>
          </a:xfrm>
        </p:grpSpPr>
        <p:sp>
          <p:nvSpPr>
            <p:cNvPr id="34" name="PA-任意多边形 7">
              <a:extLst>
                <a:ext uri="{FF2B5EF4-FFF2-40B4-BE49-F238E27FC236}">
                  <a16:creationId xmlns:a16="http://schemas.microsoft.com/office/drawing/2014/main" id="{A7ABCE18-5293-1D44-2723-EA116B16F5E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251687" y="149953"/>
              <a:ext cx="1586586" cy="468036"/>
            </a:xfrm>
            <a:prstGeom prst="roundRect">
              <a:avLst/>
            </a:prstGeom>
            <a:gradFill flip="none" rotWithShape="1">
              <a:gsLst>
                <a:gs pos="10000">
                  <a:srgbClr val="3BD8FF"/>
                </a:gs>
                <a:gs pos="50000">
                  <a:srgbClr val="68D4E8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rgbClr val="008BFF">
                  <a:lumMod val="50000"/>
                  <a:alpha val="53000"/>
                </a:srgb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仓耳玄三M W05" panose="02020400000000000000" charset="-128"/>
              </a:endParaRPr>
            </a:p>
          </p:txBody>
        </p:sp>
        <p:sp>
          <p:nvSpPr>
            <p:cNvPr id="25" name="PA-文本框 6">
              <a:extLst>
                <a:ext uri="{FF2B5EF4-FFF2-40B4-BE49-F238E27FC236}">
                  <a16:creationId xmlns:a16="http://schemas.microsoft.com/office/drawing/2014/main" id="{3F836293-FFF0-1CE9-08BD-D033430D36A3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521835" y="214581"/>
              <a:ext cx="16910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R="0" lvl="0" indent="0"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cs typeface="+mn-cs"/>
                  <a:sym typeface="汉仪雅酷黑简" panose="00020600040101010101" charset="-122"/>
                </a:rPr>
                <a:t>项目介绍</a:t>
              </a:r>
            </a:p>
          </p:txBody>
        </p:sp>
        <p:sp>
          <p:nvSpPr>
            <p:cNvPr id="35" name="PA-文本框 8">
              <a:extLst>
                <a:ext uri="{FF2B5EF4-FFF2-40B4-BE49-F238E27FC236}">
                  <a16:creationId xmlns:a16="http://schemas.microsoft.com/office/drawing/2014/main" id="{99DDF8C3-BF2D-0AE0-94D9-D2B48920E879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772662" y="229934"/>
              <a:ext cx="15865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85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600" b="1" dirty="0">
                  <a:solidFill>
                    <a:srgbClr val="00B0F0"/>
                  </a:solidFill>
                  <a:latin typeface="+mn-ea"/>
                  <a:sym typeface="汉仪雅酷黑简" panose="00020600040101010101" charset="-122"/>
                </a:rPr>
                <a:t>团队介绍</a:t>
              </a:r>
            </a:p>
          </p:txBody>
        </p:sp>
        <p:sp>
          <p:nvSpPr>
            <p:cNvPr id="36" name="PA-文本框 10">
              <a:extLst>
                <a:ext uri="{FF2B5EF4-FFF2-40B4-BE49-F238E27FC236}">
                  <a16:creationId xmlns:a16="http://schemas.microsoft.com/office/drawing/2014/main" id="{A51AABC0-D172-46EC-7073-B14E3C81518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3990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技术指标</a:t>
              </a:r>
            </a:p>
          </p:txBody>
        </p:sp>
        <p:sp>
          <p:nvSpPr>
            <p:cNvPr id="37" name="PA-文本框 15">
              <a:extLst>
                <a:ext uri="{FF2B5EF4-FFF2-40B4-BE49-F238E27FC236}">
                  <a16:creationId xmlns:a16="http://schemas.microsoft.com/office/drawing/2014/main" id="{83B8AB73-739F-1AF3-3F71-AB159B00F60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593686" y="215378"/>
              <a:ext cx="1586585" cy="3371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lvl="0" algn="ctr">
                <a:defRPr/>
              </a:pPr>
              <a:r>
                <a:rPr lang="zh-CN" altLang="en-US" sz="1600" b="1" dirty="0">
                  <a:solidFill>
                    <a:srgbClr val="00B0F0"/>
                  </a:solidFill>
                  <a:latin typeface="+mn-ea"/>
                  <a:ea typeface="+mn-ea"/>
                  <a:sym typeface="汉仪雅酷黑简" panose="00020600040101010101" charset="-122"/>
                </a:rPr>
                <a:t>创新点</a:t>
              </a:r>
            </a:p>
          </p:txBody>
        </p:sp>
        <p:cxnSp>
          <p:nvCxnSpPr>
            <p:cNvPr id="38" name="PA-直接连接符 26">
              <a:extLst>
                <a:ext uri="{FF2B5EF4-FFF2-40B4-BE49-F238E27FC236}">
                  <a16:creationId xmlns:a16="http://schemas.microsoft.com/office/drawing/2014/main" id="{36A187F5-81F9-19A7-643C-94861231A7B8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9552131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9" name="任意多边形: 形状 32">
              <a:extLst>
                <a:ext uri="{FF2B5EF4-FFF2-40B4-BE49-F238E27FC236}">
                  <a16:creationId xmlns:a16="http://schemas.microsoft.com/office/drawing/2014/main" id="{C01327B5-9DB4-A8B8-44CE-2B5EB386DDD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-3810" y="726128"/>
              <a:ext cx="12192000" cy="55383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3BD8FF"/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279400" dist="203200" dir="3600000" sx="88000" sy="88000" algn="t" rotWithShape="0">
                <a:srgbClr val="00C2FF">
                  <a:alpha val="3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1" name="PA-文本框 10">
              <a:extLst>
                <a:ext uri="{FF2B5EF4-FFF2-40B4-BE49-F238E27FC236}">
                  <a16:creationId xmlns:a16="http://schemas.microsoft.com/office/drawing/2014/main" id="{6DF93596-C32E-306D-4BC1-206AD5CF235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254294" y="199305"/>
              <a:ext cx="158658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+mn-ea"/>
                  <a:ea typeface="+mn-ea"/>
                  <a:sym typeface="汉仪雅酷黑简" panose="00020600040101010101" charset="-122"/>
                  <a:rtl val="0"/>
                </a:rPr>
                <a:t>技术路线</a:t>
              </a:r>
            </a:p>
          </p:txBody>
        </p:sp>
        <p:cxnSp>
          <p:nvCxnSpPr>
            <p:cNvPr id="42" name="PA-直接连接符 26">
              <a:extLst>
                <a:ext uri="{FF2B5EF4-FFF2-40B4-BE49-F238E27FC236}">
                  <a16:creationId xmlns:a16="http://schemas.microsoft.com/office/drawing/2014/main" id="{9248276D-D058-B707-03D4-72320CF27B05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882434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6">
              <a:extLst>
                <a:ext uri="{FF2B5EF4-FFF2-40B4-BE49-F238E27FC236}">
                  <a16:creationId xmlns:a16="http://schemas.microsoft.com/office/drawing/2014/main" id="{C8558685-E92B-7D21-08BD-7A1BD782E929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6212738" y="226321"/>
              <a:ext cx="0" cy="315301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4" name="PA-任意多边形 121">
              <a:extLst>
                <a:ext uri="{FF2B5EF4-FFF2-40B4-BE49-F238E27FC236}">
                  <a16:creationId xmlns:a16="http://schemas.microsoft.com/office/drawing/2014/main" id="{CEFE1F5C-C9F6-16B2-FF90-230CF683440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02423" y="220980"/>
              <a:ext cx="163942" cy="327660"/>
            </a:xfrm>
            <a:custGeom>
              <a:avLst/>
              <a:gdLst/>
              <a:ahLst/>
              <a:cxnLst/>
              <a:rect l="0" t="0" r="0" b="0"/>
              <a:pathLst>
                <a:path w="275824" h="551647">
                  <a:moveTo>
                    <a:pt x="0" y="551646"/>
                  </a:moveTo>
                  <a:lnTo>
                    <a:pt x="275823" y="275823"/>
                  </a:lnTo>
                  <a:lnTo>
                    <a:pt x="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8000">
                    <a:srgbClr val="00C2FF"/>
                  </a:gs>
                  <a:gs pos="100000">
                    <a:srgbClr val="008BFF">
                      <a:lumMod val="75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sp>
          <p:nvSpPr>
            <p:cNvPr id="45" name="PA-矩形 114">
              <a:extLst>
                <a:ext uri="{FF2B5EF4-FFF2-40B4-BE49-F238E27FC236}">
                  <a16:creationId xmlns:a16="http://schemas.microsoft.com/office/drawing/2014/main" id="{EC355E23-7041-9A5B-297A-9CF7A23AC83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8900000">
              <a:off x="2408555" y="322334"/>
              <a:ext cx="125039" cy="124954"/>
            </a:xfrm>
            <a:prstGeom prst="rect">
              <a:avLst/>
            </a:prstGeom>
            <a:gradFill flip="none" rotWithShape="1">
              <a:gsLst>
                <a:gs pos="0">
                  <a:srgbClr val="FEFFFF"/>
                </a:gs>
                <a:gs pos="99000">
                  <a:srgbClr val="3BD8FF"/>
                </a:gs>
              </a:gsLst>
              <a:path path="circle">
                <a:fillToRect r="100000" b="100000"/>
              </a:path>
              <a:tileRect l="-100000" t="-100000"/>
            </a:gradFill>
            <a:ln w="5448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仓耳玄三M W05" panose="02020400000000000000" charset="-128"/>
                <a:ea typeface="仓耳玄三M W05" panose="02020400000000000000" charset="-128"/>
                <a:cs typeface="+mn-ea"/>
              </a:endParaRPr>
            </a:p>
          </p:txBody>
        </p:sp>
        <p:cxnSp>
          <p:nvCxnSpPr>
            <p:cNvPr id="46" name="PA-直接连接符 26">
              <a:extLst>
                <a:ext uri="{FF2B5EF4-FFF2-40B4-BE49-F238E27FC236}">
                  <a16:creationId xmlns:a16="http://schemas.microsoft.com/office/drawing/2014/main" id="{7D38CC82-239C-AEFF-772C-A2CFF5DD24A3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4499610" y="229870"/>
              <a:ext cx="0" cy="315595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11000">
                    <a:srgbClr val="008BFF"/>
                  </a:gs>
                  <a:gs pos="87000">
                    <a:srgbClr val="00C2F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</p:grpSp>
      <p:pic>
        <p:nvPicPr>
          <p:cNvPr id="47" name="图片 46" descr="集创赛1">
            <a:extLst>
              <a:ext uri="{FF2B5EF4-FFF2-40B4-BE49-F238E27FC236}">
                <a16:creationId xmlns:a16="http://schemas.microsoft.com/office/drawing/2014/main" id="{74AABE6D-A4D4-5AA8-C909-9C082BE2CC6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8D2D339-1A7C-0069-BBED-1704974C065D}"/>
              </a:ext>
            </a:extLst>
          </p:cNvPr>
          <p:cNvSpPr txBox="1"/>
          <p:nvPr/>
        </p:nvSpPr>
        <p:spPr>
          <a:xfrm>
            <a:off x="353695" y="1612535"/>
            <a:ext cx="10786745" cy="4039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b="1" kern="2000" dirty="0">
                <a:solidFill>
                  <a:schemeClr val="tx1"/>
                </a:solidFill>
                <a:uFillTx/>
              </a:rPr>
              <a:t>使用的</a:t>
            </a:r>
            <a:r>
              <a:rPr lang="en-US" altLang="zh-CN" sz="3200" b="1" kern="2000" dirty="0">
                <a:solidFill>
                  <a:schemeClr val="tx1"/>
                </a:solidFill>
                <a:uFillTx/>
              </a:rPr>
              <a:t>AI</a:t>
            </a:r>
            <a:r>
              <a:rPr lang="zh-CN" altLang="en-US" sz="3200" b="1" kern="2000" dirty="0">
                <a:solidFill>
                  <a:schemeClr val="tx1"/>
                </a:solidFill>
                <a:uFillTx/>
              </a:rPr>
              <a:t>工具名称及版本：</a:t>
            </a:r>
            <a:r>
              <a:rPr lang="en-US" altLang="zh-CN" sz="2800" kern="2000" dirty="0">
                <a:solidFill>
                  <a:schemeClr val="tx1"/>
                </a:solidFill>
                <a:uFillTx/>
              </a:rPr>
              <a:t>OpenAI ChatGPT 5.5</a:t>
            </a:r>
            <a:r>
              <a:rPr lang="zh-CN" altLang="en-US" sz="2800" kern="2000" dirty="0">
                <a:solidFill>
                  <a:schemeClr val="tx1"/>
                </a:solidFill>
                <a:uFillTx/>
              </a:rPr>
              <a:t>，</a:t>
            </a:r>
            <a:r>
              <a:rPr lang="en-US" altLang="zh-CN" sz="2800" kern="2000" dirty="0">
                <a:solidFill>
                  <a:schemeClr val="tx1"/>
                </a:solidFill>
                <a:uFillTx/>
              </a:rPr>
              <a:t> Codex</a:t>
            </a:r>
          </a:p>
          <a:p>
            <a:pPr marL="457200" indent="-457200">
              <a:buFont typeface="Wingdings" panose="05000000000000000000" charset="0"/>
              <a:buChar char="l"/>
            </a:pPr>
            <a:endParaRPr lang="en-US" altLang="zh-CN" sz="2800" kern="2000" dirty="0">
              <a:solidFill>
                <a:schemeClr val="tx1"/>
              </a:solidFill>
              <a:uFillTx/>
            </a:endParaRPr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b="1" kern="2000" dirty="0">
                <a:solidFill>
                  <a:schemeClr val="tx1"/>
                </a:solidFill>
                <a:uFillTx/>
              </a:rPr>
              <a:t>使用场景与用途：</a:t>
            </a:r>
            <a:r>
              <a:rPr lang="zh-CN" altLang="en-US" sz="2800" kern="2000" dirty="0">
                <a:solidFill>
                  <a:schemeClr val="tx1"/>
                </a:solidFill>
                <a:uFillTx/>
              </a:rPr>
              <a:t>代码生成，文档撰写</a:t>
            </a:r>
          </a:p>
          <a:p>
            <a:pPr marL="457200" indent="-457200">
              <a:buFont typeface="Wingdings" panose="05000000000000000000" charset="0"/>
              <a:buChar char="l"/>
            </a:pPr>
            <a:endParaRPr lang="zh-CN" altLang="en-US" sz="2800" kern="2000" dirty="0">
              <a:solidFill>
                <a:schemeClr val="tx1"/>
              </a:solidFill>
              <a:uFillTx/>
            </a:endParaRPr>
          </a:p>
          <a:p>
            <a:pPr marL="457200" indent="-457200">
              <a:buFont typeface="Wingdings" panose="05000000000000000000" charset="0"/>
              <a:buChar char="l"/>
            </a:pPr>
            <a:r>
              <a:rPr lang="en-US" altLang="zh-CN" sz="3200" b="1" kern="2000" dirty="0">
                <a:solidFill>
                  <a:schemeClr val="tx1"/>
                </a:solidFill>
                <a:uFillTx/>
              </a:rPr>
              <a:t>AI</a:t>
            </a:r>
            <a:r>
              <a:rPr lang="zh-CN" altLang="en-US" sz="3200" b="1" kern="2000" dirty="0">
                <a:solidFill>
                  <a:schemeClr val="tx1"/>
                </a:solidFill>
                <a:uFillTx/>
              </a:rPr>
              <a:t>生成内容占比：</a:t>
            </a:r>
            <a:endParaRPr lang="zh-CN" altLang="en-US" sz="3200" kern="2000" dirty="0">
              <a:solidFill>
                <a:schemeClr val="tx1"/>
              </a:solidFill>
              <a:uFillTx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代码生成：</a:t>
            </a:r>
            <a:r>
              <a:rPr lang="en-US" altLang="zh-CN" sz="2800" dirty="0"/>
              <a:t>90%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文档撰写：</a:t>
            </a:r>
            <a:r>
              <a:rPr lang="en-US" altLang="zh-CN" sz="2800" dirty="0"/>
              <a:t>30%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PPT</a:t>
            </a:r>
            <a:r>
              <a:rPr lang="zh-CN" altLang="en-US" sz="2800" dirty="0"/>
              <a:t>制作：</a:t>
            </a:r>
            <a:r>
              <a:rPr lang="en-US" altLang="zh-CN" sz="2800" dirty="0"/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241558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主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91" y="730005"/>
            <a:ext cx="10369018" cy="5832000"/>
          </a:xfrm>
          <a:prstGeom prst="rect">
            <a:avLst/>
          </a:prstGeom>
        </p:spPr>
      </p:pic>
      <p:pic>
        <p:nvPicPr>
          <p:cNvPr id="2" name="图片 1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406" y="327320"/>
            <a:ext cx="3743588" cy="234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96990" y="3075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888],&quot;29&quot;:[5000007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5"/>
  <p:tag name="KSO_WM_UNIT_ID" val="diagram20234872_1*l_h_i*1_1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4872_1*l_h_i*1_2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gradient&quot;:[{&quot;brightness&quot;:0,&quot;colorType&quot;:1,&quot;foreColorIndex&quot;:6,&quot;pos&quot;:0.05000000074505806,&quot;transparency&quot;:0},{&quot;brightness&quot;:0.4000000059604645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4872_1*l_h_i*1_2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4872_1*l_h_i*1_2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4872_1*l_h_i*1_2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872_1*l_h_a*1_2_1"/>
  <p:tag name="KSO_WM_TEMPLATE_CATEGORY" val="diagram"/>
  <p:tag name="KSO_WM_TEMPLATE_INDEX" val="20234872"/>
  <p:tag name="KSO_WM_UNIT_LAYERLEVEL" val="1_1_1"/>
  <p:tag name="KSO_WM_TAG_VERSION" val="3.0"/>
  <p:tag name="KSO_WM_UNIT_TEXT_FILL_TYPE" val="1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标题"/>
  <p:tag name="KSO_WM_UNIT_TEXT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5"/>
  <p:tag name="KSO_WM_UNIT_ID" val="diagram20234872_1*l_h_i*1_2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5"/>
  <p:tag name="KSO_WM_UNIT_ID" val="diagram20234872_1*l_h_i*1_1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72_1*l_h_i*1_1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gradient&quot;:[{&quot;brightness&quot;:0,&quot;colorType&quot;:1,&quot;foreColorIndex&quot;:5,&quot;pos&quot;:0.0500000007450580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72_1*l_h_i*1_1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72_1*l_h_i*1_1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872_1*l_h_i*1_1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72_1*l_h_a*1_1_1"/>
  <p:tag name="KSO_WM_TEMPLATE_CATEGORY" val="diagram"/>
  <p:tag name="KSO_WM_TEMPLATE_INDEX" val="20234872"/>
  <p:tag name="KSO_WM_UNIT_LAYERLEVEL" val="1_1_1"/>
  <p:tag name="KSO_WM_TAG_VERSION" val="3.0"/>
  <p:tag name="KSO_WM_UNIT_TEXT_FILL_TYPE" val="1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标题"/>
  <p:tag name="KSO_WM_UNIT_TEXT_TYP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72_1*l_h_i*1_1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gradient&quot;:[{&quot;brightness&quot;:0,&quot;colorType&quot;:1,&quot;foreColorIndex&quot;:5,&quot;pos&quot;:0.0500000007450580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72_1*l_h_i*1_1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72_1*l_h_i*1_1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872_1*l_h_i*1_1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72_1*l_h_a*1_1_1"/>
  <p:tag name="KSO_WM_TEMPLATE_CATEGORY" val="diagram"/>
  <p:tag name="KSO_WM_TEMPLATE_INDEX" val="20234872"/>
  <p:tag name="KSO_WM_UNIT_LAYERLEVEL" val="1_1_1"/>
  <p:tag name="KSO_WM_TAG_VERSION" val="3.0"/>
  <p:tag name="KSO_WM_UNIT_TEXT_FILL_TYPE" val="1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标题"/>
  <p:tag name="KSO_WM_UNIT_TEXT_TYP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568</Words>
  <Application>Microsoft Office PowerPoint</Application>
  <PresentationFormat>宽屏</PresentationFormat>
  <Paragraphs>206</Paragraphs>
  <Slides>17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Wingdings</vt:lpstr>
      <vt:lpstr>华文行楷</vt:lpstr>
      <vt:lpstr>Arial</vt:lpstr>
      <vt:lpstr>微软雅黑</vt:lpstr>
      <vt:lpstr>思源黑体 CN Bold</vt:lpstr>
      <vt:lpstr>汉仪汉黑简</vt:lpstr>
      <vt:lpstr>黑体</vt:lpstr>
      <vt:lpstr>仓耳玄三M W05</vt:lpstr>
      <vt:lpstr>Open Sans</vt:lpstr>
      <vt:lpstr>DIN</vt:lpstr>
      <vt:lpstr>思源宋体 CN Heavy</vt:lpstr>
      <vt:lpstr>标准粗黑</vt:lpstr>
      <vt:lpstr>Calibri</vt:lpstr>
      <vt:lpstr>汉仪铸字美心体简</vt:lpstr>
      <vt:lpstr>汉仪粗圆简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ZIHENG</dc:creator>
  <cp:lastModifiedBy>美子 杨</cp:lastModifiedBy>
  <cp:revision>394</cp:revision>
  <dcterms:created xsi:type="dcterms:W3CDTF">2019-06-19T02:08:00Z</dcterms:created>
  <dcterms:modified xsi:type="dcterms:W3CDTF">2026-07-22T12:06:08Z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EDA342FFEE334450B0AE78F6967E07F7_13</vt:lpwstr>
  </property>
</Properties>
</file>