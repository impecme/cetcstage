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4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7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5" r:id="rId2"/>
    <p:sldId id="343" r:id="rId3"/>
    <p:sldId id="8342" r:id="rId4"/>
    <p:sldId id="323" r:id="rId5"/>
    <p:sldId id="339" r:id="rId6"/>
    <p:sldId id="8343" r:id="rId7"/>
    <p:sldId id="335" r:id="rId8"/>
    <p:sldId id="334" r:id="rId9"/>
    <p:sldId id="328" r:id="rId10"/>
    <p:sldId id="336" r:id="rId11"/>
    <p:sldId id="8347" r:id="rId12"/>
    <p:sldId id="340" r:id="rId13"/>
    <p:sldId id="8345" r:id="rId14"/>
    <p:sldId id="8344" r:id="rId15"/>
    <p:sldId id="317" r:id="rId16"/>
  </p:sldIdLst>
  <p:sldSz cx="12599988" cy="7199313"/>
  <p:notesSz cx="6858000" cy="9144000"/>
  <p:embeddedFontLst>
    <p:embeddedFont>
      <p:font typeface="MiSans Normal" panose="02010600030101010101" charset="-122"/>
      <p:regular r:id="rId19"/>
    </p:embeddedFont>
    <p:embeddedFont>
      <p:font typeface="OPPOSans B" panose="02010600030101010101" charset="-122"/>
      <p:regular r:id="rId20"/>
    </p:embeddedFont>
    <p:embeddedFont>
      <p:font typeface="OPPOSans M" panose="02010600030101010101" charset="-122"/>
      <p:regular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汉仪雅酷黑W" panose="02010600030101010101" charset="-122"/>
      <p:regular r:id="rId24"/>
    </p:embeddedFont>
    <p:embeddedFont>
      <p:font typeface="汉仪颜楷简" panose="02010600030101010101" charset="-122"/>
      <p:regular r:id="rId25"/>
    </p:embeddedFont>
    <p:embeddedFont>
      <p:font typeface="思源黑体 CN Bold" panose="02010600030101010101" charset="-122"/>
      <p:bold r:id="rId26"/>
    </p:embeddedFont>
    <p:embeddedFont>
      <p:font typeface="思源宋体 CN Heavy" panose="02010600030101010101" charset="-122"/>
      <p:bold r:id="rId27"/>
    </p:embeddedFont>
    <p:embeddedFont>
      <p:font typeface="演示新手书" panose="00000500000000000000" charset="-122"/>
      <p:regular r:id="rId28"/>
    </p:embeddedFont>
    <p:embeddedFont>
      <p:font typeface="优设标题黑" panose="02010600030101010101" charset="-122"/>
      <p:regular r:id="rId29"/>
    </p:embeddedFont>
    <p:embeddedFont>
      <p:font typeface="Roboto" panose="02000000000000000000" pitchFamily="2" charset="0"/>
      <p:regular r:id="rId30"/>
    </p:embeddedFont>
    <p:embeddedFont>
      <p:font typeface="微软雅黑" panose="020B0503020204020204" pitchFamily="34" charset="-122"/>
      <p:regular r:id="rId31"/>
      <p:bold r:id="rId32"/>
    </p:embeddedFont>
    <p:embeddedFont>
      <p:font typeface="演示流云楷" panose="02000600000000000000" pitchFamily="2" charset="-122"/>
      <p:regular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6" userDrawn="1">
          <p15:clr>
            <a:srgbClr val="A4A3A4"/>
          </p15:clr>
        </p15:guide>
        <p15:guide id="2" pos="40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EBFF"/>
    <a:srgbClr val="F78021"/>
    <a:srgbClr val="0068BF"/>
    <a:srgbClr val="0066BB"/>
    <a:srgbClr val="00009B"/>
    <a:srgbClr val="6CA9DB"/>
    <a:srgbClr val="99C4E6"/>
    <a:srgbClr val="D8E5F5"/>
    <a:srgbClr val="4192D2"/>
    <a:srgbClr val="0C7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0" autoAdjust="0"/>
    <p:restoredTop sz="94892" autoAdjust="0"/>
  </p:normalViewPr>
  <p:slideViewPr>
    <p:cSldViewPr snapToGrid="0" showGuides="1">
      <p:cViewPr>
        <p:scale>
          <a:sx n="100" d="100"/>
          <a:sy n="100" d="100"/>
        </p:scale>
        <p:origin x="864" y="216"/>
      </p:cViewPr>
      <p:guideLst>
        <p:guide orient="horz" pos="1246"/>
        <p:guide pos="40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1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8467543138866099"/>
          <c:y val="7.8912021490933501E-2"/>
          <c:w val="0.76150369761709102"/>
          <c:h val="0.80557421087978498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rgbClr val="00C2FF">
                <a:lumMod val="20000"/>
                <a:lumOff val="80000"/>
              </a:srgbClr>
            </a:solidFill>
            <a:ln w="31750">
              <a:solidFill>
                <a:srgbClr val="91BEE4"/>
              </a:solidFill>
            </a:ln>
            <a:scene3d>
              <a:camera prst="orthographicFront"/>
              <a:lightRig rig="threePt" dir="t"/>
            </a:scene3d>
            <a:sp3d contourW="31750"/>
          </c:spPr>
          <c:dPt>
            <c:idx val="0"/>
            <c:bubble3D val="0"/>
            <c:spPr>
              <a:solidFill>
                <a:srgbClr val="0068BF"/>
              </a:solidFill>
              <a:ln w="31750"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1-96D6-4087-AA0F-F79BBC4A6830}"/>
              </c:ext>
            </c:extLst>
          </c:dPt>
          <c:dPt>
            <c:idx val="1"/>
            <c:bubble3D val="0"/>
            <c:spPr>
              <a:solidFill>
                <a:srgbClr val="0068BF">
                  <a:lumMod val="60000"/>
                  <a:lumOff val="40000"/>
                </a:srgbClr>
              </a:solidFill>
              <a:ln w="31750"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3-96D6-4087-AA0F-F79BBC4A6830}"/>
              </c:ext>
            </c:extLst>
          </c:dPt>
          <c:dPt>
            <c:idx val="2"/>
            <c:bubble3D val="0"/>
            <c:spPr>
              <a:solidFill>
                <a:srgbClr val="008BFF"/>
              </a:solidFill>
              <a:ln w="31750"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5-96D6-4087-AA0F-F79BBC4A6830}"/>
              </c:ext>
            </c:extLst>
          </c:dPt>
          <c:dPt>
            <c:idx val="3"/>
            <c:bubble3D val="0"/>
            <c:spPr>
              <a:solidFill>
                <a:srgbClr val="008BFF">
                  <a:lumMod val="60000"/>
                  <a:lumOff val="40000"/>
                </a:srgbClr>
              </a:solidFill>
              <a:ln w="31750">
                <a:noFill/>
              </a:ln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7-96D6-4087-AA0F-F79BBC4A6830}"/>
              </c:ext>
            </c:extLst>
          </c:dPt>
          <c:dPt>
            <c:idx val="4"/>
            <c:bubble3D val="0"/>
            <c:spPr>
              <a:solidFill>
                <a:srgbClr val="00FFFF">
                  <a:lumMod val="20000"/>
                  <a:lumOff val="80000"/>
                </a:srgbClr>
              </a:solidFill>
              <a:ln w="31750">
                <a:noFill/>
              </a:ln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9-96D6-4087-AA0F-F79BBC4A6830}"/>
              </c:ext>
            </c:extLst>
          </c:dPt>
          <c:dPt>
            <c:idx val="5"/>
            <c:bubble3D val="0"/>
            <c:spPr>
              <a:solidFill>
                <a:srgbClr val="008BFF">
                  <a:lumMod val="20000"/>
                  <a:lumOff val="80000"/>
                </a:srgbClr>
              </a:solidFill>
              <a:ln w="31750">
                <a:noFill/>
              </a:ln>
              <a:scene3d>
                <a:camera prst="orthographicFront"/>
                <a:lightRig rig="threePt" dir="t"/>
              </a:scene3d>
              <a:sp3d contourW="31750"/>
            </c:spPr>
            <c:extLst>
              <c:ext xmlns:c16="http://schemas.microsoft.com/office/drawing/2014/chart" uri="{C3380CC4-5D6E-409C-BE32-E72D297353CC}">
                <c16:uniqueId val="{0000000B-96D6-4087-AA0F-F79BBC4A6830}"/>
              </c:ext>
            </c:extLst>
          </c:dPt>
          <c:dLbls>
            <c:dLbl>
              <c:idx val="0"/>
              <c:layout>
                <c:manualLayout>
                  <c:x val="-0.18740169555549299"/>
                  <c:y val="-0.248182779322326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19F5CF0A-348D-4876-B90C-08ED898FD10B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6D6-4087-AA0F-F79BBC4A6830}"/>
                </c:ext>
              </c:extLst>
            </c:dLbl>
            <c:dLbl>
              <c:idx val="4"/>
              <c:layout>
                <c:manualLayout>
                  <c:x val="4.51238714742088E-2"/>
                  <c:y val="8.2881647256187393E-2"/>
                </c:manualLayout>
              </c:layout>
              <c:tx>
                <c:rich>
                  <a:bodyPr/>
                  <a:lstStyle/>
                  <a:p>
                    <a:fld id="{5EE77074-8BF5-46BB-A314-A2360BD11F2C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96D6-4087-AA0F-F79BBC4A6830}"/>
                </c:ext>
              </c:extLst>
            </c:dLbl>
            <c:dLbl>
              <c:idx val="5"/>
              <c:layout>
                <c:manualLayout>
                  <c:x val="5.7430539852548403E-2"/>
                  <c:y val="5.3062637695555998E-2"/>
                </c:manualLayout>
              </c:layout>
              <c:tx>
                <c:rich>
                  <a:bodyPr/>
                  <a:lstStyle/>
                  <a:p>
                    <a:fld id="{1D27D40D-4F69-47C0-8352-BDC55621927B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96D6-4087-AA0F-F79BBC4A68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5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12700" cap="flat" cmpd="sng" algn="ctr">
                  <a:solidFill>
                    <a:srgbClr val="FFFFFF"/>
                  </a:solidFill>
                  <a:prstDash val="solid"/>
                  <a:round/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TSMC</c:v>
                </c:pt>
                <c:pt idx="1">
                  <c:v>Samsung</c:v>
                </c:pt>
                <c:pt idx="2">
                  <c:v>GlovalFoundries</c:v>
                </c:pt>
                <c:pt idx="3">
                  <c:v>UMC</c:v>
                </c:pt>
                <c:pt idx="4">
                  <c:v>中芯国际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0.6734</c:v>
                </c:pt>
                <c:pt idx="1">
                  <c:v>0.1239</c:v>
                </c:pt>
                <c:pt idx="2">
                  <c:v>5.91E-2</c:v>
                </c:pt>
                <c:pt idx="3">
                  <c:v>5.91E-2</c:v>
                </c:pt>
                <c:pt idx="4">
                  <c:v>5.74E-2</c:v>
                </c:pt>
                <c:pt idx="5" formatCode="0.00%">
                  <c:v>2.2499999999999999E-2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D6-4087-AA0F-F79BBC4A68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3.8621251723891498E-2"/>
          <c:y val="4.7266285945109301E-2"/>
          <c:w val="0.26188184547024601"/>
          <c:h val="0.74842493801767895"/>
        </c:manualLayout>
      </c:layout>
      <c:overlay val="0"/>
      <c:spPr>
        <a:ln>
          <a:noFill/>
        </a:ln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d90d6e7-0679-4b6e-b9f6-c303f0e8605f}"/>
      </c:ext>
    </c:extLst>
  </c:chart>
  <c:spPr>
    <a:noFill/>
    <a:ln w="9525" cap="flat" cmpd="sng" algn="ctr">
      <a:noFill/>
      <a:prstDash val="solid"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470382472319403E-2"/>
          <c:y val="4.4016021036880099E-2"/>
          <c:w val="0.88738789237668203"/>
          <c:h val="0.5682900432900429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Biosignal Acquisition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8.5815599999999996</c:v>
                </c:pt>
                <c:pt idx="1">
                  <c:v>9.2966899999999999</c:v>
                </c:pt>
                <c:pt idx="2">
                  <c:v>10.083333</c:v>
                </c:pt>
                <c:pt idx="3">
                  <c:v>10.941489000000001</c:v>
                </c:pt>
                <c:pt idx="4">
                  <c:v>11.871157999999999</c:v>
                </c:pt>
                <c:pt idx="5">
                  <c:v>12.872339999999999</c:v>
                </c:pt>
                <c:pt idx="6">
                  <c:v>14.016548</c:v>
                </c:pt>
                <c:pt idx="7">
                  <c:v>15.160755999999999</c:v>
                </c:pt>
                <c:pt idx="8">
                  <c:v>16.447990000000001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3-4118-A631-C6C0385D8755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Digital Radar</c:v>
                </c:pt>
              </c:strCache>
            </c:strRef>
          </c:tx>
          <c:spPr>
            <a:solidFill>
              <a:schemeClr val="accent1">
                <a:shade val="475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42.19267</c:v>
                </c:pt>
                <c:pt idx="1">
                  <c:v>49.916074000000002</c:v>
                </c:pt>
                <c:pt idx="2">
                  <c:v>59.069738000000001</c:v>
                </c:pt>
                <c:pt idx="3">
                  <c:v>69.939713999999995</c:v>
                </c:pt>
                <c:pt idx="4">
                  <c:v>82.812054000000003</c:v>
                </c:pt>
                <c:pt idx="5">
                  <c:v>97.972809999999996</c:v>
                </c:pt>
                <c:pt idx="6">
                  <c:v>115.922573</c:v>
                </c:pt>
                <c:pt idx="7">
                  <c:v>137.23344700000001</c:v>
                </c:pt>
                <c:pt idx="8">
                  <c:v>162.406023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D3-4118-A631-C6C0385D87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Electronic Warfare Systems</c:v>
                </c:pt>
              </c:strCache>
            </c:strRef>
          </c:tx>
          <c:spPr>
            <a:solidFill>
              <a:schemeClr val="accent1">
                <a:shade val="825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107.98463</c:v>
                </c:pt>
                <c:pt idx="1">
                  <c:v>121.500587</c:v>
                </c:pt>
                <c:pt idx="2">
                  <c:v>136.66134299999999</c:v>
                </c:pt>
                <c:pt idx="3">
                  <c:v>153.75295</c:v>
                </c:pt>
                <c:pt idx="4">
                  <c:v>172.91843399999999</c:v>
                </c:pt>
                <c:pt idx="5">
                  <c:v>194.51535999999999</c:v>
                </c:pt>
                <c:pt idx="6">
                  <c:v>218.82978</c:v>
                </c:pt>
                <c:pt idx="7">
                  <c:v>246.14774600000001</c:v>
                </c:pt>
                <c:pt idx="8">
                  <c:v>276.89833599999997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D3-4118-A631-C6C0385D875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Image Signal Processor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34.326239999999999</c:v>
                </c:pt>
                <c:pt idx="1">
                  <c:v>36.543143000000001</c:v>
                </c:pt>
                <c:pt idx="2">
                  <c:v>38.903072000000002</c:v>
                </c:pt>
                <c:pt idx="3">
                  <c:v>41.477539999999998</c:v>
                </c:pt>
                <c:pt idx="4">
                  <c:v>44.123520999999997</c:v>
                </c:pt>
                <c:pt idx="5">
                  <c:v>46.984040999999998</c:v>
                </c:pt>
                <c:pt idx="6">
                  <c:v>50.059100000000001</c:v>
                </c:pt>
                <c:pt idx="7">
                  <c:v>53.348697999999999</c:v>
                </c:pt>
                <c:pt idx="8">
                  <c:v>56.781322000000003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5D3-4118-A631-C6C0385D875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SONAR Systems</c:v>
                </c:pt>
              </c:strCache>
            </c:strRef>
          </c:tx>
          <c:spPr>
            <a:solidFill>
              <a:schemeClr val="accent1">
                <a:tint val="825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31.465720000000001</c:v>
                </c:pt>
                <c:pt idx="1">
                  <c:v>33.897162000000002</c:v>
                </c:pt>
                <c:pt idx="2">
                  <c:v>36.543143000000001</c:v>
                </c:pt>
                <c:pt idx="3">
                  <c:v>39.403663000000002</c:v>
                </c:pt>
                <c:pt idx="4">
                  <c:v>42.478721999999998</c:v>
                </c:pt>
                <c:pt idx="5">
                  <c:v>45.839832999999999</c:v>
                </c:pt>
                <c:pt idx="6">
                  <c:v>49.415483000000002</c:v>
                </c:pt>
                <c:pt idx="7">
                  <c:v>53.277185000000003</c:v>
                </c:pt>
                <c:pt idx="8">
                  <c:v>57.424939000000002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D3-4118-A631-C6C0385D875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Seismic Data Processing 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63.074466000000001</c:v>
                </c:pt>
                <c:pt idx="1">
                  <c:v>70.154252999999997</c:v>
                </c:pt>
                <c:pt idx="2">
                  <c:v>78.020683000000005</c:v>
                </c:pt>
                <c:pt idx="3">
                  <c:v>86.745268999999993</c:v>
                </c:pt>
                <c:pt idx="4">
                  <c:v>96.471036999999995</c:v>
                </c:pt>
                <c:pt idx="5">
                  <c:v>107.341013</c:v>
                </c:pt>
                <c:pt idx="6">
                  <c:v>119.355197</c:v>
                </c:pt>
                <c:pt idx="7">
                  <c:v>132.728128</c:v>
                </c:pt>
                <c:pt idx="8">
                  <c:v>147.60283200000001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5D3-4118-A631-C6C0385D875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Voice Recognition </c:v>
                </c:pt>
              </c:strCache>
            </c:strRef>
          </c:tx>
          <c:spPr>
            <a:solidFill>
              <a:schemeClr val="accent1">
                <a:tint val="475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9"/>
                <c:pt idx="0">
                  <c:v>60.714537</c:v>
                </c:pt>
                <c:pt idx="1">
                  <c:v>71.727538999999993</c:v>
                </c:pt>
                <c:pt idx="2">
                  <c:v>84.742904999999993</c:v>
                </c:pt>
                <c:pt idx="3">
                  <c:v>100.189713</c:v>
                </c:pt>
                <c:pt idx="4">
                  <c:v>118.354015</c:v>
                </c:pt>
                <c:pt idx="5">
                  <c:v>139.87942799999999</c:v>
                </c:pt>
                <c:pt idx="6">
                  <c:v>165.26654300000001</c:v>
                </c:pt>
                <c:pt idx="7">
                  <c:v>195.30200300000001</c:v>
                </c:pt>
                <c:pt idx="8">
                  <c:v>230.77245099999999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D3-4118-A631-C6C0385D8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36279507"/>
        <c:axId val="118488987"/>
      </c:barChart>
      <c:catAx>
        <c:axId val="8362795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0068B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endParaRPr lang="zh-CN"/>
          </a:p>
        </c:txPr>
        <c:crossAx val="118488987"/>
        <c:crosses val="autoZero"/>
        <c:auto val="1"/>
        <c:lblAlgn val="ctr"/>
        <c:lblOffset val="100"/>
        <c:noMultiLvlLbl val="0"/>
      </c:catAx>
      <c:valAx>
        <c:axId val="1184889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rgbClr val="0068B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endParaRPr lang="zh-CN"/>
          </a:p>
        </c:txPr>
        <c:crossAx val="836279507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68B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4.2817502210668497E-2"/>
          <c:y val="0.74148092921796704"/>
          <c:w val="0.89897685413292805"/>
          <c:h val="0.180470540445016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rgbClr val="0068B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ff3e323-4354-4f2d-9b8a-aff5477f2560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rgbClr val="0068BF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1960885225709E-2"/>
          <c:y val="3.9623610720800902E-2"/>
          <c:w val="0.91555101661869798"/>
          <c:h val="0.810038486209108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进口</c:v>
                </c:pt>
              </c:strCache>
            </c:strRef>
          </c:tx>
          <c:spPr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General</c:formatCod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18600.531299999999</c:v>
                </c:pt>
                <c:pt idx="1">
                  <c:v>22319.207299999998</c:v>
                </c:pt>
                <c:pt idx="2">
                  <c:v>21847.2215</c:v>
                </c:pt>
                <c:pt idx="3">
                  <c:v>25029.55</c:v>
                </c:pt>
                <c:pt idx="4">
                  <c:v>31444.266100000001</c:v>
                </c:pt>
                <c:pt idx="5">
                  <c:v>29720.802800000001</c:v>
                </c:pt>
                <c:pt idx="6">
                  <c:v>24986.642199999998</c:v>
                </c:pt>
                <c:pt idx="7">
                  <c:v>27575.412799999998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4C-4350-84D8-67ABD290B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出口</c:v>
                </c:pt>
              </c:strCache>
            </c:strRef>
          </c:tx>
          <c:spPr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86000">
                  <a:schemeClr val="accent3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General</c:formatCod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4784.2196999999996</c:v>
                </c:pt>
                <c:pt idx="1">
                  <c:v>6049.9997999999996</c:v>
                </c:pt>
                <c:pt idx="2">
                  <c:v>7258.5694999999996</c:v>
                </c:pt>
                <c:pt idx="3">
                  <c:v>8338.4158000000007</c:v>
                </c:pt>
                <c:pt idx="4">
                  <c:v>10991.5481</c:v>
                </c:pt>
                <c:pt idx="5">
                  <c:v>11005.850700000001</c:v>
                </c:pt>
                <c:pt idx="6">
                  <c:v>9725.768</c:v>
                </c:pt>
                <c:pt idx="7">
                  <c:v>11406.3235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4C-4350-84D8-67ABD290B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overlap val="-16"/>
        <c:axId val="407551112"/>
        <c:axId val="226623494"/>
      </c:barChart>
      <c:catAx>
        <c:axId val="407551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6623494"/>
        <c:crosses val="autoZero"/>
        <c:auto val="1"/>
        <c:lblAlgn val="ctr"/>
        <c:lblOffset val="100"/>
        <c:noMultiLvlLbl val="0"/>
      </c:catAx>
      <c:valAx>
        <c:axId val="226623494"/>
        <c:scaling>
          <c:orientation val="minMax"/>
          <c:max val="3000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7551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6244171591958"/>
          <c:y val="6.6186221182822094E-2"/>
          <c:w val="0.24143845186003099"/>
          <c:h val="8.65405760286076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17fd022-72cd-407f-a119-36b441963fbf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38891467830301E-2"/>
          <c:y val="3.0468248877485601E-2"/>
          <c:w val="0.95914956828521003"/>
          <c:h val="0.92944194996792795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Sheet1!$A$1:$V$1</c:f>
              <c:strCache>
                <c:ptCount val="22"/>
                <c:pt idx="0">
                  <c:v>asum</c:v>
                </c:pt>
                <c:pt idx="1">
                  <c:v>axpy</c:v>
                </c:pt>
                <c:pt idx="2">
                  <c:v>dot</c:v>
                </c:pt>
                <c:pt idx="3">
                  <c:v>max</c:v>
                </c:pt>
                <c:pt idx="4">
                  <c:v>maxindex</c:v>
                </c:pt>
                <c:pt idx="5">
                  <c:v>min</c:v>
                </c:pt>
                <c:pt idx="6">
                  <c:v>minindex</c:v>
                </c:pt>
                <c:pt idx="7">
                  <c:v>nrm 2</c:v>
                </c:pt>
                <c:pt idx="8">
                  <c:v>scal</c:v>
                </c:pt>
                <c:pt idx="9">
                  <c:v>sum</c:v>
                </c:pt>
                <c:pt idx="10">
                  <c:v>swap</c:v>
                </c:pt>
                <c:pt idx="11">
                  <c:v>syrk</c:v>
                </c:pt>
                <c:pt idx="12">
                  <c:v>gbmv</c:v>
                </c:pt>
                <c:pt idx="13">
                  <c:v>gemm</c:v>
                </c:pt>
                <c:pt idx="14">
                  <c:v>ger</c:v>
                </c:pt>
                <c:pt idx="15">
                  <c:v>her</c:v>
                </c:pt>
                <c:pt idx="16">
                  <c:v>herk</c:v>
                </c:pt>
                <c:pt idx="17">
                  <c:v>trmm</c:v>
                </c:pt>
                <c:pt idx="18">
                  <c:v>trmv</c:v>
                </c:pt>
                <c:pt idx="19">
                  <c:v>trsm</c:v>
                </c:pt>
                <c:pt idx="20">
                  <c:v>平均</c:v>
                </c:pt>
              </c:strCache>
            </c:strRef>
          </c:cat>
          <c:val>
            <c:numRef>
              <c:f>Sheet1!$A$2:$V$2</c:f>
              <c:numCache>
                <c:formatCode>0.00_);[Red]\(0.00\)</c:formatCode>
                <c:ptCount val="22"/>
                <c:pt idx="0">
                  <c:v>1.3017212659633499</c:v>
                </c:pt>
                <c:pt idx="1">
                  <c:v>0.247771977818319</c:v>
                </c:pt>
                <c:pt idx="2">
                  <c:v>0.87350386216521902</c:v>
                </c:pt>
                <c:pt idx="3">
                  <c:v>1.5084528980885299</c:v>
                </c:pt>
                <c:pt idx="4">
                  <c:v>1.71452307977466</c:v>
                </c:pt>
                <c:pt idx="5">
                  <c:v>1.7084067529576501</c:v>
                </c:pt>
                <c:pt idx="6">
                  <c:v>1.0838723961196499</c:v>
                </c:pt>
                <c:pt idx="7">
                  <c:v>0.59483631527941305</c:v>
                </c:pt>
                <c:pt idx="8">
                  <c:v>0.747160096405036</c:v>
                </c:pt>
                <c:pt idx="9">
                  <c:v>1.3046428571428601</c:v>
                </c:pt>
                <c:pt idx="10">
                  <c:v>0.32565723070233998</c:v>
                </c:pt>
                <c:pt idx="11">
                  <c:v>0.56000000000000005</c:v>
                </c:pt>
                <c:pt idx="12">
                  <c:v>0.32272897553236002</c:v>
                </c:pt>
                <c:pt idx="13">
                  <c:v>1.54</c:v>
                </c:pt>
                <c:pt idx="14">
                  <c:v>1.5542854344206101</c:v>
                </c:pt>
                <c:pt idx="15">
                  <c:v>2.8624217677042298</c:v>
                </c:pt>
                <c:pt idx="16">
                  <c:v>8.5559365881539007E-2</c:v>
                </c:pt>
                <c:pt idx="17">
                  <c:v>1.1599999999999999</c:v>
                </c:pt>
                <c:pt idx="18">
                  <c:v>7.2139303482586903E-2</c:v>
                </c:pt>
                <c:pt idx="19">
                  <c:v>0.18196040035970701</c:v>
                </c:pt>
                <c:pt idx="20" formatCode="General">
                  <c:v>0.98748219898990297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62-486E-B228-1BF16D398C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2"/>
        <c:axId val="52964339"/>
        <c:axId val="318032478"/>
      </c:barChart>
      <c:catAx>
        <c:axId val="52964339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2.9"/>
          <c:min val="0"/>
        </c:scaling>
        <c:delete val="0"/>
        <c:axPos val="l"/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724114266106198E-2"/>
          <c:y val="4.1516745087185197E-3"/>
          <c:w val="0.90065254492520797"/>
          <c:h val="0.8615732368896930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rgbClr val="008BFF">
                    <a:alpha val="90000"/>
                  </a:srgbClr>
                </a:gs>
                <a:gs pos="100000">
                  <a:srgbClr val="0068BF"/>
                </a:gs>
              </a:gsLst>
              <a:lin ang="2700000" scaled="1"/>
            </a:gra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Sheet1!$B$1:$R$1</c:f>
              <c:strCache>
                <c:ptCount val="17"/>
                <c:pt idx="0">
                  <c:v>Asum</c:v>
                </c:pt>
                <c:pt idx="1">
                  <c:v>Dot</c:v>
                </c:pt>
                <c:pt idx="2">
                  <c:v>Max</c:v>
                </c:pt>
                <c:pt idx="3">
                  <c:v>Maxindex</c:v>
                </c:pt>
                <c:pt idx="4">
                  <c:v>Min</c:v>
                </c:pt>
                <c:pt idx="5">
                  <c:v>Minindex</c:v>
                </c:pt>
                <c:pt idx="6">
                  <c:v>Nrm 2</c:v>
                </c:pt>
                <c:pt idx="7">
                  <c:v>Scal</c:v>
                </c:pt>
                <c:pt idx="8">
                  <c:v>Sum</c:v>
                </c:pt>
                <c:pt idx="9">
                  <c:v>Syrk</c:v>
                </c:pt>
                <c:pt idx="10">
                  <c:v>Gbmv</c:v>
                </c:pt>
                <c:pt idx="11">
                  <c:v>Gemm</c:v>
                </c:pt>
                <c:pt idx="12">
                  <c:v>Ger</c:v>
                </c:pt>
                <c:pt idx="13">
                  <c:v>Her</c:v>
                </c:pt>
                <c:pt idx="14">
                  <c:v>Herk</c:v>
                </c:pt>
                <c:pt idx="15">
                  <c:v>Trmm</c:v>
                </c:pt>
                <c:pt idx="16">
                  <c:v>平均</c:v>
                </c:pt>
              </c:strCache>
            </c:strRef>
          </c:cat>
          <c:val>
            <c:numRef>
              <c:f>Sheet1!$B$2:$R$2</c:f>
              <c:numCache>
                <c:formatCode>General</c:formatCode>
                <c:ptCount val="17"/>
                <c:pt idx="0">
                  <c:v>5.6555269922879202E-2</c:v>
                </c:pt>
                <c:pt idx="1">
                  <c:v>6.3559322033898804E-3</c:v>
                </c:pt>
                <c:pt idx="2">
                  <c:v>4.8170143647530597E-2</c:v>
                </c:pt>
                <c:pt idx="3">
                  <c:v>3.5299987526506302E-2</c:v>
                </c:pt>
                <c:pt idx="4">
                  <c:v>1.1225422953818001E-2</c:v>
                </c:pt>
                <c:pt idx="5">
                  <c:v>5.1307847082494903E-2</c:v>
                </c:pt>
                <c:pt idx="6">
                  <c:v>6.0669556929398599E-2</c:v>
                </c:pt>
                <c:pt idx="7">
                  <c:v>2.0872362298646498E-2</c:v>
                </c:pt>
                <c:pt idx="8">
                  <c:v>5.7193954659949503E-2</c:v>
                </c:pt>
                <c:pt idx="9">
                  <c:v>1.5087533056822601E-2</c:v>
                </c:pt>
                <c:pt idx="10">
                  <c:v>0.32530120481927699</c:v>
                </c:pt>
                <c:pt idx="11">
                  <c:v>0.19237021233363799</c:v>
                </c:pt>
                <c:pt idx="12">
                  <c:v>3.5087719298245598E-2</c:v>
                </c:pt>
                <c:pt idx="13">
                  <c:v>1.71004672897195E-2</c:v>
                </c:pt>
                <c:pt idx="14">
                  <c:v>2.59767940639681E-4</c:v>
                </c:pt>
                <c:pt idx="15">
                  <c:v>0.13604089747230899</c:v>
                </c:pt>
                <c:pt idx="16">
                  <c:v>0.13604089747230899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E-43AF-80D9-2B553304D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2964339"/>
        <c:axId val="318032478"/>
      </c:barChart>
      <c:catAx>
        <c:axId val="52964339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32478"/>
        <c:crosses val="autoZero"/>
        <c:auto val="1"/>
        <c:lblAlgn val="ctr"/>
        <c:lblOffset val="0"/>
        <c:tickLblSkip val="1"/>
        <c:noMultiLvlLbl val="0"/>
      </c:catAx>
      <c:valAx>
        <c:axId val="318032478"/>
        <c:scaling>
          <c:orientation val="minMax"/>
          <c:max val="1.1000000000000001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9643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1f920-bba4-4173-a3da-e34a2cb2abe5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4929211694731E-2"/>
          <c:y val="0.295590828924162"/>
          <c:w val="0.89389293792410196"/>
          <c:h val="0.59626102292769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GP201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1000</c:v>
                </c:pt>
                <c:pt idx="1">
                  <c:v>10000</c:v>
                </c:pt>
                <c:pt idx="2">
                  <c:v>100000</c:v>
                </c:pt>
                <c:pt idx="3">
                  <c:v>1000000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7.7</c:v>
                </c:pt>
                <c:pt idx="2">
                  <c:v>8.5</c:v>
                </c:pt>
                <c:pt idx="3">
                  <c:v>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86-48D2-B7D6-485414736D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MATLAB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1000</c:v>
                </c:pt>
                <c:pt idx="1">
                  <c:v>10000</c:v>
                </c:pt>
                <c:pt idx="2">
                  <c:v>100000</c:v>
                </c:pt>
                <c:pt idx="3">
                  <c:v>1000000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67</c:v>
                </c:pt>
                <c:pt idx="2">
                  <c:v>74</c:v>
                </c:pt>
                <c:pt idx="3">
                  <c:v>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86-48D2-B7D6-485414736D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1000</c:v>
                </c:pt>
                <c:pt idx="1">
                  <c:v>10000</c:v>
                </c:pt>
                <c:pt idx="2">
                  <c:v>100000</c:v>
                </c:pt>
                <c:pt idx="3">
                  <c:v>1000000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9.6000000000000002E-2</c:v>
                </c:pt>
                <c:pt idx="1">
                  <c:v>1.1000000000000001</c:v>
                </c:pt>
                <c:pt idx="2">
                  <c:v>9.6</c:v>
                </c:pt>
                <c:pt idx="3">
                  <c:v>95.7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86-48D2-B7D6-485414736D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"/>
        <c:axId val="76668584"/>
        <c:axId val="36522157"/>
      </c:barChart>
      <c:catAx>
        <c:axId val="76668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36522157"/>
        <c:crosses val="autoZero"/>
        <c:auto val="1"/>
        <c:lblAlgn val="ctr"/>
        <c:lblOffset val="100"/>
        <c:noMultiLvlLbl val="0"/>
      </c:catAx>
      <c:valAx>
        <c:axId val="36522157"/>
        <c:scaling>
          <c:orientation val="minMax"/>
          <c:max val="7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76668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37217438656575"/>
          <c:y val="0.18819609065460899"/>
          <c:w val="0.25330126599365099"/>
          <c:h val="0.11142241943538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267cc8-b096-414d-86fa-940cfee6ded9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67A13431-B643-44F8-BC3B-2D09223277B1}" type="datetimeFigureOut">
              <a:rPr lang="zh-CN" altLang="en-US" smtClean="0"/>
              <a:t>2025/11/3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7DE20454-D5CD-4A7A-B7B1-F022250324E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75000" y="1178334"/>
            <a:ext cx="9450000" cy="2506667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5000" y="3781667"/>
            <a:ext cx="9450000" cy="1738333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79725" indent="0" algn="ctr">
              <a:buNone/>
              <a:defRPr sz="1680"/>
            </a:lvl7pPr>
            <a:lvl8pPr marL="3359785" indent="0" algn="ctr">
              <a:buNone/>
              <a:defRPr sz="1680"/>
            </a:lvl8pPr>
            <a:lvl9pPr marL="3839845" indent="0" algn="ctr">
              <a:buNone/>
              <a:defRPr sz="168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accent1">
            <a:lumMod val="20000"/>
            <a:lumOff val="80000"/>
            <a:alpha val="2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/>
        </p:nvPicPr>
        <p:blipFill rotWithShape="1">
          <a:blip r:embed="rId2">
            <a:alphaModFix amt="19000"/>
          </a:blip>
          <a:srcRect l="5556" r="5556"/>
          <a:stretch>
            <a:fillRect/>
          </a:stretch>
        </p:blipFill>
        <p:spPr>
          <a:xfrm flipV="1">
            <a:off x="0" y="0"/>
            <a:ext cx="12598400" cy="7200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9687" y="1795001"/>
            <a:ext cx="10867500" cy="299500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9687" y="4818334"/>
            <a:ext cx="10867500" cy="1575000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725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5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845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66250" y="1916667"/>
            <a:ext cx="5355000" cy="45683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78750" y="1916667"/>
            <a:ext cx="5355000" cy="45683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891" y="383333"/>
            <a:ext cx="10867500" cy="13916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7891" y="1765001"/>
            <a:ext cx="5330390" cy="865000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79725" indent="0">
              <a:buNone/>
              <a:defRPr sz="1680" b="1"/>
            </a:lvl7pPr>
            <a:lvl8pPr marL="3359785" indent="0">
              <a:buNone/>
              <a:defRPr sz="1680" b="1"/>
            </a:lvl8pPr>
            <a:lvl9pPr marL="3839845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67891" y="2630000"/>
            <a:ext cx="5330390" cy="38683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78750" y="1765001"/>
            <a:ext cx="5356641" cy="865000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79725" indent="0">
              <a:buNone/>
              <a:defRPr sz="1680" b="1"/>
            </a:lvl7pPr>
            <a:lvl8pPr marL="3359785" indent="0">
              <a:buNone/>
              <a:defRPr sz="1680" b="1"/>
            </a:lvl8pPr>
            <a:lvl9pPr marL="3839845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78750" y="2630000"/>
            <a:ext cx="5356641" cy="38683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891" y="480000"/>
            <a:ext cx="4063828" cy="168000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6641" y="1036667"/>
            <a:ext cx="6378750" cy="5116667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7891" y="2160000"/>
            <a:ext cx="4063828" cy="40016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79725" indent="0">
              <a:buNone/>
              <a:defRPr sz="1050"/>
            </a:lvl7pPr>
            <a:lvl8pPr marL="3359785" indent="0">
              <a:buNone/>
              <a:defRPr sz="1050"/>
            </a:lvl8pPr>
            <a:lvl9pPr marL="3839845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891" y="480000"/>
            <a:ext cx="4063828" cy="168000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6641" y="1036667"/>
            <a:ext cx="6378750" cy="5116667"/>
          </a:xfrm>
        </p:spPr>
        <p:txBody>
          <a:bodyPr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79725" indent="0">
              <a:buNone/>
              <a:defRPr sz="2100"/>
            </a:lvl7pPr>
            <a:lvl8pPr marL="3359785" indent="0">
              <a:buNone/>
              <a:defRPr sz="2100"/>
            </a:lvl8pPr>
            <a:lvl9pPr marL="3839845" indent="0">
              <a:buNone/>
              <a:defRPr sz="21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7891" y="2160000"/>
            <a:ext cx="4063828" cy="40016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79725" indent="0">
              <a:buNone/>
              <a:defRPr sz="1050"/>
            </a:lvl7pPr>
            <a:lvl8pPr marL="3359785" indent="0">
              <a:buNone/>
              <a:defRPr sz="1050"/>
            </a:lvl8pPr>
            <a:lvl9pPr marL="3839845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6875" y="383333"/>
            <a:ext cx="2716875" cy="61016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66250" y="383333"/>
            <a:ext cx="7993125" cy="61016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19391"/>
          <a:stretch>
            <a:fillRect/>
          </a:stretch>
        </p:blipFill>
        <p:spPr>
          <a:xfrm>
            <a:off x="0" y="0"/>
            <a:ext cx="12600000" cy="7200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189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  <a:lvl2pPr marL="480060" indent="0">
              <a:buNone/>
              <a:defRPr sz="1890">
                <a:latin typeface="OPPOSans M" panose="00020600040101010101" pitchFamily="18" charset="-122"/>
                <a:ea typeface="OPPOSans M" panose="00020600040101010101" pitchFamily="18" charset="-122"/>
              </a:defRPr>
            </a:lvl2pPr>
            <a:lvl3pPr marL="960120" indent="0">
              <a:buNone/>
              <a:defRPr sz="1890">
                <a:latin typeface="OPPOSans M" panose="00020600040101010101" pitchFamily="18" charset="-122"/>
                <a:ea typeface="OPPOSans M" panose="00020600040101010101" pitchFamily="18" charset="-122"/>
              </a:defRPr>
            </a:lvl3pPr>
            <a:lvl4pPr marL="1440180" indent="0">
              <a:buNone/>
              <a:defRPr sz="1890">
                <a:latin typeface="OPPOSans M" panose="00020600040101010101" pitchFamily="18" charset="-122"/>
                <a:ea typeface="OPPOSans M" panose="00020600040101010101" pitchFamily="18" charset="-122"/>
              </a:defRPr>
            </a:lvl4pPr>
            <a:lvl5pPr marL="1920240" indent="0">
              <a:buNone/>
              <a:defRPr sz="1890">
                <a:latin typeface="OPPOSans M" panose="00020600040101010101" pitchFamily="18" charset="-122"/>
                <a:ea typeface="OPPOSans M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DCDF1-A827-419D-823D-F74E8CDEEE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66250" y="383333"/>
            <a:ext cx="10867500" cy="139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250" y="1916667"/>
            <a:ext cx="10867500" cy="4568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66250" y="6673334"/>
            <a:ext cx="2835000" cy="38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  <a:latin typeface="OPPOSans M" panose="00020600040101010101" pitchFamily="18" charset="-122"/>
              </a:defRPr>
            </a:lvl1pPr>
          </a:lstStyle>
          <a:p>
            <a:fld id="{27A3262B-4C2F-46D1-95B5-71893A274E5A}" type="datetimeFigureOut">
              <a:rPr lang="zh-CN" altLang="en-US" smtClean="0"/>
              <a:t>2025/11/3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73750" y="6673334"/>
            <a:ext cx="4252500" cy="38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  <a:latin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98750" y="6673334"/>
            <a:ext cx="2835000" cy="38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  <a:latin typeface="OPPOSans M" panose="00020600040101010101" pitchFamily="18" charset="-122"/>
              </a:defRPr>
            </a:lvl1pPr>
          </a:lstStyle>
          <a:p>
            <a:fld id="{4E0DCDF1-A827-419D-823D-F74E8CDEEE4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页面-上"/>
          <p:cNvSpPr/>
          <p:nvPr userDrawn="1"/>
        </p:nvSpPr>
        <p:spPr>
          <a:xfrm>
            <a:off x="5971875" y="-24000001"/>
            <a:ext cx="656250" cy="666667"/>
          </a:xfrm>
          <a:prstGeom prst="ellips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  <p:sp>
        <p:nvSpPr>
          <p:cNvPr id="8" name="页面-下"/>
          <p:cNvSpPr/>
          <p:nvPr userDrawn="1"/>
        </p:nvSpPr>
        <p:spPr>
          <a:xfrm>
            <a:off x="5971875" y="24000001"/>
            <a:ext cx="656250" cy="66666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  <p:sp>
        <p:nvSpPr>
          <p:cNvPr id="9" name="页面-上"/>
          <p:cNvSpPr/>
          <p:nvPr userDrawn="1"/>
        </p:nvSpPr>
        <p:spPr>
          <a:xfrm>
            <a:off x="5971875" y="-24000001"/>
            <a:ext cx="656250" cy="666667"/>
          </a:xfrm>
          <a:prstGeom prst="ellips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  <p:sp>
        <p:nvSpPr>
          <p:cNvPr id="10" name="页面-下"/>
          <p:cNvSpPr/>
          <p:nvPr userDrawn="1"/>
        </p:nvSpPr>
        <p:spPr>
          <a:xfrm>
            <a:off x="5971875" y="24000001"/>
            <a:ext cx="656250" cy="66666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OPPOSans M" panose="00020600040101010101" pitchFamily="18" charset="-122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OPPOSans M" panose="00020600040101010101" pitchFamily="18" charset="-122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OPPOSans M" panose="00020600040101010101" pitchFamily="18" charset="-122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OPPOSans M" panose="00020600040101010101" pitchFamily="18" charset="-122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OPPOSans M" panose="00020600040101010101" pitchFamily="18" charset="-122"/>
          <a:ea typeface="+mn-ea"/>
          <a:cs typeface="+mn-cs"/>
        </a:defRPr>
      </a:lvl5pPr>
      <a:lvl6pPr marL="263969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5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875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72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845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image" Target="../media/image3.png"/><Relationship Id="rId39" Type="http://schemas.openxmlformats.org/officeDocument/2006/relationships/image" Target="../media/image15.png"/><Relationship Id="rId21" Type="http://schemas.openxmlformats.org/officeDocument/2006/relationships/tags" Target="../tags/tag22.xml"/><Relationship Id="rId34" Type="http://schemas.openxmlformats.org/officeDocument/2006/relationships/image" Target="../media/image10.png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image" Target="../media/image5.png"/><Relationship Id="rId41" Type="http://schemas.openxmlformats.org/officeDocument/2006/relationships/image" Target="../media/image1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8.png"/><Relationship Id="rId37" Type="http://schemas.openxmlformats.org/officeDocument/2006/relationships/image" Target="../media/image13.png"/><Relationship Id="rId40" Type="http://schemas.openxmlformats.org/officeDocument/2006/relationships/image" Target="../media/image16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image" Target="../media/image4.png"/><Relationship Id="rId36" Type="http://schemas.openxmlformats.org/officeDocument/2006/relationships/image" Target="../media/image12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7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microsoft.com/office/2007/relationships/hdphoto" Target="../media/hdphoto1.wdp"/><Relationship Id="rId30" Type="http://schemas.openxmlformats.org/officeDocument/2006/relationships/image" Target="../media/image6.png"/><Relationship Id="rId35" Type="http://schemas.openxmlformats.org/officeDocument/2006/relationships/image" Target="../media/image11.png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.xml"/><Relationship Id="rId33" Type="http://schemas.openxmlformats.org/officeDocument/2006/relationships/image" Target="../media/image9.png"/><Relationship Id="rId38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image" Target="../media/image18.png"/><Relationship Id="rId2" Type="http://schemas.openxmlformats.org/officeDocument/2006/relationships/tags" Target="../tags/tag27.xml"/><Relationship Id="rId16" Type="http://schemas.openxmlformats.org/officeDocument/2006/relationships/chart" Target="../charts/chart1.xml"/><Relationship Id="rId20" Type="http://schemas.openxmlformats.org/officeDocument/2006/relationships/image" Target="../media/image20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image" Target="../media/image11.png"/><Relationship Id="rId10" Type="http://schemas.openxmlformats.org/officeDocument/2006/relationships/tags" Target="../tags/tag35.xml"/><Relationship Id="rId19" Type="http://schemas.openxmlformats.org/officeDocument/2006/relationships/image" Target="../media/image19.pn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image" Target="../media/image23.png"/><Relationship Id="rId3" Type="http://schemas.openxmlformats.org/officeDocument/2006/relationships/tags" Target="../tags/tag40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image" Target="../media/image22.svg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image" Target="../media/image21.png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image" Target="../media/image11.png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image" Target="../media/image14.png"/><Relationship Id="rId27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25.jpeg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image" Target="../media/image24.jpeg"/><Relationship Id="rId2" Type="http://schemas.openxmlformats.org/officeDocument/2006/relationships/tags" Target="../tags/tag58.xml"/><Relationship Id="rId16" Type="http://schemas.openxmlformats.org/officeDocument/2006/relationships/image" Target="../media/image11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image" Target="../media/image14.png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11.png"/><Relationship Id="rId26" Type="http://schemas.openxmlformats.org/officeDocument/2006/relationships/image" Target="../media/image37.png"/><Relationship Id="rId21" Type="http://schemas.openxmlformats.org/officeDocument/2006/relationships/image" Target="../media/image33.png"/><Relationship Id="rId34" Type="http://schemas.openxmlformats.org/officeDocument/2006/relationships/image" Target="../media/image44.png"/><Relationship Id="rId7" Type="http://schemas.openxmlformats.org/officeDocument/2006/relationships/tags" Target="../tags/tag75.xml"/><Relationship Id="rId12" Type="http://schemas.openxmlformats.org/officeDocument/2006/relationships/image" Target="../media/image26.png"/><Relationship Id="rId17" Type="http://schemas.openxmlformats.org/officeDocument/2006/relationships/image" Target="../media/image14.png"/><Relationship Id="rId25" Type="http://schemas.openxmlformats.org/officeDocument/2006/relationships/image" Target="../media/image36.png"/><Relationship Id="rId33" Type="http://schemas.openxmlformats.org/officeDocument/2006/relationships/image" Target="../media/image43.jpeg"/><Relationship Id="rId38" Type="http://schemas.openxmlformats.org/officeDocument/2006/relationships/image" Target="../media/image47.jpeg"/><Relationship Id="rId2" Type="http://schemas.openxmlformats.org/officeDocument/2006/relationships/tags" Target="../tags/tag70.xml"/><Relationship Id="rId16" Type="http://schemas.openxmlformats.org/officeDocument/2006/relationships/image" Target="../media/image30.svg"/><Relationship Id="rId20" Type="http://schemas.openxmlformats.org/officeDocument/2006/relationships/image" Target="../media/image32.png"/><Relationship Id="rId29" Type="http://schemas.openxmlformats.org/officeDocument/2006/relationships/image" Target="../media/image39.pn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notesSlide" Target="../notesSlides/notesSlide3.xml"/><Relationship Id="rId24" Type="http://schemas.microsoft.com/office/2007/relationships/hdphoto" Target="../media/hdphoto2.wdp"/><Relationship Id="rId32" Type="http://schemas.openxmlformats.org/officeDocument/2006/relationships/image" Target="../media/image42.jpeg"/><Relationship Id="rId37" Type="http://schemas.openxmlformats.org/officeDocument/2006/relationships/image" Target="../media/image46.jpeg"/><Relationship Id="rId5" Type="http://schemas.openxmlformats.org/officeDocument/2006/relationships/tags" Target="../tags/tag73.xml"/><Relationship Id="rId15" Type="http://schemas.openxmlformats.org/officeDocument/2006/relationships/image" Target="../media/image29.svg"/><Relationship Id="rId23" Type="http://schemas.openxmlformats.org/officeDocument/2006/relationships/image" Target="../media/image35.png"/><Relationship Id="rId28" Type="http://schemas.openxmlformats.org/officeDocument/2006/relationships/image" Target="../media/image38.png"/><Relationship Id="rId36" Type="http://schemas.openxmlformats.org/officeDocument/2006/relationships/image" Target="../media/image4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1.png"/><Relationship Id="rId31" Type="http://schemas.openxmlformats.org/officeDocument/2006/relationships/image" Target="../media/image41.tiff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image" Target="../media/image28.svg"/><Relationship Id="rId22" Type="http://schemas.openxmlformats.org/officeDocument/2006/relationships/image" Target="../media/image34.jpeg"/><Relationship Id="rId27" Type="http://schemas.microsoft.com/office/2007/relationships/hdphoto" Target="../media/hdphoto3.wdp"/><Relationship Id="rId30" Type="http://schemas.openxmlformats.org/officeDocument/2006/relationships/image" Target="../media/image40.png"/><Relationship Id="rId35" Type="http://schemas.microsoft.com/office/2007/relationships/hdphoto" Target="../media/hdphoto4.wdp"/><Relationship Id="rId8" Type="http://schemas.openxmlformats.org/officeDocument/2006/relationships/tags" Target="../tags/tag76.xml"/><Relationship Id="rId3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image" Target="../media/image11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image" Target="../media/image14.png"/><Relationship Id="rId2" Type="http://schemas.openxmlformats.org/officeDocument/2006/relationships/tags" Target="../tags/tag79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4.bin"/><Relationship Id="rId21" Type="http://schemas.openxmlformats.org/officeDocument/2006/relationships/image" Target="../media/image48.wmf"/><Relationship Id="rId42" Type="http://schemas.openxmlformats.org/officeDocument/2006/relationships/oleObject" Target="../embeddings/oleObject12.bin"/><Relationship Id="rId47" Type="http://schemas.openxmlformats.org/officeDocument/2006/relationships/image" Target="../media/image61.wmf"/><Relationship Id="rId63" Type="http://schemas.openxmlformats.org/officeDocument/2006/relationships/image" Target="../media/image69.wmf"/><Relationship Id="rId68" Type="http://schemas.openxmlformats.org/officeDocument/2006/relationships/chart" Target="../charts/chart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29" Type="http://schemas.openxmlformats.org/officeDocument/2006/relationships/image" Target="../media/image52.wmf"/><Relationship Id="rId11" Type="http://schemas.openxmlformats.org/officeDocument/2006/relationships/tags" Target="../tags/tag102.xml"/><Relationship Id="rId24" Type="http://schemas.openxmlformats.org/officeDocument/2006/relationships/oleObject" Target="../embeddings/oleObject3.bin"/><Relationship Id="rId32" Type="http://schemas.openxmlformats.org/officeDocument/2006/relationships/oleObject" Target="../embeddings/oleObject7.bin"/><Relationship Id="rId37" Type="http://schemas.openxmlformats.org/officeDocument/2006/relationships/image" Target="../media/image56.wmf"/><Relationship Id="rId40" Type="http://schemas.openxmlformats.org/officeDocument/2006/relationships/oleObject" Target="../embeddings/oleObject11.bin"/><Relationship Id="rId45" Type="http://schemas.openxmlformats.org/officeDocument/2006/relationships/image" Target="../media/image60.wmf"/><Relationship Id="rId53" Type="http://schemas.openxmlformats.org/officeDocument/2006/relationships/image" Target="../media/image64.wmf"/><Relationship Id="rId58" Type="http://schemas.openxmlformats.org/officeDocument/2006/relationships/oleObject" Target="../embeddings/oleObject20.bin"/><Relationship Id="rId66" Type="http://schemas.openxmlformats.org/officeDocument/2006/relationships/oleObject" Target="../embeddings/oleObject23.bin"/><Relationship Id="rId5" Type="http://schemas.openxmlformats.org/officeDocument/2006/relationships/tags" Target="../tags/tag96.xml"/><Relationship Id="rId61" Type="http://schemas.openxmlformats.org/officeDocument/2006/relationships/image" Target="../media/image68.wmf"/><Relationship Id="rId19" Type="http://schemas.openxmlformats.org/officeDocument/2006/relationships/notesSlide" Target="../notesSlides/notesSlide5.xml"/><Relationship Id="rId14" Type="http://schemas.openxmlformats.org/officeDocument/2006/relationships/tags" Target="../tags/tag105.xml"/><Relationship Id="rId22" Type="http://schemas.openxmlformats.org/officeDocument/2006/relationships/oleObject" Target="../embeddings/oleObject2.bin"/><Relationship Id="rId27" Type="http://schemas.openxmlformats.org/officeDocument/2006/relationships/image" Target="../media/image51.wmf"/><Relationship Id="rId30" Type="http://schemas.openxmlformats.org/officeDocument/2006/relationships/oleObject" Target="../embeddings/oleObject6.bin"/><Relationship Id="rId35" Type="http://schemas.openxmlformats.org/officeDocument/2006/relationships/image" Target="../media/image55.wmf"/><Relationship Id="rId43" Type="http://schemas.openxmlformats.org/officeDocument/2006/relationships/image" Target="../media/image59.wmf"/><Relationship Id="rId48" Type="http://schemas.openxmlformats.org/officeDocument/2006/relationships/oleObject" Target="../embeddings/oleObject15.bin"/><Relationship Id="rId56" Type="http://schemas.openxmlformats.org/officeDocument/2006/relationships/oleObject" Target="../embeddings/oleObject19.bin"/><Relationship Id="rId64" Type="http://schemas.openxmlformats.org/officeDocument/2006/relationships/image" Target="../media/image70.png"/><Relationship Id="rId69" Type="http://schemas.openxmlformats.org/officeDocument/2006/relationships/image" Target="../media/image14.png"/><Relationship Id="rId8" Type="http://schemas.openxmlformats.org/officeDocument/2006/relationships/tags" Target="../tags/tag99.xml"/><Relationship Id="rId51" Type="http://schemas.openxmlformats.org/officeDocument/2006/relationships/image" Target="../media/image63.wmf"/><Relationship Id="rId3" Type="http://schemas.openxmlformats.org/officeDocument/2006/relationships/tags" Target="../tags/tag94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5" Type="http://schemas.openxmlformats.org/officeDocument/2006/relationships/image" Target="../media/image50.wmf"/><Relationship Id="rId33" Type="http://schemas.openxmlformats.org/officeDocument/2006/relationships/image" Target="../media/image54.wmf"/><Relationship Id="rId38" Type="http://schemas.openxmlformats.org/officeDocument/2006/relationships/oleObject" Target="../embeddings/oleObject10.bin"/><Relationship Id="rId46" Type="http://schemas.openxmlformats.org/officeDocument/2006/relationships/oleObject" Target="../embeddings/oleObject14.bin"/><Relationship Id="rId59" Type="http://schemas.openxmlformats.org/officeDocument/2006/relationships/image" Target="../media/image67.wmf"/><Relationship Id="rId67" Type="http://schemas.openxmlformats.org/officeDocument/2006/relationships/image" Target="../media/image72.wmf"/><Relationship Id="rId20" Type="http://schemas.openxmlformats.org/officeDocument/2006/relationships/oleObject" Target="../embeddings/oleObject1.bin"/><Relationship Id="rId41" Type="http://schemas.openxmlformats.org/officeDocument/2006/relationships/image" Target="../media/image58.wmf"/><Relationship Id="rId54" Type="http://schemas.openxmlformats.org/officeDocument/2006/relationships/oleObject" Target="../embeddings/oleObject18.bin"/><Relationship Id="rId62" Type="http://schemas.openxmlformats.org/officeDocument/2006/relationships/oleObject" Target="../embeddings/oleObject22.bin"/><Relationship Id="rId70" Type="http://schemas.openxmlformats.org/officeDocument/2006/relationships/image" Target="../media/image11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5" Type="http://schemas.openxmlformats.org/officeDocument/2006/relationships/tags" Target="../tags/tag106.xml"/><Relationship Id="rId23" Type="http://schemas.openxmlformats.org/officeDocument/2006/relationships/image" Target="../media/image49.wmf"/><Relationship Id="rId28" Type="http://schemas.openxmlformats.org/officeDocument/2006/relationships/oleObject" Target="../embeddings/oleObject5.bin"/><Relationship Id="rId36" Type="http://schemas.openxmlformats.org/officeDocument/2006/relationships/oleObject" Target="../embeddings/oleObject9.bin"/><Relationship Id="rId49" Type="http://schemas.openxmlformats.org/officeDocument/2006/relationships/image" Target="../media/image62.wmf"/><Relationship Id="rId57" Type="http://schemas.openxmlformats.org/officeDocument/2006/relationships/image" Target="../media/image66.wmf"/><Relationship Id="rId10" Type="http://schemas.openxmlformats.org/officeDocument/2006/relationships/tags" Target="../tags/tag101.xml"/><Relationship Id="rId31" Type="http://schemas.openxmlformats.org/officeDocument/2006/relationships/image" Target="../media/image53.wmf"/><Relationship Id="rId44" Type="http://schemas.openxmlformats.org/officeDocument/2006/relationships/oleObject" Target="../embeddings/oleObject13.bin"/><Relationship Id="rId52" Type="http://schemas.openxmlformats.org/officeDocument/2006/relationships/oleObject" Target="../embeddings/oleObject17.bin"/><Relationship Id="rId60" Type="http://schemas.openxmlformats.org/officeDocument/2006/relationships/oleObject" Target="../embeddings/oleObject21.bin"/><Relationship Id="rId65" Type="http://schemas.openxmlformats.org/officeDocument/2006/relationships/image" Target="../media/image71.emf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3" Type="http://schemas.openxmlformats.org/officeDocument/2006/relationships/tags" Target="../tags/tag104.xml"/><Relationship Id="rId18" Type="http://schemas.openxmlformats.org/officeDocument/2006/relationships/slideLayout" Target="../slideLayouts/slideLayout2.xml"/><Relationship Id="rId39" Type="http://schemas.openxmlformats.org/officeDocument/2006/relationships/image" Target="../media/image57.wmf"/><Relationship Id="rId34" Type="http://schemas.openxmlformats.org/officeDocument/2006/relationships/oleObject" Target="../embeddings/oleObject8.bin"/><Relationship Id="rId50" Type="http://schemas.openxmlformats.org/officeDocument/2006/relationships/oleObject" Target="../embeddings/oleObject16.bin"/><Relationship Id="rId55" Type="http://schemas.openxmlformats.org/officeDocument/2006/relationships/image" Target="../media/image6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image" Target="../media/image14.png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chart" Target="../charts/chart5.xml"/><Relationship Id="rId2" Type="http://schemas.openxmlformats.org/officeDocument/2006/relationships/tags" Target="../tags/tag110.xml"/><Relationship Id="rId16" Type="http://schemas.openxmlformats.org/officeDocument/2006/relationships/notesSlide" Target="../notesSlides/notesSlide6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18.xml"/><Relationship Id="rId19" Type="http://schemas.openxmlformats.org/officeDocument/2006/relationships/image" Target="../media/image11.png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17" Type="http://schemas.openxmlformats.org/officeDocument/2006/relationships/image" Target="../media/image11.png"/><Relationship Id="rId2" Type="http://schemas.openxmlformats.org/officeDocument/2006/relationships/tags" Target="../tags/tag124.xml"/><Relationship Id="rId16" Type="http://schemas.openxmlformats.org/officeDocument/2006/relationships/image" Target="../media/image14.png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74.sv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image" Target="../media/image75.wmf"/><Relationship Id="rId26" Type="http://schemas.openxmlformats.org/officeDocument/2006/relationships/image" Target="../media/image79.wmf"/><Relationship Id="rId3" Type="http://schemas.openxmlformats.org/officeDocument/2006/relationships/tags" Target="../tags/tag137.xml"/><Relationship Id="rId21" Type="http://schemas.openxmlformats.org/officeDocument/2006/relationships/oleObject" Target="../embeddings/oleObject26.bin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oleObject" Target="../embeddings/oleObject24.bin"/><Relationship Id="rId25" Type="http://schemas.openxmlformats.org/officeDocument/2006/relationships/oleObject" Target="../embeddings/oleObject28.bin"/><Relationship Id="rId2" Type="http://schemas.openxmlformats.org/officeDocument/2006/relationships/tags" Target="../tags/tag136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76.wmf"/><Relationship Id="rId29" Type="http://schemas.openxmlformats.org/officeDocument/2006/relationships/oleObject" Target="../embeddings/oleObject30.bin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78.wmf"/><Relationship Id="rId32" Type="http://schemas.openxmlformats.org/officeDocument/2006/relationships/image" Target="../media/image11.png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oleObject" Target="../embeddings/oleObject27.bin"/><Relationship Id="rId28" Type="http://schemas.openxmlformats.org/officeDocument/2006/relationships/image" Target="../media/image80.wmf"/><Relationship Id="rId10" Type="http://schemas.openxmlformats.org/officeDocument/2006/relationships/tags" Target="../tags/tag144.xml"/><Relationship Id="rId19" Type="http://schemas.openxmlformats.org/officeDocument/2006/relationships/oleObject" Target="../embeddings/oleObject25.bin"/><Relationship Id="rId31" Type="http://schemas.openxmlformats.org/officeDocument/2006/relationships/image" Target="../media/image14.pn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image" Target="../media/image77.wmf"/><Relationship Id="rId27" Type="http://schemas.openxmlformats.org/officeDocument/2006/relationships/oleObject" Target="../embeddings/oleObject29.bin"/><Relationship Id="rId30" Type="http://schemas.openxmlformats.org/officeDocument/2006/relationships/image" Target="../media/image8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image" Target="../media/image11.png"/><Relationship Id="rId10" Type="http://schemas.openxmlformats.org/officeDocument/2006/relationships/tags" Target="../tags/tag159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18" Type="http://schemas.openxmlformats.org/officeDocument/2006/relationships/image" Target="../media/image75.wmf"/><Relationship Id="rId3" Type="http://schemas.openxmlformats.org/officeDocument/2006/relationships/tags" Target="../tags/tag164.xml"/><Relationship Id="rId21" Type="http://schemas.openxmlformats.org/officeDocument/2006/relationships/image" Target="../media/image84.emf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oleObject" Target="../embeddings/oleObject31.bin"/><Relationship Id="rId2" Type="http://schemas.openxmlformats.org/officeDocument/2006/relationships/tags" Target="../tags/tag163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83.emf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24" Type="http://schemas.openxmlformats.org/officeDocument/2006/relationships/chart" Target="../charts/chart6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23" Type="http://schemas.openxmlformats.org/officeDocument/2006/relationships/image" Target="../media/image11.png"/><Relationship Id="rId10" Type="http://schemas.openxmlformats.org/officeDocument/2006/relationships/tags" Target="../tags/tag171.xml"/><Relationship Id="rId19" Type="http://schemas.openxmlformats.org/officeDocument/2006/relationships/image" Target="../media/image82.emf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12" Type="http://schemas.openxmlformats.org/officeDocument/2006/relationships/tags" Target="../tags/tag188.xml"/><Relationship Id="rId2" Type="http://schemas.openxmlformats.org/officeDocument/2006/relationships/tags" Target="../tags/tag178.xml"/><Relationship Id="rId16" Type="http://schemas.openxmlformats.org/officeDocument/2006/relationships/image" Target="../media/image11.png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5" Type="http://schemas.openxmlformats.org/officeDocument/2006/relationships/tags" Target="../tags/tag181.xml"/><Relationship Id="rId15" Type="http://schemas.openxmlformats.org/officeDocument/2006/relationships/image" Target="../media/image14.png"/><Relationship Id="rId10" Type="http://schemas.openxmlformats.org/officeDocument/2006/relationships/tags" Target="../tags/tag186.xml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9" Type="http://schemas.openxmlformats.org/officeDocument/2006/relationships/image" Target="../media/image15.png"/><Relationship Id="rId21" Type="http://schemas.openxmlformats.org/officeDocument/2006/relationships/tags" Target="../tags/tag209.xml"/><Relationship Id="rId34" Type="http://schemas.openxmlformats.org/officeDocument/2006/relationships/image" Target="../media/image86.png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33" Type="http://schemas.openxmlformats.org/officeDocument/2006/relationships/image" Target="../media/image11.png"/><Relationship Id="rId38" Type="http://schemas.openxmlformats.org/officeDocument/2006/relationships/image" Target="../media/image90.png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tags" Target="../tags/tag208.xml"/><Relationship Id="rId29" Type="http://schemas.openxmlformats.org/officeDocument/2006/relationships/tags" Target="../tags/tag217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32" Type="http://schemas.openxmlformats.org/officeDocument/2006/relationships/image" Target="../media/image14.png"/><Relationship Id="rId37" Type="http://schemas.openxmlformats.org/officeDocument/2006/relationships/image" Target="../media/image89.png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tags" Target="../tags/tag216.xml"/><Relationship Id="rId36" Type="http://schemas.openxmlformats.org/officeDocument/2006/relationships/image" Target="../media/image88.png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31" Type="http://schemas.openxmlformats.org/officeDocument/2006/relationships/image" Target="../media/image85.png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tags" Target="../tags/tag215.xml"/><Relationship Id="rId30" Type="http://schemas.openxmlformats.org/officeDocument/2006/relationships/slideLayout" Target="../slideLayouts/slideLayout2.xml"/><Relationship Id="rId35" Type="http://schemas.openxmlformats.org/officeDocument/2006/relationships/image" Target="../media/image87.png"/><Relationship Id="rId8" Type="http://schemas.openxmlformats.org/officeDocument/2006/relationships/tags" Target="../tags/tag196.xml"/><Relationship Id="rId3" Type="http://schemas.openxmlformats.org/officeDocument/2006/relationships/tags" Target="../tags/tag19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image" Target="../media/image7.png"/><Relationship Id="rId18" Type="http://schemas.openxmlformats.org/officeDocument/2006/relationships/image" Target="../media/image11.png"/><Relationship Id="rId3" Type="http://schemas.openxmlformats.org/officeDocument/2006/relationships/tags" Target="../tags/tag220.xml"/><Relationship Id="rId21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6.png"/><Relationship Id="rId17" Type="http://schemas.openxmlformats.org/officeDocument/2006/relationships/image" Target="../media/image13.png"/><Relationship Id="rId2" Type="http://schemas.openxmlformats.org/officeDocument/2006/relationships/tags" Target="../tags/tag219.xml"/><Relationship Id="rId16" Type="http://schemas.openxmlformats.org/officeDocument/2006/relationships/image" Target="../media/image12.png"/><Relationship Id="rId20" Type="http://schemas.openxmlformats.org/officeDocument/2006/relationships/image" Target="../media/image8.png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image" Target="../media/image5.png"/><Relationship Id="rId5" Type="http://schemas.openxmlformats.org/officeDocument/2006/relationships/tags" Target="../tags/tag222.xml"/><Relationship Id="rId15" Type="http://schemas.openxmlformats.org/officeDocument/2006/relationships/image" Target="../media/image10.png"/><Relationship Id="rId23" Type="http://schemas.openxmlformats.org/officeDocument/2006/relationships/image" Target="../media/image17.png"/><Relationship Id="rId10" Type="http://schemas.microsoft.com/office/2007/relationships/hdphoto" Target="../media/hdphoto1.wdp"/><Relationship Id="rId19" Type="http://schemas.openxmlformats.org/officeDocument/2006/relationships/image" Target="../media/image14.png"/><Relationship Id="rId4" Type="http://schemas.openxmlformats.org/officeDocument/2006/relationships/tags" Target="../tags/tag221.xml"/><Relationship Id="rId9" Type="http://schemas.openxmlformats.org/officeDocument/2006/relationships/image" Target="../media/image3.png"/><Relationship Id="rId14" Type="http://schemas.openxmlformats.org/officeDocument/2006/relationships/image" Target="../media/image9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-67945" y="-597535"/>
            <a:ext cx="12667615" cy="7798463"/>
            <a:chOff x="265" y="-674"/>
            <a:chExt cx="19257" cy="11765"/>
          </a:xfrm>
        </p:grpSpPr>
        <p:sp>
          <p:nvSpPr>
            <p:cNvPr id="61" name="任意多边形: 形状 60"/>
            <p:cNvSpPr/>
            <p:nvPr/>
          </p:nvSpPr>
          <p:spPr>
            <a:xfrm>
              <a:off x="321" y="269"/>
              <a:ext cx="19200" cy="108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OPPOSans M" panose="00020600040101010101" pitchFamily="18" charset="-122"/>
              </a:endParaRPr>
            </a:p>
          </p:txBody>
        </p:sp>
        <p:pic>
          <p:nvPicPr>
            <p:cNvPr id="1252" name="图片 1251"/>
            <p:cNvPicPr>
              <a:picLocks noChangeAspect="1"/>
            </p:cNvPicPr>
            <p:nvPr/>
          </p:nvPicPr>
          <p:blipFill>
            <a:blip r:embed="rId26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10554" t="23" r="1538" b="23"/>
            <a:stretch>
              <a:fillRect/>
            </a:stretch>
          </p:blipFill>
          <p:spPr>
            <a:xfrm rot="16200000" flipH="1">
              <a:off x="4502" y="-3950"/>
              <a:ext cx="10839" cy="19200"/>
            </a:xfrm>
            <a:custGeom>
              <a:avLst/>
              <a:gdLst>
                <a:gd name="connsiteX0" fmla="*/ 0 w 6220053"/>
                <a:gd name="connsiteY0" fmla="*/ 12192000 h 12192000"/>
                <a:gd name="connsiteX1" fmla="*/ 0 w 6220053"/>
                <a:gd name="connsiteY1" fmla="*/ 0 h 12192000"/>
                <a:gd name="connsiteX2" fmla="*/ 6220053 w 6220053"/>
                <a:gd name="connsiteY2" fmla="*/ 0 h 12192000"/>
                <a:gd name="connsiteX3" fmla="*/ 6220053 w 6220053"/>
                <a:gd name="connsiteY3" fmla="*/ 12192000 h 121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0053" h="12192000">
                  <a:moveTo>
                    <a:pt x="0" y="12192000"/>
                  </a:moveTo>
                  <a:lnTo>
                    <a:pt x="0" y="0"/>
                  </a:lnTo>
                  <a:lnTo>
                    <a:pt x="6220053" y="0"/>
                  </a:lnTo>
                  <a:lnTo>
                    <a:pt x="6220053" y="12192000"/>
                  </a:lnTo>
                  <a:close/>
                </a:path>
              </a:pathLst>
            </a:custGeom>
          </p:spPr>
        </p:pic>
        <p:pic>
          <p:nvPicPr>
            <p:cNvPr id="38" name="Picture 4" descr="查看图片"/>
            <p:cNvPicPr>
              <a:picLocks noChangeAspect="1" noChangeArrowheads="1"/>
            </p:cNvPicPr>
            <p:nvPr/>
          </p:nvPicPr>
          <p:blipFill>
            <a:blip r:embed="rId28">
              <a:alphaModFix amt="50000"/>
            </a:blip>
            <a:srcRect/>
            <a:stretch>
              <a:fillRect/>
            </a:stretch>
          </p:blipFill>
          <p:spPr bwMode="auto">
            <a:xfrm>
              <a:off x="323" y="290"/>
              <a:ext cx="5707" cy="5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4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844" y="1663"/>
              <a:ext cx="7676" cy="9407"/>
            </a:xfrm>
            <a:prstGeom prst="rect">
              <a:avLst/>
            </a:prstGeom>
          </p:spPr>
        </p:pic>
        <p:pic>
          <p:nvPicPr>
            <p:cNvPr id="18" name="Picture 14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737" y="1663"/>
              <a:ext cx="7676" cy="9407"/>
            </a:xfrm>
            <a:prstGeom prst="rect">
              <a:avLst/>
            </a:prstGeom>
          </p:spPr>
        </p:pic>
        <p:pic>
          <p:nvPicPr>
            <p:cNvPr id="1125" name="Picture 1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5752" y="7928"/>
              <a:ext cx="3770" cy="3142"/>
            </a:xfrm>
            <a:prstGeom prst="rect">
              <a:avLst/>
            </a:prstGeom>
          </p:spPr>
        </p:pic>
        <p:sp>
          <p:nvSpPr>
            <p:cNvPr id="1254" name="矩形 1253"/>
            <p:cNvSpPr/>
            <p:nvPr/>
          </p:nvSpPr>
          <p:spPr>
            <a:xfrm>
              <a:off x="321" y="269"/>
              <a:ext cx="14127" cy="10800"/>
            </a:xfrm>
            <a:prstGeom prst="rect">
              <a:avLst/>
            </a:prstGeom>
            <a:gradFill flip="none" rotWithShape="1">
              <a:gsLst>
                <a:gs pos="50000">
                  <a:srgbClr val="FFFFFF">
                    <a:alpha val="70000"/>
                  </a:srgbClr>
                </a:gs>
                <a:gs pos="0">
                  <a:schemeClr val="bg1">
                    <a:alpha val="73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OPPOSans M" panose="00020600040101010101" pitchFamily="18" charset="-122"/>
              </a:endParaRPr>
            </a:p>
          </p:txBody>
        </p:sp>
        <p:pic>
          <p:nvPicPr>
            <p:cNvPr id="127" name="图片 126" descr="背景图案&#10;&#10;描述已自动生成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1" cstate="print"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" b="83188"/>
            <a:stretch>
              <a:fillRect/>
            </a:stretch>
          </p:blipFill>
          <p:spPr>
            <a:xfrm>
              <a:off x="265" y="9720"/>
              <a:ext cx="13380" cy="1342"/>
            </a:xfrm>
            <a:custGeom>
              <a:avLst/>
              <a:gdLst>
                <a:gd name="connsiteX0" fmla="*/ 0 w 12192000"/>
                <a:gd name="connsiteY0" fmla="*/ 0 h 1525933"/>
                <a:gd name="connsiteX1" fmla="*/ 12192000 w 12192000"/>
                <a:gd name="connsiteY1" fmla="*/ 0 h 1525933"/>
                <a:gd name="connsiteX2" fmla="*/ 12192000 w 12192000"/>
                <a:gd name="connsiteY2" fmla="*/ 1525933 h 1525933"/>
                <a:gd name="connsiteX3" fmla="*/ 0 w 12192000"/>
                <a:gd name="connsiteY3" fmla="*/ 1525933 h 1525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1525933">
                  <a:moveTo>
                    <a:pt x="0" y="0"/>
                  </a:moveTo>
                  <a:lnTo>
                    <a:pt x="12192000" y="0"/>
                  </a:lnTo>
                  <a:lnTo>
                    <a:pt x="12192000" y="1525933"/>
                  </a:lnTo>
                  <a:lnTo>
                    <a:pt x="0" y="1525933"/>
                  </a:lnTo>
                  <a:close/>
                </a:path>
              </a:pathLst>
            </a:custGeom>
            <a:noFill/>
          </p:spPr>
        </p:pic>
        <p:pic>
          <p:nvPicPr>
            <p:cNvPr id="35" name="图片 34" descr="背景图案&#10;&#10;描述已自动生成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31" cstate="print"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" b="83188"/>
            <a:stretch>
              <a:fillRect/>
            </a:stretch>
          </p:blipFill>
          <p:spPr>
            <a:xfrm>
              <a:off x="265" y="-88"/>
              <a:ext cx="13380" cy="1342"/>
            </a:xfrm>
            <a:custGeom>
              <a:avLst/>
              <a:gdLst>
                <a:gd name="connsiteX0" fmla="*/ 0 w 12192000"/>
                <a:gd name="connsiteY0" fmla="*/ 0 h 1525933"/>
                <a:gd name="connsiteX1" fmla="*/ 12192000 w 12192000"/>
                <a:gd name="connsiteY1" fmla="*/ 0 h 1525933"/>
                <a:gd name="connsiteX2" fmla="*/ 12192000 w 12192000"/>
                <a:gd name="connsiteY2" fmla="*/ 1525933 h 1525933"/>
                <a:gd name="connsiteX3" fmla="*/ 0 w 12192000"/>
                <a:gd name="connsiteY3" fmla="*/ 1525933 h 1525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1525933">
                  <a:moveTo>
                    <a:pt x="0" y="0"/>
                  </a:moveTo>
                  <a:lnTo>
                    <a:pt x="12192000" y="0"/>
                  </a:lnTo>
                  <a:lnTo>
                    <a:pt x="12192000" y="1525933"/>
                  </a:lnTo>
                  <a:lnTo>
                    <a:pt x="0" y="1525933"/>
                  </a:lnTo>
                  <a:close/>
                </a:path>
              </a:pathLst>
            </a:custGeom>
            <a:noFill/>
          </p:spPr>
        </p:pic>
        <p:pic>
          <p:nvPicPr>
            <p:cNvPr id="51" name="Picture 6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05" y="8223"/>
              <a:ext cx="12097" cy="2868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 rot="5400000">
              <a:off x="5807" y="1577"/>
              <a:ext cx="968" cy="10481"/>
            </a:xfrm>
            <a:prstGeom prst="rect">
              <a:avLst/>
            </a:prstGeom>
            <a:gradFill flip="none" rotWithShape="1">
              <a:gsLst>
                <a:gs pos="50000">
                  <a:schemeClr val="accent2">
                    <a:lumMod val="90000"/>
                  </a:schemeClr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  <a:tileRect/>
            </a:gradFill>
            <a:ln w="34925" cap="flat" cmpd="sng" algn="ctr">
              <a:gradFill>
                <a:gsLst>
                  <a:gs pos="50000">
                    <a:srgbClr val="FFFFFF"/>
                  </a:gs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712" y="6417"/>
              <a:ext cx="8969" cy="7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 w="1905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面向凌久</a:t>
              </a:r>
              <a:r>
                <a:rPr kumimoji="0" lang="en-US" altLang="zh-CN" sz="2800" b="0" i="0" u="none" strike="noStrike" kern="0" cap="none" spc="0" normalizeH="0" baseline="0" noProof="0" dirty="0">
                  <a:ln w="1905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GPU</a:t>
              </a:r>
              <a:r>
                <a:rPr kumimoji="0" lang="zh-CN" altLang="en-US" sz="2800" b="0" i="0" u="none" strike="noStrike" kern="0" cap="none" spc="0" normalizeH="0" baseline="0" noProof="0" dirty="0">
                  <a:ln w="1905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的信号处理智能引擎</a:t>
              </a:r>
            </a:p>
          </p:txBody>
        </p:sp>
        <p:pic>
          <p:nvPicPr>
            <p:cNvPr id="15" name="Rectangle 8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9221" y="231"/>
              <a:ext cx="10300" cy="4174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3583" y="361"/>
              <a:ext cx="3608" cy="591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9900">
                  <a:ln w="3175">
                    <a:noFill/>
                  </a:ln>
                  <a:gradFill flip="none" rotWithShape="1">
                    <a:gsLst>
                      <a:gs pos="100000">
                        <a:schemeClr val="accent3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effectLst>
                    <a:glow rad="50800">
                      <a:srgbClr val="FFFFFF">
                        <a:alpha val="100000"/>
                      </a:srgbClr>
                    </a:glow>
                    <a:outerShdw blurRad="88900" dist="63500" dir="2700000" algn="tl">
                      <a:srgbClr val="026CD4">
                        <a:lumMod val="75000"/>
                        <a:alpha val="30000"/>
                      </a:srgbClr>
                    </a:outerShdw>
                  </a:effectLst>
                  <a:latin typeface="演示新手书" panose="00000500000000000000" pitchFamily="50" charset="-122"/>
                  <a:ea typeface="演示新手书" panose="00000500000000000000" pitchFamily="50" charset="-122"/>
                  <a:cs typeface="演示流云楷" panose="02000600000000000000" pitchFamily="2" charset="-122"/>
                </a:defRPr>
              </a:lvl1pPr>
            </a:lstStyle>
            <a:p>
              <a:r>
                <a:rPr lang="zh-CN" altLang="en-US" sz="16600" dirty="0">
                  <a:gradFill flip="none" rotWithShape="1">
                    <a:gsLst>
                      <a:gs pos="95000">
                        <a:schemeClr val="accent2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sym typeface="云峰飞云体" panose="02000500000000000000" pitchFamily="2" charset="-122"/>
                </a:rPr>
                <a:t>波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81" y="-547"/>
              <a:ext cx="4268" cy="727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9900">
                  <a:ln w="3175">
                    <a:noFill/>
                  </a:ln>
                  <a:gradFill flip="none" rotWithShape="1">
                    <a:gsLst>
                      <a:gs pos="100000">
                        <a:schemeClr val="accent3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effectLst>
                    <a:glow rad="50800">
                      <a:srgbClr val="FFFFFF">
                        <a:alpha val="100000"/>
                      </a:srgbClr>
                    </a:glow>
                    <a:outerShdw blurRad="88900" dist="63500" dir="2700000" algn="tl">
                      <a:srgbClr val="026CD4">
                        <a:lumMod val="75000"/>
                        <a:alpha val="30000"/>
                      </a:srgbClr>
                    </a:outerShdw>
                  </a:effectLst>
                  <a:latin typeface="演示新手书" panose="00000500000000000000" pitchFamily="50" charset="-122"/>
                  <a:ea typeface="演示新手书" panose="00000500000000000000" pitchFamily="50" charset="-122"/>
                  <a:cs typeface="演示流云楷" panose="02000600000000000000" pitchFamily="2" charset="-122"/>
                </a:defRPr>
              </a:lvl1pPr>
            </a:lstStyle>
            <a:p>
              <a:pPr algn="just"/>
              <a:r>
                <a:rPr lang="zh-CN" altLang="zh-CN" dirty="0">
                  <a:gradFill flip="none" rotWithShape="1">
                    <a:gsLst>
                      <a:gs pos="95000">
                        <a:schemeClr val="accent2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sym typeface="云峰飞云体" panose="02000500000000000000" pitchFamily="2" charset="-122"/>
                </a:rPr>
                <a:t>凌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433" y="-674"/>
              <a:ext cx="4087" cy="9231"/>
            </a:xfrm>
            <a:prstGeom prst="rect">
              <a:avLst/>
            </a:prstGeom>
          </p:spPr>
          <p:txBody>
            <a:bodyPr wrap="none">
              <a:no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9900">
                  <a:ln w="3175">
                    <a:noFill/>
                  </a:ln>
                  <a:gradFill flip="none" rotWithShape="1">
                    <a:gsLst>
                      <a:gs pos="100000">
                        <a:schemeClr val="accent3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effectLst>
                    <a:glow rad="50800">
                      <a:srgbClr val="FFFFFF">
                        <a:alpha val="100000"/>
                      </a:srgbClr>
                    </a:glow>
                    <a:outerShdw blurRad="88900" dist="63500" dir="2700000" algn="tl">
                      <a:srgbClr val="026CD4">
                        <a:lumMod val="75000"/>
                        <a:alpha val="30000"/>
                      </a:srgbClr>
                    </a:outerShdw>
                  </a:effectLst>
                  <a:latin typeface="演示新手书" panose="00000500000000000000" pitchFamily="50" charset="-122"/>
                  <a:ea typeface="演示新手书" panose="00000500000000000000" pitchFamily="50" charset="-122"/>
                  <a:cs typeface="演示流云楷" panose="02000600000000000000" pitchFamily="2" charset="-122"/>
                </a:defRPr>
              </a:lvl1pPr>
            </a:lstStyle>
            <a:p>
              <a:r>
                <a:rPr lang="zh-CN" altLang="zh-CN" dirty="0">
                  <a:gradFill flip="none" rotWithShape="1">
                    <a:gsLst>
                      <a:gs pos="25000">
                        <a:srgbClr val="FFAE41"/>
                      </a:gs>
                      <a:gs pos="75000">
                        <a:srgbClr val="FFDC7A"/>
                      </a:gs>
                      <a:gs pos="0">
                        <a:srgbClr val="FF6B2E"/>
                      </a:gs>
                      <a:gs pos="100000">
                        <a:srgbClr val="FFF6B6"/>
                      </a:gs>
                    </a:gsLst>
                    <a:lin ang="18900000" scaled="1"/>
                    <a:tileRect/>
                  </a:gradFill>
                  <a:sym typeface="云峰飞云体" panose="02000500000000000000" pitchFamily="2" charset="-122"/>
                </a:rPr>
                <a:t>驭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246" y="-84"/>
              <a:ext cx="4268" cy="70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zh-CN" sz="19900" dirty="0">
                  <a:ln w="3175">
                    <a:noFill/>
                  </a:ln>
                  <a:gradFill flip="none" rotWithShape="1">
                    <a:gsLst>
                      <a:gs pos="95000">
                        <a:schemeClr val="accent2">
                          <a:lumMod val="50000"/>
                        </a:schemeClr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effectLst>
                    <a:glow rad="50800">
                      <a:srgbClr val="FFFFFF">
                        <a:alpha val="100000"/>
                      </a:srgbClr>
                    </a:glow>
                    <a:outerShdw blurRad="88900" dist="63500" dir="2700000" algn="tl">
                      <a:srgbClr val="026CD4">
                        <a:lumMod val="75000"/>
                        <a:alpha val="30000"/>
                      </a:srgbClr>
                    </a:outerShdw>
                  </a:effectLst>
                  <a:latin typeface="演示新手书" panose="00000500000000000000" pitchFamily="50" charset="-122"/>
                  <a:ea typeface="演示新手书" panose="00000500000000000000" pitchFamily="50" charset="-122"/>
                  <a:cs typeface="演示流云楷" panose="02000600000000000000" pitchFamily="2" charset="-122"/>
                  <a:sym typeface="云峰飞云体" panose="02000500000000000000" pitchFamily="2" charset="-122"/>
                </a:rPr>
                <a:t>算</a:t>
              </a: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4" cstate="email">
              <a:biLevel thresh="50000"/>
            </a:blip>
            <a:stretch>
              <a:fillRect/>
            </a:stretch>
          </p:blipFill>
          <p:spPr>
            <a:xfrm>
              <a:off x="1385" y="2664"/>
              <a:ext cx="705" cy="826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4" cstate="email">
              <a:biLevel thresh="50000"/>
            </a:blip>
            <a:stretch>
              <a:fillRect/>
            </a:stretch>
          </p:blipFill>
          <p:spPr>
            <a:xfrm>
              <a:off x="3658" y="3149"/>
              <a:ext cx="705" cy="82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4" cstate="email">
              <a:biLevel thresh="50000"/>
            </a:blip>
            <a:stretch>
              <a:fillRect/>
            </a:stretch>
          </p:blipFill>
          <p:spPr>
            <a:xfrm>
              <a:off x="7131" y="2403"/>
              <a:ext cx="705" cy="826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4" cstate="email">
              <a:biLevel thresh="50000"/>
            </a:blip>
            <a:stretch>
              <a:fillRect/>
            </a:stretch>
          </p:blipFill>
          <p:spPr>
            <a:xfrm>
              <a:off x="11029" y="4330"/>
              <a:ext cx="705" cy="826"/>
            </a:xfrm>
            <a:prstGeom prst="rect">
              <a:avLst/>
            </a:prstGeom>
          </p:spPr>
        </p:pic>
        <p:sp>
          <p:nvSpPr>
            <p:cNvPr id="58" name="任意多边形: 形状 57"/>
            <p:cNvSpPr/>
            <p:nvPr/>
          </p:nvSpPr>
          <p:spPr>
            <a:xfrm>
              <a:off x="15977" y="9953"/>
              <a:ext cx="734" cy="338"/>
            </a:xfrm>
            <a:custGeom>
              <a:avLst/>
              <a:gdLst>
                <a:gd name="connsiteX0" fmla="*/ 18080 w 466139"/>
                <a:gd name="connsiteY0" fmla="*/ 73 h 214333"/>
                <a:gd name="connsiteX1" fmla="*/ 429560 w 466139"/>
                <a:gd name="connsiteY1" fmla="*/ 61033 h 214333"/>
                <a:gd name="connsiteX2" fmla="*/ 429560 w 466139"/>
                <a:gd name="connsiteY2" fmla="*/ 163903 h 214333"/>
                <a:gd name="connsiteX3" fmla="*/ 284780 w 466139"/>
                <a:gd name="connsiteY3" fmla="*/ 213433 h 214333"/>
                <a:gd name="connsiteX4" fmla="*/ 174290 w 466139"/>
                <a:gd name="connsiteY4" fmla="*/ 194383 h 214333"/>
                <a:gd name="connsiteX5" fmla="*/ 120950 w 466139"/>
                <a:gd name="connsiteY5" fmla="*/ 175333 h 214333"/>
                <a:gd name="connsiteX6" fmla="*/ 86660 w 466139"/>
                <a:gd name="connsiteY6" fmla="*/ 144853 h 214333"/>
                <a:gd name="connsiteX7" fmla="*/ 71420 w 466139"/>
                <a:gd name="connsiteY7" fmla="*/ 72463 h 214333"/>
                <a:gd name="connsiteX8" fmla="*/ 18080 w 466139"/>
                <a:gd name="connsiteY8" fmla="*/ 73 h 21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139" h="214333">
                  <a:moveTo>
                    <a:pt x="18080" y="73"/>
                  </a:moveTo>
                  <a:cubicBezTo>
                    <a:pt x="77770" y="-1832"/>
                    <a:pt x="360980" y="33728"/>
                    <a:pt x="429560" y="61033"/>
                  </a:cubicBezTo>
                  <a:cubicBezTo>
                    <a:pt x="498140" y="88338"/>
                    <a:pt x="453690" y="138503"/>
                    <a:pt x="429560" y="163903"/>
                  </a:cubicBezTo>
                  <a:cubicBezTo>
                    <a:pt x="405430" y="189303"/>
                    <a:pt x="327325" y="208353"/>
                    <a:pt x="284780" y="213433"/>
                  </a:cubicBezTo>
                  <a:cubicBezTo>
                    <a:pt x="242235" y="218513"/>
                    <a:pt x="201595" y="200733"/>
                    <a:pt x="174290" y="194383"/>
                  </a:cubicBezTo>
                  <a:cubicBezTo>
                    <a:pt x="146985" y="188033"/>
                    <a:pt x="135555" y="183588"/>
                    <a:pt x="120950" y="175333"/>
                  </a:cubicBezTo>
                  <a:cubicBezTo>
                    <a:pt x="106345" y="167078"/>
                    <a:pt x="94915" y="161998"/>
                    <a:pt x="86660" y="144853"/>
                  </a:cubicBezTo>
                  <a:cubicBezTo>
                    <a:pt x="78405" y="127708"/>
                    <a:pt x="77770" y="91513"/>
                    <a:pt x="71420" y="72463"/>
                  </a:cubicBezTo>
                  <a:cubicBezTo>
                    <a:pt x="65070" y="53413"/>
                    <a:pt x="-41610" y="1978"/>
                    <a:pt x="18080" y="73"/>
                  </a:cubicBezTo>
                  <a:close/>
                </a:path>
              </a:pathLst>
            </a:custGeom>
            <a:solidFill>
              <a:srgbClr val="B6D3F3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4959" y="9961"/>
              <a:ext cx="570" cy="292"/>
            </a:xfrm>
            <a:custGeom>
              <a:avLst/>
              <a:gdLst>
                <a:gd name="connsiteX0" fmla="*/ 6750 w 361998"/>
                <a:gd name="connsiteY0" fmla="*/ 3883 h 185446"/>
                <a:gd name="connsiteX1" fmla="*/ 146450 w 361998"/>
                <a:gd name="connsiteY1" fmla="*/ 16583 h 185446"/>
                <a:gd name="connsiteX2" fmla="*/ 253130 w 361998"/>
                <a:gd name="connsiteY2" fmla="*/ 24203 h 185446"/>
                <a:gd name="connsiteX3" fmla="*/ 334410 w 361998"/>
                <a:gd name="connsiteY3" fmla="*/ 26743 h 185446"/>
                <a:gd name="connsiteX4" fmla="*/ 342030 w 361998"/>
                <a:gd name="connsiteY4" fmla="*/ 80083 h 185446"/>
                <a:gd name="connsiteX5" fmla="*/ 354730 w 361998"/>
                <a:gd name="connsiteY5" fmla="*/ 130883 h 185446"/>
                <a:gd name="connsiteX6" fmla="*/ 354730 w 361998"/>
                <a:gd name="connsiteY6" fmla="*/ 181683 h 185446"/>
                <a:gd name="connsiteX7" fmla="*/ 263290 w 361998"/>
                <a:gd name="connsiteY7" fmla="*/ 181683 h 185446"/>
                <a:gd name="connsiteX8" fmla="*/ 176930 w 361998"/>
                <a:gd name="connsiteY8" fmla="*/ 181683 h 185446"/>
                <a:gd name="connsiteX9" fmla="*/ 121050 w 361998"/>
                <a:gd name="connsiteY9" fmla="*/ 176603 h 185446"/>
                <a:gd name="connsiteX10" fmla="*/ 52470 w 361998"/>
                <a:gd name="connsiteY10" fmla="*/ 166443 h 185446"/>
                <a:gd name="connsiteX11" fmla="*/ 24530 w 361998"/>
                <a:gd name="connsiteY11" fmla="*/ 161363 h 185446"/>
                <a:gd name="connsiteX12" fmla="*/ 21990 w 361998"/>
                <a:gd name="connsiteY12" fmla="*/ 97863 h 185446"/>
                <a:gd name="connsiteX13" fmla="*/ 6750 w 361998"/>
                <a:gd name="connsiteY13" fmla="*/ 3883 h 18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1998" h="185446">
                  <a:moveTo>
                    <a:pt x="6750" y="3883"/>
                  </a:moveTo>
                  <a:cubicBezTo>
                    <a:pt x="27493" y="-9664"/>
                    <a:pt x="146450" y="16583"/>
                    <a:pt x="146450" y="16583"/>
                  </a:cubicBezTo>
                  <a:cubicBezTo>
                    <a:pt x="187513" y="19970"/>
                    <a:pt x="221803" y="22510"/>
                    <a:pt x="253130" y="24203"/>
                  </a:cubicBezTo>
                  <a:cubicBezTo>
                    <a:pt x="284457" y="25896"/>
                    <a:pt x="319593" y="17430"/>
                    <a:pt x="334410" y="26743"/>
                  </a:cubicBezTo>
                  <a:cubicBezTo>
                    <a:pt x="349227" y="36056"/>
                    <a:pt x="338643" y="62726"/>
                    <a:pt x="342030" y="80083"/>
                  </a:cubicBezTo>
                  <a:cubicBezTo>
                    <a:pt x="345417" y="97440"/>
                    <a:pt x="352613" y="113950"/>
                    <a:pt x="354730" y="130883"/>
                  </a:cubicBezTo>
                  <a:cubicBezTo>
                    <a:pt x="356847" y="147816"/>
                    <a:pt x="369970" y="173216"/>
                    <a:pt x="354730" y="181683"/>
                  </a:cubicBezTo>
                  <a:cubicBezTo>
                    <a:pt x="339490" y="190150"/>
                    <a:pt x="263290" y="181683"/>
                    <a:pt x="263290" y="181683"/>
                  </a:cubicBezTo>
                  <a:cubicBezTo>
                    <a:pt x="233657" y="181683"/>
                    <a:pt x="200637" y="182530"/>
                    <a:pt x="176930" y="181683"/>
                  </a:cubicBezTo>
                  <a:cubicBezTo>
                    <a:pt x="153223" y="180836"/>
                    <a:pt x="141793" y="179143"/>
                    <a:pt x="121050" y="176603"/>
                  </a:cubicBezTo>
                  <a:cubicBezTo>
                    <a:pt x="100307" y="174063"/>
                    <a:pt x="68557" y="168983"/>
                    <a:pt x="52470" y="166443"/>
                  </a:cubicBezTo>
                  <a:cubicBezTo>
                    <a:pt x="36383" y="163903"/>
                    <a:pt x="29610" y="172793"/>
                    <a:pt x="24530" y="161363"/>
                  </a:cubicBezTo>
                  <a:cubicBezTo>
                    <a:pt x="19450" y="149933"/>
                    <a:pt x="24530" y="119030"/>
                    <a:pt x="21990" y="97863"/>
                  </a:cubicBezTo>
                  <a:cubicBezTo>
                    <a:pt x="19450" y="76696"/>
                    <a:pt x="-13993" y="17430"/>
                    <a:pt x="6750" y="3883"/>
                  </a:cubicBezTo>
                  <a:close/>
                </a:path>
              </a:pathLst>
            </a:custGeom>
            <a:solidFill>
              <a:srgbClr val="B6D3F3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13361" y="9263"/>
              <a:ext cx="284" cy="174"/>
            </a:xfrm>
            <a:custGeom>
              <a:avLst/>
              <a:gdLst>
                <a:gd name="connsiteX0" fmla="*/ 315 w 180043"/>
                <a:gd name="connsiteY0" fmla="*/ 3972 h 110652"/>
                <a:gd name="connsiteX1" fmla="*/ 40955 w 180043"/>
                <a:gd name="connsiteY1" fmla="*/ 64932 h 110652"/>
                <a:gd name="connsiteX2" fmla="*/ 117155 w 180043"/>
                <a:gd name="connsiteY2" fmla="*/ 95412 h 110652"/>
                <a:gd name="connsiteX3" fmla="*/ 162875 w 180043"/>
                <a:gd name="connsiteY3" fmla="*/ 110652 h 110652"/>
                <a:gd name="connsiteX4" fmla="*/ 178115 w 180043"/>
                <a:gd name="connsiteY4" fmla="*/ 95412 h 110652"/>
                <a:gd name="connsiteX5" fmla="*/ 173035 w 180043"/>
                <a:gd name="connsiteY5" fmla="*/ 59852 h 110652"/>
                <a:gd name="connsiteX6" fmla="*/ 117155 w 180043"/>
                <a:gd name="connsiteY6" fmla="*/ 34452 h 110652"/>
                <a:gd name="connsiteX7" fmla="*/ 61275 w 180043"/>
                <a:gd name="connsiteY7" fmla="*/ 9052 h 110652"/>
                <a:gd name="connsiteX8" fmla="*/ 315 w 180043"/>
                <a:gd name="connsiteY8" fmla="*/ 3972 h 11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43" h="110652">
                  <a:moveTo>
                    <a:pt x="315" y="3972"/>
                  </a:moveTo>
                  <a:cubicBezTo>
                    <a:pt x="-3072" y="13285"/>
                    <a:pt x="21482" y="49692"/>
                    <a:pt x="40955" y="64932"/>
                  </a:cubicBezTo>
                  <a:cubicBezTo>
                    <a:pt x="60428" y="80172"/>
                    <a:pt x="96835" y="87792"/>
                    <a:pt x="117155" y="95412"/>
                  </a:cubicBezTo>
                  <a:cubicBezTo>
                    <a:pt x="137475" y="103032"/>
                    <a:pt x="162875" y="110652"/>
                    <a:pt x="162875" y="110652"/>
                  </a:cubicBezTo>
                  <a:cubicBezTo>
                    <a:pt x="173035" y="110652"/>
                    <a:pt x="176422" y="103879"/>
                    <a:pt x="178115" y="95412"/>
                  </a:cubicBezTo>
                  <a:cubicBezTo>
                    <a:pt x="179808" y="86945"/>
                    <a:pt x="183195" y="70012"/>
                    <a:pt x="173035" y="59852"/>
                  </a:cubicBezTo>
                  <a:cubicBezTo>
                    <a:pt x="162875" y="49692"/>
                    <a:pt x="117155" y="34452"/>
                    <a:pt x="117155" y="34452"/>
                  </a:cubicBezTo>
                  <a:cubicBezTo>
                    <a:pt x="98528" y="25985"/>
                    <a:pt x="78208" y="14132"/>
                    <a:pt x="61275" y="9052"/>
                  </a:cubicBezTo>
                  <a:cubicBezTo>
                    <a:pt x="44342" y="3972"/>
                    <a:pt x="3702" y="-5341"/>
                    <a:pt x="315" y="3972"/>
                  </a:cubicBezTo>
                  <a:close/>
                </a:path>
              </a:pathLst>
            </a:custGeom>
            <a:solidFill>
              <a:srgbClr val="BBDBF1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3101" y="9301"/>
              <a:ext cx="489" cy="262"/>
            </a:xfrm>
            <a:custGeom>
              <a:avLst/>
              <a:gdLst>
                <a:gd name="connsiteX0" fmla="*/ 0 w 310454"/>
                <a:gd name="connsiteY0" fmla="*/ 166451 h 166451"/>
                <a:gd name="connsiteX1" fmla="*/ 17145 w 310454"/>
                <a:gd name="connsiteY1" fmla="*/ 115016 h 166451"/>
                <a:gd name="connsiteX2" fmla="*/ 28575 w 310454"/>
                <a:gd name="connsiteY2" fmla="*/ 76916 h 166451"/>
                <a:gd name="connsiteX3" fmla="*/ 30480 w 310454"/>
                <a:gd name="connsiteY3" fmla="*/ 33101 h 166451"/>
                <a:gd name="connsiteX4" fmla="*/ 36195 w 310454"/>
                <a:gd name="connsiteY4" fmla="*/ 10241 h 166451"/>
                <a:gd name="connsiteX5" fmla="*/ 51435 w 310454"/>
                <a:gd name="connsiteY5" fmla="*/ 2621 h 166451"/>
                <a:gd name="connsiteX6" fmla="*/ 81915 w 310454"/>
                <a:gd name="connsiteY6" fmla="*/ 14051 h 166451"/>
                <a:gd name="connsiteX7" fmla="*/ 302895 w 310454"/>
                <a:gd name="connsiteY7" fmla="*/ 139781 h 166451"/>
                <a:gd name="connsiteX8" fmla="*/ 255270 w 310454"/>
                <a:gd name="connsiteY8" fmla="*/ 151211 h 166451"/>
                <a:gd name="connsiteX9" fmla="*/ 217170 w 310454"/>
                <a:gd name="connsiteY9" fmla="*/ 143591 h 166451"/>
                <a:gd name="connsiteX10" fmla="*/ 175260 w 310454"/>
                <a:gd name="connsiteY10" fmla="*/ 143591 h 166451"/>
                <a:gd name="connsiteX11" fmla="*/ 142875 w 310454"/>
                <a:gd name="connsiteY11" fmla="*/ 143591 h 166451"/>
                <a:gd name="connsiteX12" fmla="*/ 104775 w 310454"/>
                <a:gd name="connsiteY12" fmla="*/ 143591 h 166451"/>
                <a:gd name="connsiteX13" fmla="*/ 78105 w 310454"/>
                <a:gd name="connsiteY13" fmla="*/ 139781 h 166451"/>
                <a:gd name="connsiteX14" fmla="*/ 47625 w 310454"/>
                <a:gd name="connsiteY14" fmla="*/ 139781 h 166451"/>
                <a:gd name="connsiteX15" fmla="*/ 0 w 310454"/>
                <a:gd name="connsiteY15" fmla="*/ 166451 h 16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0454" h="166451">
                  <a:moveTo>
                    <a:pt x="0" y="166451"/>
                  </a:moveTo>
                  <a:cubicBezTo>
                    <a:pt x="6191" y="148194"/>
                    <a:pt x="12383" y="129938"/>
                    <a:pt x="17145" y="115016"/>
                  </a:cubicBezTo>
                  <a:cubicBezTo>
                    <a:pt x="21908" y="100093"/>
                    <a:pt x="26353" y="90568"/>
                    <a:pt x="28575" y="76916"/>
                  </a:cubicBezTo>
                  <a:cubicBezTo>
                    <a:pt x="30797" y="63264"/>
                    <a:pt x="29210" y="44213"/>
                    <a:pt x="30480" y="33101"/>
                  </a:cubicBezTo>
                  <a:cubicBezTo>
                    <a:pt x="31750" y="21989"/>
                    <a:pt x="32703" y="15321"/>
                    <a:pt x="36195" y="10241"/>
                  </a:cubicBezTo>
                  <a:cubicBezTo>
                    <a:pt x="39687" y="5161"/>
                    <a:pt x="43815" y="1986"/>
                    <a:pt x="51435" y="2621"/>
                  </a:cubicBezTo>
                  <a:cubicBezTo>
                    <a:pt x="59055" y="3256"/>
                    <a:pt x="40005" y="-8809"/>
                    <a:pt x="81915" y="14051"/>
                  </a:cubicBezTo>
                  <a:cubicBezTo>
                    <a:pt x="123825" y="36911"/>
                    <a:pt x="274003" y="116921"/>
                    <a:pt x="302895" y="139781"/>
                  </a:cubicBezTo>
                  <a:cubicBezTo>
                    <a:pt x="331787" y="162641"/>
                    <a:pt x="269557" y="150576"/>
                    <a:pt x="255270" y="151211"/>
                  </a:cubicBezTo>
                  <a:cubicBezTo>
                    <a:pt x="240983" y="151846"/>
                    <a:pt x="230505" y="144861"/>
                    <a:pt x="217170" y="143591"/>
                  </a:cubicBezTo>
                  <a:cubicBezTo>
                    <a:pt x="203835" y="142321"/>
                    <a:pt x="175260" y="143591"/>
                    <a:pt x="175260" y="143591"/>
                  </a:cubicBezTo>
                  <a:lnTo>
                    <a:pt x="142875" y="143591"/>
                  </a:lnTo>
                  <a:cubicBezTo>
                    <a:pt x="131128" y="143591"/>
                    <a:pt x="115570" y="144226"/>
                    <a:pt x="104775" y="143591"/>
                  </a:cubicBezTo>
                  <a:cubicBezTo>
                    <a:pt x="93980" y="142956"/>
                    <a:pt x="87630" y="140416"/>
                    <a:pt x="78105" y="139781"/>
                  </a:cubicBezTo>
                  <a:cubicBezTo>
                    <a:pt x="68580" y="139146"/>
                    <a:pt x="47625" y="139781"/>
                    <a:pt x="47625" y="139781"/>
                  </a:cubicBezTo>
                  <a:lnTo>
                    <a:pt x="0" y="166451"/>
                  </a:lnTo>
                  <a:close/>
                </a:path>
              </a:pathLst>
            </a:custGeom>
            <a:solidFill>
              <a:srgbClr val="CAE5F3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0" name="任意多边形: 形状 1209"/>
            <p:cNvSpPr/>
            <p:nvPr/>
          </p:nvSpPr>
          <p:spPr>
            <a:xfrm>
              <a:off x="17885" y="9332"/>
              <a:ext cx="289" cy="186"/>
            </a:xfrm>
            <a:custGeom>
              <a:avLst/>
              <a:gdLst>
                <a:gd name="connsiteX0" fmla="*/ 153 w 183528"/>
                <a:gd name="connsiteY0" fmla="*/ 23936 h 118242"/>
                <a:gd name="connsiteX1" fmla="*/ 40793 w 183528"/>
                <a:gd name="connsiteY1" fmla="*/ 72196 h 118242"/>
                <a:gd name="connsiteX2" fmla="*/ 81433 w 183528"/>
                <a:gd name="connsiteY2" fmla="*/ 95056 h 118242"/>
                <a:gd name="connsiteX3" fmla="*/ 119533 w 183528"/>
                <a:gd name="connsiteY3" fmla="*/ 115376 h 118242"/>
                <a:gd name="connsiteX4" fmla="*/ 160173 w 183528"/>
                <a:gd name="connsiteY4" fmla="*/ 115376 h 118242"/>
                <a:gd name="connsiteX5" fmla="*/ 180493 w 183528"/>
                <a:gd name="connsiteY5" fmla="*/ 89976 h 118242"/>
                <a:gd name="connsiteX6" fmla="*/ 180493 w 183528"/>
                <a:gd name="connsiteY6" fmla="*/ 59496 h 118242"/>
                <a:gd name="connsiteX7" fmla="*/ 152553 w 183528"/>
                <a:gd name="connsiteY7" fmla="*/ 34096 h 118242"/>
                <a:gd name="connsiteX8" fmla="*/ 116993 w 183528"/>
                <a:gd name="connsiteY8" fmla="*/ 18856 h 118242"/>
                <a:gd name="connsiteX9" fmla="*/ 83973 w 183528"/>
                <a:gd name="connsiteY9" fmla="*/ 1076 h 118242"/>
                <a:gd name="connsiteX10" fmla="*/ 56033 w 183528"/>
                <a:gd name="connsiteY10" fmla="*/ 1076 h 118242"/>
                <a:gd name="connsiteX11" fmla="*/ 153 w 183528"/>
                <a:gd name="connsiteY11" fmla="*/ 23936 h 11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3528" h="118242">
                  <a:moveTo>
                    <a:pt x="153" y="23936"/>
                  </a:moveTo>
                  <a:cubicBezTo>
                    <a:pt x="-2387" y="35789"/>
                    <a:pt x="27246" y="60343"/>
                    <a:pt x="40793" y="72196"/>
                  </a:cubicBezTo>
                  <a:cubicBezTo>
                    <a:pt x="54340" y="84049"/>
                    <a:pt x="68310" y="87859"/>
                    <a:pt x="81433" y="95056"/>
                  </a:cubicBezTo>
                  <a:cubicBezTo>
                    <a:pt x="94556" y="102253"/>
                    <a:pt x="106410" y="111989"/>
                    <a:pt x="119533" y="115376"/>
                  </a:cubicBezTo>
                  <a:cubicBezTo>
                    <a:pt x="132656" y="118763"/>
                    <a:pt x="150013" y="119609"/>
                    <a:pt x="160173" y="115376"/>
                  </a:cubicBezTo>
                  <a:cubicBezTo>
                    <a:pt x="170333" y="111143"/>
                    <a:pt x="177106" y="99289"/>
                    <a:pt x="180493" y="89976"/>
                  </a:cubicBezTo>
                  <a:cubicBezTo>
                    <a:pt x="183880" y="80663"/>
                    <a:pt x="185150" y="68809"/>
                    <a:pt x="180493" y="59496"/>
                  </a:cubicBezTo>
                  <a:cubicBezTo>
                    <a:pt x="175836" y="50183"/>
                    <a:pt x="163136" y="40869"/>
                    <a:pt x="152553" y="34096"/>
                  </a:cubicBezTo>
                  <a:cubicBezTo>
                    <a:pt x="141970" y="27323"/>
                    <a:pt x="128423" y="24359"/>
                    <a:pt x="116993" y="18856"/>
                  </a:cubicBezTo>
                  <a:cubicBezTo>
                    <a:pt x="105563" y="13353"/>
                    <a:pt x="94133" y="4039"/>
                    <a:pt x="83973" y="1076"/>
                  </a:cubicBezTo>
                  <a:cubicBezTo>
                    <a:pt x="73813" y="-1887"/>
                    <a:pt x="67463" y="2346"/>
                    <a:pt x="56033" y="1076"/>
                  </a:cubicBezTo>
                  <a:cubicBezTo>
                    <a:pt x="44603" y="-194"/>
                    <a:pt x="2693" y="12083"/>
                    <a:pt x="153" y="23936"/>
                  </a:cubicBezTo>
                  <a:close/>
                </a:path>
              </a:pathLst>
            </a:custGeom>
            <a:solidFill>
              <a:srgbClr val="A4C8EC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1" name="任意多边形: 形状 1210"/>
            <p:cNvSpPr/>
            <p:nvPr/>
          </p:nvSpPr>
          <p:spPr>
            <a:xfrm>
              <a:off x="13224" y="10777"/>
              <a:ext cx="472" cy="252"/>
            </a:xfrm>
            <a:custGeom>
              <a:avLst/>
              <a:gdLst>
                <a:gd name="connsiteX0" fmla="*/ 211748 w 299660"/>
                <a:gd name="connsiteY0" fmla="*/ 29672 h 159792"/>
                <a:gd name="connsiteX1" fmla="*/ 2198 w 299660"/>
                <a:gd name="connsiteY1" fmla="*/ 147782 h 159792"/>
                <a:gd name="connsiteX2" fmla="*/ 108878 w 299660"/>
                <a:gd name="connsiteY2" fmla="*/ 155402 h 159792"/>
                <a:gd name="connsiteX3" fmla="*/ 219368 w 299660"/>
                <a:gd name="connsiteY3" fmla="*/ 143972 h 159792"/>
                <a:gd name="connsiteX4" fmla="*/ 291758 w 299660"/>
                <a:gd name="connsiteY4" fmla="*/ 79202 h 159792"/>
                <a:gd name="connsiteX5" fmla="*/ 291758 w 299660"/>
                <a:gd name="connsiteY5" fmla="*/ 3002 h 159792"/>
                <a:gd name="connsiteX6" fmla="*/ 211748 w 299660"/>
                <a:gd name="connsiteY6" fmla="*/ 29672 h 15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60" h="159792">
                  <a:moveTo>
                    <a:pt x="211748" y="29672"/>
                  </a:moveTo>
                  <a:cubicBezTo>
                    <a:pt x="163488" y="53802"/>
                    <a:pt x="19343" y="126827"/>
                    <a:pt x="2198" y="147782"/>
                  </a:cubicBezTo>
                  <a:cubicBezTo>
                    <a:pt x="-14947" y="168737"/>
                    <a:pt x="72683" y="156037"/>
                    <a:pt x="108878" y="155402"/>
                  </a:cubicBezTo>
                  <a:cubicBezTo>
                    <a:pt x="145073" y="154767"/>
                    <a:pt x="188888" y="156672"/>
                    <a:pt x="219368" y="143972"/>
                  </a:cubicBezTo>
                  <a:cubicBezTo>
                    <a:pt x="249848" y="131272"/>
                    <a:pt x="279693" y="102697"/>
                    <a:pt x="291758" y="79202"/>
                  </a:cubicBezTo>
                  <a:cubicBezTo>
                    <a:pt x="303823" y="55707"/>
                    <a:pt x="300648" y="11892"/>
                    <a:pt x="291758" y="3002"/>
                  </a:cubicBezTo>
                  <a:cubicBezTo>
                    <a:pt x="282868" y="-5888"/>
                    <a:pt x="260008" y="5542"/>
                    <a:pt x="211748" y="29672"/>
                  </a:cubicBezTo>
                  <a:close/>
                </a:path>
              </a:pathLst>
            </a:custGeom>
            <a:solidFill>
              <a:srgbClr val="D3DDE4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4791" b="15450"/>
            <a:stretch>
              <a:fillRect/>
            </a:stretch>
          </p:blipFill>
          <p:spPr>
            <a:xfrm>
              <a:off x="3994" y="512"/>
              <a:ext cx="3466" cy="1492"/>
            </a:xfrm>
            <a:prstGeom prst="rect">
              <a:avLst/>
            </a:prstGeom>
          </p:spPr>
        </p:pic>
        <p:grpSp>
          <p:nvGrpSpPr>
            <p:cNvPr id="57" name="组合 56"/>
            <p:cNvGrpSpPr/>
            <p:nvPr/>
          </p:nvGrpSpPr>
          <p:grpSpPr>
            <a:xfrm>
              <a:off x="11953" y="2907"/>
              <a:ext cx="7277" cy="7271"/>
              <a:chOff x="7386053" y="1674644"/>
              <a:chExt cx="4621040" cy="4616936"/>
            </a:xfrm>
          </p:grpSpPr>
          <p:pic>
            <p:nvPicPr>
              <p:cNvPr id="7" name="Picture 4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386053" y="1674644"/>
                <a:ext cx="4621040" cy="4616936"/>
              </a:xfrm>
              <a:prstGeom prst="rect">
                <a:avLst/>
              </a:prstGeom>
            </p:spPr>
          </p:pic>
          <p:pic>
            <p:nvPicPr>
              <p:cNvPr id="41" name="图片 40" descr="图片包含 背景图案&#10;&#10;AI 生成的内容可能不正确。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6558" y="2973219"/>
                <a:ext cx="1687195" cy="1125855"/>
              </a:xfrm>
              <a:prstGeom prst="rect">
                <a:avLst/>
              </a:prstGeom>
              <a:effectLst>
                <a:softEdge rad="25400"/>
              </a:effectLst>
              <a:scene3d>
                <a:camera prst="perspectiveLeft" fov="1224000">
                  <a:rot lat="20550000" lon="3144000" rev="18240000"/>
                </a:camera>
                <a:lightRig rig="glow" dir="t"/>
              </a:scene3d>
            </p:spPr>
          </p:pic>
          <p:pic>
            <p:nvPicPr>
              <p:cNvPr id="46" name="图片 45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3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l="3593" t="12111" r="56679" b="15450"/>
              <a:stretch>
                <a:fillRect/>
              </a:stretch>
            </p:blipFill>
            <p:spPr>
              <a:xfrm rot="16200000" flipH="1">
                <a:off x="8002284" y="3506481"/>
                <a:ext cx="271752" cy="249562"/>
              </a:xfrm>
              <a:prstGeom prst="rect">
                <a:avLst/>
              </a:prstGeom>
              <a:scene3d>
                <a:camera prst="perspectiveLeft">
                  <a:rot lat="0" lon="19254000" rev="0"/>
                </a:camera>
                <a:lightRig rig="threePt" dir="t"/>
              </a:scene3d>
            </p:spPr>
          </p:pic>
          <p:pic>
            <p:nvPicPr>
              <p:cNvPr id="49" name="图片 48"/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3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l="3593" t="12111" r="56679" b="15450"/>
              <a:stretch>
                <a:fillRect/>
              </a:stretch>
            </p:blipFill>
            <p:spPr>
              <a:xfrm flipH="1">
                <a:off x="9591675" y="2458493"/>
                <a:ext cx="239084" cy="239877"/>
              </a:xfrm>
              <a:prstGeom prst="rect">
                <a:avLst/>
              </a:prstGeom>
              <a:scene3d>
                <a:camera prst="perspectiveLeft">
                  <a:rot lat="0" lon="19254000" rev="0"/>
                </a:camera>
                <a:lightRig rig="threePt" dir="t"/>
              </a:scene3d>
            </p:spPr>
          </p:pic>
          <p:pic>
            <p:nvPicPr>
              <p:cNvPr id="50" name="图片 49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3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l="3593" t="12111" r="56679" b="15450"/>
              <a:stretch>
                <a:fillRect/>
              </a:stretch>
            </p:blipFill>
            <p:spPr>
              <a:xfrm rot="5191636" flipH="1">
                <a:off x="11206162" y="3549107"/>
                <a:ext cx="239084" cy="239877"/>
              </a:xfrm>
              <a:prstGeom prst="rect">
                <a:avLst/>
              </a:prstGeom>
              <a:scene3d>
                <a:camera prst="perspectiveLeft">
                  <a:rot lat="0" lon="19254000" rev="0"/>
                </a:camera>
                <a:lightRig rig="threePt" dir="t"/>
              </a:scene3d>
            </p:spPr>
          </p:pic>
          <p:pic>
            <p:nvPicPr>
              <p:cNvPr id="52" name="图片 51"/>
              <p:cNvPicPr/>
              <p:nvPr>
                <p:custDataLst>
                  <p:tags r:id="rId24"/>
                </p:custDataLst>
              </p:nvPr>
            </p:nvPicPr>
            <p:blipFill>
              <a:blip r:embed="rId3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l="3593" t="12111" r="56679" b="15450"/>
              <a:stretch>
                <a:fillRect/>
              </a:stretch>
            </p:blipFill>
            <p:spPr>
              <a:xfrm rot="10800000" flipH="1">
                <a:off x="9616446" y="4658768"/>
                <a:ext cx="303842" cy="239877"/>
              </a:xfrm>
              <a:prstGeom prst="rect">
                <a:avLst/>
              </a:prstGeom>
              <a:scene3d>
                <a:camera prst="perspectiveLeft">
                  <a:rot lat="0" lon="19254000" rev="0"/>
                </a:camera>
                <a:lightRig rig="threePt" dir="t"/>
              </a:scene3d>
            </p:spPr>
          </p:pic>
          <p:sp>
            <p:nvSpPr>
              <p:cNvPr id="53" name="文本框 52"/>
              <p:cNvSpPr txBox="1"/>
              <p:nvPr/>
            </p:nvSpPr>
            <p:spPr>
              <a:xfrm rot="2172526">
                <a:off x="8245475" y="4360354"/>
                <a:ext cx="1206500" cy="334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400" dirty="0" err="1">
                    <a:solidFill>
                      <a:srgbClr val="0070C0"/>
                    </a:solidFill>
                    <a:latin typeface="汉仪菱心体简" panose="02010400000101010101" charset="-122"/>
                    <a:ea typeface="汉仪菱心体简" panose="02010400000101010101" charset="-122"/>
                  </a:rPr>
                  <a:t>LJMicro</a:t>
                </a:r>
                <a:endParaRPr lang="zh-CN" altLang="en-US" sz="1400" dirty="0">
                  <a:solidFill>
                    <a:srgbClr val="0070C0"/>
                  </a:solidFill>
                  <a:latin typeface="汉仪菱心体简" panose="02010400000101010101" charset="-122"/>
                  <a:ea typeface="汉仪菱心体简" panose="02010400000101010101" charset="-122"/>
                </a:endParaRPr>
              </a:p>
            </p:txBody>
          </p:sp>
        </p:grpSp>
        <p:pic>
          <p:nvPicPr>
            <p:cNvPr id="39" name="图片 38" descr="湖工横版logo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3101" y="513"/>
              <a:ext cx="6043" cy="1491"/>
            </a:xfrm>
            <a:prstGeom prst="rect">
              <a:avLst/>
            </a:prstGeom>
          </p:spPr>
        </p:pic>
        <p:pic>
          <p:nvPicPr>
            <p:cNvPr id="86" name="Picture 6"/>
            <p:cNvPicPr>
              <a:picLocks noChangeAspect="1"/>
            </p:cNvPicPr>
            <p:nvPr/>
          </p:nvPicPr>
          <p:blipFill>
            <a:blip r:embed="rId32"/>
            <a:srcRect l="78463"/>
            <a:stretch>
              <a:fillRect/>
            </a:stretch>
          </p:blipFill>
          <p:spPr>
            <a:xfrm>
              <a:off x="9796" y="8223"/>
              <a:ext cx="2605" cy="2868"/>
            </a:xfrm>
            <a:prstGeom prst="rect">
              <a:avLst/>
            </a:prstGeom>
          </p:spPr>
        </p:pic>
        <p:sp>
          <p:nvSpPr>
            <p:cNvPr id="87" name="矩形: 圆角 1224"/>
            <p:cNvSpPr/>
            <p:nvPr>
              <p:custDataLst>
                <p:tags r:id="rId4"/>
              </p:custDataLst>
            </p:nvPr>
          </p:nvSpPr>
          <p:spPr>
            <a:xfrm>
              <a:off x="1970" y="7815"/>
              <a:ext cx="3999" cy="742"/>
            </a:xfrm>
            <a:prstGeom prst="roundRect">
              <a:avLst>
                <a:gd name="adj" fmla="val 11113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27000" dist="38100" dir="5400000" sx="99000" sy="99000" algn="t" rotWithShape="0">
                <a:schemeClr val="accent2">
                  <a:lumMod val="75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汉仪雅酷黑简" panose="00020600040101010101" charset="-122"/>
              </a:endParaRPr>
            </a:p>
          </p:txBody>
        </p:sp>
        <p:sp>
          <p:nvSpPr>
            <p:cNvPr id="88" name="矩形: 圆角 1225"/>
            <p:cNvSpPr/>
            <p:nvPr>
              <p:custDataLst>
                <p:tags r:id="rId5"/>
              </p:custDataLst>
            </p:nvPr>
          </p:nvSpPr>
          <p:spPr>
            <a:xfrm>
              <a:off x="2074" y="7910"/>
              <a:ext cx="1497" cy="553"/>
            </a:xfrm>
            <a:prstGeom prst="roundRect">
              <a:avLst>
                <a:gd name="adj" fmla="val 14844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汉仪雅酷黑简" panose="00020600040101010101" charset="-122"/>
              </a:endParaRPr>
            </a:p>
          </p:txBody>
        </p:sp>
        <p:sp>
          <p:nvSpPr>
            <p:cNvPr id="89" name="Rectangle 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33" y="7939"/>
              <a:ext cx="1583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OPPOSans M" panose="00020600040101010101" pitchFamily="18" charset="-122"/>
                </a:rPr>
                <a:t>项目组别</a:t>
              </a:r>
              <a:endParaRPr lang="zh-CN" altLang="zh-CN" sz="1600" dirty="0">
                <a:solidFill>
                  <a:srgbClr val="FFFFFF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90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513" y="7939"/>
              <a:ext cx="2652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000000"/>
                  </a:solidFill>
                  <a:latin typeface="OPPOSans M" panose="00020600040101010101" pitchFamily="18" charset="-122"/>
                </a:rPr>
                <a:t>新一代信息技术</a:t>
              </a:r>
            </a:p>
          </p:txBody>
        </p:sp>
        <p:sp>
          <p:nvSpPr>
            <p:cNvPr id="91" name="矩形: 圆角 1229"/>
            <p:cNvSpPr/>
            <p:nvPr>
              <p:custDataLst>
                <p:tags r:id="rId8"/>
              </p:custDataLst>
            </p:nvPr>
          </p:nvSpPr>
          <p:spPr>
            <a:xfrm>
              <a:off x="6030" y="7815"/>
              <a:ext cx="5765" cy="742"/>
            </a:xfrm>
            <a:prstGeom prst="roundRect">
              <a:avLst>
                <a:gd name="adj" fmla="val 11113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27000" dist="38100" dir="5400000" sx="99000" sy="99000" algn="t" rotWithShape="0">
                <a:schemeClr val="accent2">
                  <a:lumMod val="75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汉仪雅酷黑简" panose="00020600040101010101" charset="-122"/>
              </a:endParaRPr>
            </a:p>
          </p:txBody>
        </p:sp>
        <p:sp>
          <p:nvSpPr>
            <p:cNvPr id="92" name="矩形: 圆角 1230"/>
            <p:cNvSpPr/>
            <p:nvPr>
              <p:custDataLst>
                <p:tags r:id="rId9"/>
              </p:custDataLst>
            </p:nvPr>
          </p:nvSpPr>
          <p:spPr>
            <a:xfrm>
              <a:off x="6112" y="7905"/>
              <a:ext cx="1621" cy="553"/>
            </a:xfrm>
            <a:prstGeom prst="roundRect">
              <a:avLst>
                <a:gd name="adj" fmla="val 14844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93" name="Rectangle 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112" y="7904"/>
              <a:ext cx="1621" cy="5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OPPOSans M" panose="00020600040101010101" pitchFamily="18" charset="-122"/>
                </a:rPr>
                <a:t>指导老师</a:t>
              </a:r>
            </a:p>
          </p:txBody>
        </p:sp>
        <p:sp>
          <p:nvSpPr>
            <p:cNvPr id="94" name="Rectangle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734" y="7927"/>
              <a:ext cx="3612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zh-CN" sz="1600" dirty="0">
                  <a:solidFill>
                    <a:srgbClr val="000000"/>
                  </a:solidFill>
                  <a:latin typeface="OPPOSans M" panose="00020600040101010101" pitchFamily="18" charset="-122"/>
                </a:rPr>
                <a:t>陈本源、吕辉、陈彦君</a:t>
              </a:r>
            </a:p>
          </p:txBody>
        </p:sp>
        <p:sp>
          <p:nvSpPr>
            <p:cNvPr id="95" name="矩形: 圆角 1234"/>
            <p:cNvSpPr/>
            <p:nvPr>
              <p:custDataLst>
                <p:tags r:id="rId12"/>
              </p:custDataLst>
            </p:nvPr>
          </p:nvSpPr>
          <p:spPr>
            <a:xfrm>
              <a:off x="1970" y="8927"/>
              <a:ext cx="3998" cy="792"/>
            </a:xfrm>
            <a:prstGeom prst="roundRect">
              <a:avLst>
                <a:gd name="adj" fmla="val 11113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27000" dist="38100" dir="5400000" sx="99000" sy="99000" algn="t" rotWithShape="0">
                <a:schemeClr val="accent2">
                  <a:lumMod val="75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汉仪雅酷黑简" panose="00020600040101010101" charset="-122"/>
              </a:endParaRPr>
            </a:p>
          </p:txBody>
        </p:sp>
        <p:sp>
          <p:nvSpPr>
            <p:cNvPr id="96" name="矩形: 圆角 1235"/>
            <p:cNvSpPr/>
            <p:nvPr>
              <p:custDataLst>
                <p:tags r:id="rId13"/>
              </p:custDataLst>
            </p:nvPr>
          </p:nvSpPr>
          <p:spPr>
            <a:xfrm>
              <a:off x="2074" y="9021"/>
              <a:ext cx="1497" cy="553"/>
            </a:xfrm>
            <a:prstGeom prst="roundRect">
              <a:avLst>
                <a:gd name="adj" fmla="val 14844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97" name="Rectangle 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033" y="9020"/>
              <a:ext cx="1583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OPPOSans M" panose="00020600040101010101" pitchFamily="18" charset="-122"/>
                </a:rPr>
                <a:t>参赛学校</a:t>
              </a:r>
              <a:endParaRPr lang="zh-CN" altLang="zh-CN" sz="1600" dirty="0">
                <a:solidFill>
                  <a:srgbClr val="FFFFFF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98" name="Rectangle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570" y="9021"/>
              <a:ext cx="2309" cy="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zh-CN" sz="1600" dirty="0">
                  <a:solidFill>
                    <a:srgbClr val="000000"/>
                  </a:solidFill>
                  <a:latin typeface="OPPOSans M" panose="00020600040101010101" pitchFamily="18" charset="-122"/>
                </a:rPr>
                <a:t>湖北工业大学</a:t>
              </a:r>
            </a:p>
          </p:txBody>
        </p:sp>
        <p:sp>
          <p:nvSpPr>
            <p:cNvPr id="99" name="矩形: 圆角 1239"/>
            <p:cNvSpPr/>
            <p:nvPr>
              <p:custDataLst>
                <p:tags r:id="rId16"/>
              </p:custDataLst>
            </p:nvPr>
          </p:nvSpPr>
          <p:spPr>
            <a:xfrm>
              <a:off x="6030" y="8927"/>
              <a:ext cx="5764" cy="792"/>
            </a:xfrm>
            <a:prstGeom prst="roundRect">
              <a:avLst>
                <a:gd name="adj" fmla="val 11113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27000" dist="38100" dir="5400000" sx="99000" sy="99000" algn="t" rotWithShape="0">
                <a:schemeClr val="accent2">
                  <a:lumMod val="75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汉仪雅酷黑简" panose="00020600040101010101" charset="-122"/>
              </a:endParaRPr>
            </a:p>
          </p:txBody>
        </p:sp>
        <p:sp>
          <p:nvSpPr>
            <p:cNvPr id="100" name="矩形: 圆角 1240"/>
            <p:cNvSpPr/>
            <p:nvPr>
              <p:custDataLst>
                <p:tags r:id="rId17"/>
              </p:custDataLst>
            </p:nvPr>
          </p:nvSpPr>
          <p:spPr>
            <a:xfrm>
              <a:off x="6112" y="9039"/>
              <a:ext cx="1620" cy="569"/>
            </a:xfrm>
            <a:prstGeom prst="roundRect">
              <a:avLst>
                <a:gd name="adj" fmla="val 14844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101" name="Rectangle 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836" y="9089"/>
              <a:ext cx="3898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000000"/>
                  </a:solidFill>
                  <a:latin typeface="OPPOSans M" panose="00020600040101010101" pitchFamily="18" charset="-122"/>
                </a:rPr>
                <a:t>武汉凌久微电子有限公司</a:t>
              </a:r>
            </a:p>
          </p:txBody>
        </p:sp>
        <p:sp>
          <p:nvSpPr>
            <p:cNvPr id="102" name="Rectangle 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030" y="8928"/>
              <a:ext cx="1702" cy="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OPPOSans M" panose="00020600040101010101" pitchFamily="18" charset="-122"/>
                </a:rPr>
                <a:t>出题单位</a:t>
              </a:r>
            </a:p>
          </p:txBody>
        </p:sp>
      </p:grpSp>
      <p:pic>
        <p:nvPicPr>
          <p:cNvPr id="9" name="图片 8" descr="logo-简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698365" y="318770"/>
            <a:ext cx="2977515" cy="716915"/>
          </a:xfrm>
          <a:prstGeom prst="rect">
            <a:avLst/>
          </a:prstGeom>
        </p:spPr>
      </p:pic>
      <p:pic>
        <p:nvPicPr>
          <p:cNvPr id="117" name="图片 116" descr="edea30d691e6416284917024796042671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88925" y="279400"/>
            <a:ext cx="764540" cy="772795"/>
          </a:xfrm>
          <a:prstGeom prst="rect">
            <a:avLst/>
          </a:prstGeom>
        </p:spPr>
      </p:pic>
      <p:pic>
        <p:nvPicPr>
          <p:cNvPr id="119" name="图片 118" descr="u=3978270987,2753901701&amp;fm=253&amp;fmt=auto&amp;app=138&amp;f=PNG"/>
          <p:cNvPicPr>
            <a:picLocks noChangeAspect="1"/>
          </p:cNvPicPr>
          <p:nvPr/>
        </p:nvPicPr>
        <p:blipFill>
          <a:blip r:embed="rId41"/>
          <a:srcRect l="15966" t="17929" r="17727" b="10850"/>
          <a:stretch>
            <a:fillRect/>
          </a:stretch>
        </p:blipFill>
        <p:spPr>
          <a:xfrm>
            <a:off x="1397000" y="189230"/>
            <a:ext cx="819785" cy="77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组合 302"/>
          <p:cNvGrpSpPr/>
          <p:nvPr/>
        </p:nvGrpSpPr>
        <p:grpSpPr>
          <a:xfrm>
            <a:off x="266230" y="1005390"/>
            <a:ext cx="12070080" cy="550545"/>
            <a:chOff x="-2515521" y="1179390"/>
            <a:chExt cx="16860720" cy="556260"/>
          </a:xfrm>
        </p:grpSpPr>
        <p:sp>
          <p:nvSpPr>
            <p:cNvPr id="304" name="矩形 303"/>
            <p:cNvSpPr/>
            <p:nvPr/>
          </p:nvSpPr>
          <p:spPr>
            <a:xfrm rot="5400000">
              <a:off x="5636709" y="-6972840"/>
              <a:ext cx="556260" cy="16860720"/>
            </a:xfrm>
            <a:prstGeom prst="rect">
              <a:avLst/>
            </a:prstGeom>
            <a:gradFill flip="none" rotWithShape="1">
              <a:gsLst>
                <a:gs pos="74000">
                  <a:schemeClr val="accent2">
                    <a:lumMod val="75000"/>
                  </a:schemeClr>
                </a:gs>
                <a:gs pos="28000">
                  <a:schemeClr val="accent2">
                    <a:lumMod val="75000"/>
                  </a:schemeClr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22225" cap="flat" cmpd="sng" algn="ctr">
              <a:gradFill>
                <a:gsLst>
                  <a:gs pos="52300">
                    <a:srgbClr val="FFFFFF"/>
                  </a:gs>
                  <a:gs pos="26000">
                    <a:srgbClr val="FFFFFF">
                      <a:alpha val="0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305" name="TextBox 5"/>
            <p:cNvSpPr txBox="1"/>
            <p:nvPr/>
          </p:nvSpPr>
          <p:spPr>
            <a:xfrm>
              <a:off x="2350244" y="1228809"/>
              <a:ext cx="7554410" cy="453390"/>
            </a:xfrm>
            <a:prstGeom prst="rect">
              <a:avLst/>
            </a:prstGeom>
            <a:noFill/>
          </p:spPr>
          <p:txBody>
            <a:bodyPr wrap="none" lIns="216000" tIns="0" rIns="0" bIns="0" anchor="ctr">
              <a:noAutofit/>
            </a:bodyPr>
            <a:lstStyle/>
            <a:p>
              <a:pPr algn="ctr">
                <a:defRPr/>
              </a:pPr>
              <a:r>
                <a:rPr lang="zh-CN" altLang="en-US" sz="28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国际局势</a:t>
              </a:r>
              <a:r>
                <a:rPr lang="zh-CN" altLang="en-US" sz="2800" b="1" kern="0" dirty="0"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对</a:t>
              </a:r>
              <a:r>
                <a:rPr lang="zh-CN" altLang="en-US" sz="28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芯片、信号处理</a:t>
              </a:r>
              <a:r>
                <a:rPr lang="zh-CN" altLang="en-US" sz="2800" b="1" kern="0" dirty="0"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提出了更高要求</a:t>
              </a:r>
              <a:r>
                <a:rPr lang="en-US" altLang="zh-CN" sz="28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 </a:t>
              </a:r>
              <a:endParaRPr kumimoji="0" lang="zh-CN" altLang="en-US" sz="3200" b="1" i="0" u="none" strike="noStrike" kern="0" cap="none" spc="0" normalizeH="0" baseline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0" y="0"/>
            <a:ext cx="12599035" cy="781685"/>
            <a:chOff x="0" y="580"/>
            <a:chExt cx="19200" cy="1231"/>
          </a:xfrm>
        </p:grpSpPr>
        <p:sp>
          <p:nvSpPr>
            <p:cNvPr id="76" name="任意多边形: 形状 7"/>
            <p:cNvSpPr/>
            <p:nvPr>
              <p:custDataLst>
                <p:tags r:id="rId2"/>
              </p:custDataLst>
            </p:nvPr>
          </p:nvSpPr>
          <p:spPr>
            <a:xfrm>
              <a:off x="0" y="58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77" name="PA-文本框 6"/>
            <p:cNvSpPr txBox="1"/>
            <p:nvPr>
              <p:custDataLst>
                <p:tags r:id="rId3"/>
              </p:custDataLst>
            </p:nvPr>
          </p:nvSpPr>
          <p:spPr>
            <a:xfrm>
              <a:off x="8759" y="904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sp>
          <p:nvSpPr>
            <p:cNvPr id="78" name="PA-任意多边形 7"/>
            <p:cNvSpPr/>
            <p:nvPr>
              <p:custDataLst>
                <p:tags r:id="rId4"/>
              </p:custDataLst>
            </p:nvPr>
          </p:nvSpPr>
          <p:spPr>
            <a:xfrm>
              <a:off x="4986" y="753"/>
              <a:ext cx="2706" cy="830"/>
            </a:xfrm>
            <a:prstGeom prst="roundRect">
              <a:avLst/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79" name="PA-文本框 8"/>
            <p:cNvSpPr txBox="1"/>
            <p:nvPr>
              <p:custDataLst>
                <p:tags r:id="rId5"/>
              </p:custDataLst>
            </p:nvPr>
          </p:nvSpPr>
          <p:spPr>
            <a:xfrm>
              <a:off x="4986" y="753"/>
              <a:ext cx="2704" cy="83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  <a:sym typeface="汉仪雅酷黑简" panose="00020600040101010101" charset="-122"/>
                  <a:rtl val="0"/>
                </a:rPr>
                <a:t>赛题背景</a:t>
              </a:r>
            </a:p>
          </p:txBody>
        </p:sp>
        <p:sp>
          <p:nvSpPr>
            <p:cNvPr id="80" name="PA-文本框 15"/>
            <p:cNvSpPr txBox="1"/>
            <p:nvPr>
              <p:custDataLst>
                <p:tags r:id="rId6"/>
              </p:custDataLst>
            </p:nvPr>
          </p:nvSpPr>
          <p:spPr>
            <a:xfrm>
              <a:off x="15114" y="89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81" name="任意多边形: 形状 14"/>
            <p:cNvSpPr/>
            <p:nvPr>
              <p:custDataLst>
                <p:tags r:id="rId7"/>
              </p:custDataLst>
            </p:nvPr>
          </p:nvSpPr>
          <p:spPr>
            <a:xfrm flipV="1">
              <a:off x="0" y="172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83" name="PA-文本框 10"/>
            <p:cNvSpPr txBox="1"/>
            <p:nvPr>
              <p:custDataLst>
                <p:tags r:id="rId8"/>
              </p:custDataLst>
            </p:nvPr>
          </p:nvSpPr>
          <p:spPr>
            <a:xfrm>
              <a:off x="11972" y="89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核心技术</a:t>
              </a:r>
            </a:p>
          </p:txBody>
        </p:sp>
        <p:cxnSp>
          <p:nvCxnSpPr>
            <p:cNvPr id="84" name="PA-直接连接符 26"/>
            <p:cNvCxnSpPr/>
            <p:nvPr>
              <p:custDataLst>
                <p:tags r:id="rId9"/>
              </p:custDataLst>
            </p:nvPr>
          </p:nvCxnSpPr>
          <p:spPr>
            <a:xfrm>
              <a:off x="14784" y="93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PA-直接连接符 26"/>
            <p:cNvCxnSpPr/>
            <p:nvPr>
              <p:custDataLst>
                <p:tags r:id="rId10"/>
              </p:custDataLst>
            </p:nvPr>
          </p:nvCxnSpPr>
          <p:spPr>
            <a:xfrm>
              <a:off x="11529" y="92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1120+"/>
            <p:cNvGrpSpPr/>
            <p:nvPr/>
          </p:nvGrpSpPr>
          <p:grpSpPr>
            <a:xfrm>
              <a:off x="3969" y="928"/>
              <a:ext cx="406" cy="516"/>
              <a:chOff x="981945" y="2960072"/>
              <a:chExt cx="257801" cy="327873"/>
            </a:xfrm>
          </p:grpSpPr>
          <p:sp>
            <p:nvSpPr>
              <p:cNvPr id="88" name="PA-矩形 114"/>
              <p:cNvSpPr/>
              <p:nvPr>
                <p:custDataLst>
                  <p:tags r:id="rId11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89" name="PA-任意多边形 121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</p:grpSp>
      <p:cxnSp>
        <p:nvCxnSpPr>
          <p:cNvPr id="90" name="PA-直接连接符 26"/>
          <p:cNvCxnSpPr/>
          <p:nvPr>
            <p:custDataLst>
              <p:tags r:id="rId1"/>
            </p:custDataLst>
          </p:nvPr>
        </p:nvCxnSpPr>
        <p:spPr>
          <a:xfrm>
            <a:off x="5357660" y="221165"/>
            <a:ext cx="0" cy="314960"/>
          </a:xfrm>
          <a:prstGeom prst="line">
            <a:avLst/>
          </a:prstGeom>
          <a:ln>
            <a:gradFill>
              <a:gsLst>
                <a:gs pos="11000">
                  <a:schemeClr val="accent2"/>
                </a:gs>
                <a:gs pos="87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湖工横版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095" y="99060"/>
            <a:ext cx="2270125" cy="558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593" t="12111" r="57551" b="15450"/>
          <a:stretch>
            <a:fillRect/>
          </a:stretch>
        </p:blipFill>
        <p:spPr>
          <a:xfrm>
            <a:off x="11627485" y="38100"/>
            <a:ext cx="594360" cy="603250"/>
          </a:xfrm>
          <a:prstGeom prst="rect">
            <a:avLst/>
          </a:prstGeom>
        </p:spPr>
      </p:pic>
      <p:sp>
        <p:nvSpPr>
          <p:cNvPr id="46" name="矩形: 圆角 45"/>
          <p:cNvSpPr/>
          <p:nvPr/>
        </p:nvSpPr>
        <p:spPr>
          <a:xfrm>
            <a:off x="442912" y="1820060"/>
            <a:ext cx="5506253" cy="2273257"/>
          </a:xfrm>
          <a:prstGeom prst="roundRect">
            <a:avLst>
              <a:gd name="adj" fmla="val 2000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7" name="矩形: 圆顶角 46"/>
          <p:cNvSpPr/>
          <p:nvPr/>
        </p:nvSpPr>
        <p:spPr>
          <a:xfrm>
            <a:off x="771222" y="1820061"/>
            <a:ext cx="4851321" cy="456756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812032" y="1879162"/>
            <a:ext cx="158016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2200" dirty="0">
                <a:gradFill>
                  <a:gsLst>
                    <a:gs pos="0">
                      <a:srgbClr val="FFFFFF"/>
                    </a:gs>
                    <a:gs pos="77000">
                      <a:srgbClr val="FFD966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schemeClr val="accent1">
                      <a:lumMod val="50000"/>
                      <a:alpha val="56000"/>
                    </a:scheme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2.0 95 ExtraBold" panose="00020600040101010101" charset="-122"/>
              </a:rPr>
              <a:t>国际关系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433009" y="1847494"/>
            <a:ext cx="2605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电子战技术发展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+mj-ea"/>
              <a:ea typeface="+mj-ea"/>
              <a:cs typeface="OPPOSans M" panose="00020600040101010101" pitchFamily="18" charset="-122"/>
              <a:sym typeface="+mn-ea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338874" y="1905767"/>
            <a:ext cx="0" cy="28534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/>
          <p:cNvSpPr/>
          <p:nvPr/>
        </p:nvSpPr>
        <p:spPr>
          <a:xfrm>
            <a:off x="442912" y="4239012"/>
            <a:ext cx="5506253" cy="2273257"/>
          </a:xfrm>
          <a:prstGeom prst="roundRect">
            <a:avLst>
              <a:gd name="adj" fmla="val 2000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771222" y="4239013"/>
            <a:ext cx="4851321" cy="456756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812032" y="4298114"/>
            <a:ext cx="158016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2200" dirty="0">
                <a:gradFill>
                  <a:gsLst>
                    <a:gs pos="0">
                      <a:srgbClr val="FFFFFF"/>
                    </a:gs>
                    <a:gs pos="77000">
                      <a:srgbClr val="FFD966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schemeClr val="accent1">
                      <a:lumMod val="50000"/>
                      <a:alpha val="56000"/>
                    </a:scheme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2.0 95 ExtraBold" panose="00020600040101010101" charset="-122"/>
              </a:rPr>
              <a:t>国内军备 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2433009" y="4266446"/>
            <a:ext cx="351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雷达、声呐设备发展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+mj-ea"/>
              <a:ea typeface="+mj-ea"/>
              <a:cs typeface="OPPOSans M" panose="00020600040101010101" pitchFamily="18" charset="-122"/>
              <a:sym typeface="+mn-ea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2338874" y="4324719"/>
            <a:ext cx="0" cy="28534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58278" y="4788359"/>
            <a:ext cx="4152482" cy="80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要统筹航空兵部队和地导、雷达、电子对抗等部队发展。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915916" y="5672805"/>
            <a:ext cx="31563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b="1" i="1" dirty="0">
                <a:solidFill>
                  <a:schemeClr val="accent1"/>
                </a:solidFill>
              </a:rPr>
              <a:t>——</a:t>
            </a:r>
            <a:r>
              <a:rPr lang="zh-CN" altLang="en-US" sz="2000" b="1" i="1" dirty="0">
                <a:solidFill>
                  <a:schemeClr val="accent1"/>
                </a:solidFill>
              </a:rPr>
              <a:t>总书记视察西部战区空军时强调</a:t>
            </a:r>
          </a:p>
        </p:txBody>
      </p:sp>
      <p:sp>
        <p:nvSpPr>
          <p:cNvPr id="72" name="矩形: 圆角 71"/>
          <p:cNvSpPr/>
          <p:nvPr/>
        </p:nvSpPr>
        <p:spPr>
          <a:xfrm>
            <a:off x="6229519" y="1820060"/>
            <a:ext cx="5506253" cy="2273257"/>
          </a:xfrm>
          <a:prstGeom prst="roundRect">
            <a:avLst>
              <a:gd name="adj" fmla="val 2000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73" name="矩形: 圆顶角 72"/>
          <p:cNvSpPr/>
          <p:nvPr/>
        </p:nvSpPr>
        <p:spPr>
          <a:xfrm>
            <a:off x="6557829" y="1820061"/>
            <a:ext cx="4851321" cy="456756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6598639" y="1879162"/>
            <a:ext cx="158016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200" dirty="0">
                <a:gradFill>
                  <a:gsLst>
                    <a:gs pos="0">
                      <a:srgbClr val="FFFFFF"/>
                    </a:gs>
                    <a:gs pos="77000">
                      <a:srgbClr val="FFD966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schemeClr val="accent1">
                      <a:lumMod val="50000"/>
                      <a:alpha val="56000"/>
                    </a:scheme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2.0 95 ExtraBold" panose="00020600040101010101" charset="-122"/>
              </a:rPr>
              <a:t>需求攀升 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8219616" y="1847494"/>
            <a:ext cx="2605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国内外市场增长明显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+mj-ea"/>
              <a:ea typeface="+mj-ea"/>
              <a:cs typeface="OPPOSans M" panose="00020600040101010101" pitchFamily="18" charset="-122"/>
              <a:sym typeface="+mn-ea"/>
            </a:endParaRPr>
          </a:p>
        </p:txBody>
      </p:sp>
      <p:cxnSp>
        <p:nvCxnSpPr>
          <p:cNvPr id="86" name="直接连接符 85"/>
          <p:cNvCxnSpPr/>
          <p:nvPr/>
        </p:nvCxnSpPr>
        <p:spPr>
          <a:xfrm>
            <a:off x="8125481" y="1905767"/>
            <a:ext cx="0" cy="28534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矩形: 圆角 90"/>
          <p:cNvSpPr/>
          <p:nvPr/>
        </p:nvSpPr>
        <p:spPr>
          <a:xfrm>
            <a:off x="6229519" y="4239012"/>
            <a:ext cx="5506253" cy="2273257"/>
          </a:xfrm>
          <a:prstGeom prst="roundRect">
            <a:avLst>
              <a:gd name="adj" fmla="val 2000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92" name="矩形: 圆顶角 91"/>
          <p:cNvSpPr/>
          <p:nvPr/>
        </p:nvSpPr>
        <p:spPr>
          <a:xfrm>
            <a:off x="6557829" y="4239013"/>
            <a:ext cx="4851321" cy="456756"/>
          </a:xfrm>
          <a:prstGeom prst="round2SameRect">
            <a:avLst>
              <a:gd name="adj1" fmla="val 0"/>
              <a:gd name="adj2" fmla="val 25024"/>
            </a:avLst>
          </a:pr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文本框 92"/>
          <p:cNvSpPr txBox="1"/>
          <p:nvPr/>
        </p:nvSpPr>
        <p:spPr>
          <a:xfrm>
            <a:off x="6598639" y="4298114"/>
            <a:ext cx="158016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2200" dirty="0">
                <a:gradFill>
                  <a:gsLst>
                    <a:gs pos="0">
                      <a:srgbClr val="FFFFFF"/>
                    </a:gs>
                    <a:gs pos="77000">
                      <a:srgbClr val="FFD966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schemeClr val="accent1">
                      <a:lumMod val="50000"/>
                      <a:alpha val="56000"/>
                    </a:scheme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2.0 95 ExtraBold" panose="00020600040101010101" charset="-122"/>
                <a:sym typeface="+mn-ea"/>
              </a:rPr>
              <a:t>全球份额</a:t>
            </a:r>
            <a:endParaRPr lang="zh-CN" altLang="en-US" sz="2200" dirty="0">
              <a:gradFill>
                <a:gsLst>
                  <a:gs pos="0">
                    <a:srgbClr val="FFFFFF"/>
                  </a:gs>
                  <a:gs pos="77000">
                    <a:srgbClr val="FFD966"/>
                  </a:gs>
                </a:gsLst>
                <a:lin ang="5400000" scaled="0"/>
              </a:gradFill>
              <a:effectLst>
                <a:outerShdw blurRad="50800" dist="38100" dir="5400000" algn="t" rotWithShape="0">
                  <a:schemeClr val="accent1">
                    <a:lumMod val="50000"/>
                    <a:alpha val="56000"/>
                  </a:scheme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2.0 95 ExtraBold" panose="00020600040101010101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219616" y="4266446"/>
            <a:ext cx="351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 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国内企业占比仅</a:t>
            </a:r>
            <a:r>
              <a:rPr lang="zh-CN" altLang="en-US" sz="20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5.74%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+mj-ea"/>
              <a:ea typeface="+mj-ea"/>
              <a:cs typeface="OPPOSans M" panose="00020600040101010101" pitchFamily="18" charset="-122"/>
              <a:sym typeface="+mn-ea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8125481" y="4324719"/>
            <a:ext cx="0" cy="285344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6667219" y="2247583"/>
            <a:ext cx="4220105" cy="753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cap="none" spc="0" normalizeH="0" baseline="0" dirty="0"/>
              <a:t>信号处理市场庞大</a:t>
            </a:r>
            <a:r>
              <a:rPr lang="zh-CN" altLang="en-US" sz="3200" dirty="0">
                <a:solidFill>
                  <a:schemeClr val="accent3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sym typeface="+mn-ea"/>
              </a:rPr>
              <a:t>千亿规模 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8211350" y="3842949"/>
            <a:ext cx="4044315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rPr>
              <a:t>数据综合自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rPr>
              <a:t>MarketsandMarkets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rPr>
              <a:t>等多方行业报告</a:t>
            </a:r>
          </a:p>
        </p:txBody>
      </p:sp>
      <p:graphicFrame>
        <p:nvGraphicFramePr>
          <p:cNvPr id="100" name="图表 99" descr="7b0a202020202263686172745265734964223a20223230343736343634220a7d0a"/>
          <p:cNvGraphicFramePr/>
          <p:nvPr/>
        </p:nvGraphicFramePr>
        <p:xfrm>
          <a:off x="6171779" y="4702123"/>
          <a:ext cx="4603683" cy="1940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12" name="图片 11" descr="58b2cb44c5fa795c7acda25dcf94a3d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0372" y="4520823"/>
            <a:ext cx="2971165" cy="2204085"/>
          </a:xfrm>
          <a:prstGeom prst="rect">
            <a:avLst/>
          </a:prstGeom>
        </p:spPr>
      </p:pic>
      <p:graphicFrame>
        <p:nvGraphicFramePr>
          <p:cNvPr id="11" name="图表 10" descr="7b0a202020202263686172745265734964223a202234363235383236220a7d0a"/>
          <p:cNvGraphicFramePr/>
          <p:nvPr/>
        </p:nvGraphicFramePr>
        <p:xfrm>
          <a:off x="6207731" y="2409766"/>
          <a:ext cx="5506253" cy="1573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0067925" y="4924425"/>
            <a:ext cx="1668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美日韩</a:t>
            </a:r>
            <a:r>
              <a:rPr lang="zh-CN" altLang="en-US" sz="2000" dirty="0">
                <a:solidFill>
                  <a:schemeClr val="tx1"/>
                </a:solidFill>
              </a:rPr>
              <a:t>控股企业持有</a:t>
            </a:r>
            <a:r>
              <a:rPr lang="en-US" altLang="zh-CN" sz="2000" b="1" kern="0" dirty="0">
                <a:solidFill>
                  <a:srgbClr val="F7802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M" panose="00020600040101010101" pitchFamily="18" charset="-122"/>
              </a:rPr>
              <a:t>94.26%</a:t>
            </a:r>
            <a:r>
              <a:rPr lang="zh-CN" altLang="en-US" sz="2000" dirty="0">
                <a:solidFill>
                  <a:schemeClr val="tx1"/>
                </a:solidFill>
              </a:rPr>
              <a:t>份额</a:t>
            </a:r>
            <a:endParaRPr kumimoji="1"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" b="24946"/>
          <a:stretch>
            <a:fillRect/>
          </a:stretch>
        </p:blipFill>
        <p:spPr>
          <a:xfrm>
            <a:off x="712725" y="2670395"/>
            <a:ext cx="2591853" cy="13330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61980" y="2688597"/>
            <a:ext cx="2390657" cy="13148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5" name="文本框 104"/>
          <p:cNvSpPr txBox="1"/>
          <p:nvPr/>
        </p:nvSpPr>
        <p:spPr>
          <a:xfrm>
            <a:off x="3933388" y="2314160"/>
            <a:ext cx="1446186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dirty="0">
                <a:cs typeface="+mn-cs"/>
              </a:rPr>
              <a:t>歼10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0" y="0"/>
            <a:ext cx="12599035" cy="781685"/>
            <a:chOff x="0" y="580"/>
            <a:chExt cx="19200" cy="1231"/>
          </a:xfrm>
        </p:grpSpPr>
        <p:sp>
          <p:nvSpPr>
            <p:cNvPr id="76" name="任意多边形: 形状 7"/>
            <p:cNvSpPr/>
            <p:nvPr>
              <p:custDataLst>
                <p:tags r:id="rId9"/>
              </p:custDataLst>
            </p:nvPr>
          </p:nvSpPr>
          <p:spPr>
            <a:xfrm>
              <a:off x="0" y="58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77" name="PA-文本框 6"/>
            <p:cNvSpPr txBox="1"/>
            <p:nvPr>
              <p:custDataLst>
                <p:tags r:id="rId10"/>
              </p:custDataLst>
            </p:nvPr>
          </p:nvSpPr>
          <p:spPr>
            <a:xfrm>
              <a:off x="8759" y="904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sp>
          <p:nvSpPr>
            <p:cNvPr id="78" name="PA-任意多边形 7"/>
            <p:cNvSpPr/>
            <p:nvPr>
              <p:custDataLst>
                <p:tags r:id="rId11"/>
              </p:custDataLst>
            </p:nvPr>
          </p:nvSpPr>
          <p:spPr>
            <a:xfrm>
              <a:off x="4986" y="753"/>
              <a:ext cx="2706" cy="830"/>
            </a:xfrm>
            <a:prstGeom prst="roundRect">
              <a:avLst/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zh-CN" altLang="en-US" sz="2400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  <p:sp>
          <p:nvSpPr>
            <p:cNvPr id="79" name="PA-文本框 8"/>
            <p:cNvSpPr txBox="1"/>
            <p:nvPr>
              <p:custDataLst>
                <p:tags r:id="rId12"/>
              </p:custDataLst>
            </p:nvPr>
          </p:nvSpPr>
          <p:spPr>
            <a:xfrm>
              <a:off x="4986" y="753"/>
              <a:ext cx="2704" cy="83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  <a:sym typeface="汉仪雅酷黑简" panose="00020600040101010101" charset="-122"/>
                  <a:rtl val="0"/>
                </a:rPr>
                <a:t>赛题背景</a:t>
              </a:r>
            </a:p>
          </p:txBody>
        </p:sp>
        <p:sp>
          <p:nvSpPr>
            <p:cNvPr id="80" name="PA-文本框 15"/>
            <p:cNvSpPr txBox="1"/>
            <p:nvPr>
              <p:custDataLst>
                <p:tags r:id="rId13"/>
              </p:custDataLst>
            </p:nvPr>
          </p:nvSpPr>
          <p:spPr>
            <a:xfrm>
              <a:off x="15114" y="89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81" name="任意多边形: 形状 14"/>
            <p:cNvSpPr/>
            <p:nvPr>
              <p:custDataLst>
                <p:tags r:id="rId14"/>
              </p:custDataLst>
            </p:nvPr>
          </p:nvSpPr>
          <p:spPr>
            <a:xfrm flipV="1">
              <a:off x="0" y="172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83" name="PA-文本框 10"/>
            <p:cNvSpPr txBox="1"/>
            <p:nvPr>
              <p:custDataLst>
                <p:tags r:id="rId15"/>
              </p:custDataLst>
            </p:nvPr>
          </p:nvSpPr>
          <p:spPr>
            <a:xfrm>
              <a:off x="11972" y="89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核心技术</a:t>
              </a:r>
            </a:p>
          </p:txBody>
        </p:sp>
        <p:cxnSp>
          <p:nvCxnSpPr>
            <p:cNvPr id="84" name="PA-直接连接符 26"/>
            <p:cNvCxnSpPr/>
            <p:nvPr>
              <p:custDataLst>
                <p:tags r:id="rId16"/>
              </p:custDataLst>
            </p:nvPr>
          </p:nvCxnSpPr>
          <p:spPr>
            <a:xfrm>
              <a:off x="14784" y="93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PA-直接连接符 26"/>
            <p:cNvCxnSpPr/>
            <p:nvPr>
              <p:custDataLst>
                <p:tags r:id="rId17"/>
              </p:custDataLst>
            </p:nvPr>
          </p:nvCxnSpPr>
          <p:spPr>
            <a:xfrm>
              <a:off x="11529" y="92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1120+"/>
            <p:cNvGrpSpPr/>
            <p:nvPr/>
          </p:nvGrpSpPr>
          <p:grpSpPr>
            <a:xfrm>
              <a:off x="3969" y="928"/>
              <a:ext cx="406" cy="516"/>
              <a:chOff x="981945" y="2960072"/>
              <a:chExt cx="257801" cy="327873"/>
            </a:xfrm>
          </p:grpSpPr>
          <p:sp>
            <p:nvSpPr>
              <p:cNvPr id="88" name="PA-矩形 114"/>
              <p:cNvSpPr/>
              <p:nvPr>
                <p:custDataLst>
                  <p:tags r:id="rId18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89" name="PA-任意多边形 1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</p:grpSp>
      <p:cxnSp>
        <p:nvCxnSpPr>
          <p:cNvPr id="90" name="PA-直接连接符 26"/>
          <p:cNvCxnSpPr/>
          <p:nvPr>
            <p:custDataLst>
              <p:tags r:id="rId1"/>
            </p:custDataLst>
          </p:nvPr>
        </p:nvCxnSpPr>
        <p:spPr>
          <a:xfrm>
            <a:off x="5357660" y="221165"/>
            <a:ext cx="0" cy="314960"/>
          </a:xfrm>
          <a:prstGeom prst="line">
            <a:avLst/>
          </a:prstGeom>
          <a:ln>
            <a:gradFill>
              <a:gsLst>
                <a:gs pos="11000">
                  <a:schemeClr val="accent2"/>
                </a:gs>
                <a:gs pos="87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湖工横版logo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5095" y="99060"/>
            <a:ext cx="2270125" cy="558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593" t="12111" r="57551" b="15450"/>
          <a:stretch>
            <a:fillRect/>
          </a:stretch>
        </p:blipFill>
        <p:spPr>
          <a:xfrm>
            <a:off x="11627485" y="38100"/>
            <a:ext cx="594360" cy="60325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266230" y="1005390"/>
            <a:ext cx="12070080" cy="550545"/>
            <a:chOff x="-2515521" y="1179390"/>
            <a:chExt cx="16860720" cy="556260"/>
          </a:xfrm>
        </p:grpSpPr>
        <p:sp>
          <p:nvSpPr>
            <p:cNvPr id="40" name="矩形 39"/>
            <p:cNvSpPr/>
            <p:nvPr/>
          </p:nvSpPr>
          <p:spPr>
            <a:xfrm rot="5400000">
              <a:off x="5636709" y="-6972840"/>
              <a:ext cx="556260" cy="16860720"/>
            </a:xfrm>
            <a:prstGeom prst="rect">
              <a:avLst/>
            </a:prstGeom>
            <a:gradFill flip="none" rotWithShape="1">
              <a:gsLst>
                <a:gs pos="74000">
                  <a:schemeClr val="accent2">
                    <a:lumMod val="75000"/>
                  </a:schemeClr>
                </a:gs>
                <a:gs pos="28000">
                  <a:schemeClr val="accent2">
                    <a:lumMod val="75000"/>
                  </a:schemeClr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22225" cap="flat" cmpd="sng" algn="ctr">
              <a:gradFill>
                <a:gsLst>
                  <a:gs pos="52300">
                    <a:srgbClr val="FFFFFF"/>
                  </a:gs>
                  <a:gs pos="26000">
                    <a:srgbClr val="FFFFFF">
                      <a:alpha val="0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42" name="TextBox 5"/>
            <p:cNvSpPr txBox="1"/>
            <p:nvPr/>
          </p:nvSpPr>
          <p:spPr>
            <a:xfrm>
              <a:off x="2350244" y="1228809"/>
              <a:ext cx="7554410" cy="453390"/>
            </a:xfrm>
            <a:prstGeom prst="rect">
              <a:avLst/>
            </a:prstGeom>
            <a:noFill/>
          </p:spPr>
          <p:txBody>
            <a:bodyPr wrap="none" lIns="216000" tIns="0" rIns="0" bIns="0" anchor="ctr">
              <a:noAutofit/>
            </a:bodyPr>
            <a:lstStyle/>
            <a:p>
              <a:pPr algn="ctr">
                <a:defRPr/>
              </a:pPr>
              <a:r>
                <a:rPr lang="zh-CN" altLang="en-US" sz="2400" b="1" kern="0" dirty="0"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国内信号处理发展存在诸多</a:t>
              </a:r>
              <a:r>
                <a:rPr lang="zh-CN" altLang="en-US" sz="24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难点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 </a:t>
              </a:r>
              <a:endParaRPr kumimoji="0" lang="zh-CN" altLang="en-US" sz="2800" b="1" i="0" u="none" strike="noStrike" kern="0" cap="none" spc="0" normalizeH="0" baseline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1183" y="6209155"/>
            <a:ext cx="11557623" cy="862698"/>
            <a:chOff x="531660" y="6291983"/>
            <a:chExt cx="11326313" cy="707333"/>
          </a:xfrm>
        </p:grpSpPr>
        <p:sp>
          <p:nvSpPr>
            <p:cNvPr id="92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chemeClr val="bg1"/>
                </a:gs>
                <a:gs pos="85000">
                  <a:schemeClr val="bg1"/>
                </a:gs>
                <a:gs pos="1400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chemeClr val="accent2">
                      <a:alpha val="0"/>
                    </a:schemeClr>
                  </a:gs>
                  <a:gs pos="6000">
                    <a:schemeClr val="accent1"/>
                  </a:gs>
                  <a:gs pos="98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93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94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3149124" y="6437451"/>
            <a:ext cx="6301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关键核心技术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要不来，买不来、讨不来！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49" name="PA-任意多边形 21"/>
          <p:cNvSpPr/>
          <p:nvPr>
            <p:custDataLst>
              <p:tags r:id="rId2"/>
            </p:custDataLst>
          </p:nvPr>
        </p:nvSpPr>
        <p:spPr>
          <a:xfrm flipH="1">
            <a:off x="510705" y="1686548"/>
            <a:ext cx="5679275" cy="4769308"/>
          </a:xfrm>
          <a:custGeom>
            <a:avLst/>
            <a:gdLst>
              <a:gd name="connsiteX0" fmla="*/ 2173410 w 3270481"/>
              <a:gd name="connsiteY0" fmla="*/ 1 h 4522126"/>
              <a:gd name="connsiteX1" fmla="*/ 2172418 w 3270481"/>
              <a:gd name="connsiteY1" fmla="*/ 1 h 4522126"/>
              <a:gd name="connsiteX2" fmla="*/ 2173482 w 3270481"/>
              <a:gd name="connsiteY2" fmla="*/ 341 h 4522126"/>
              <a:gd name="connsiteX3" fmla="*/ 2169418 w 3270481"/>
              <a:gd name="connsiteY3" fmla="*/ 0 h 4522126"/>
              <a:gd name="connsiteX4" fmla="*/ 2169415 w 3270481"/>
              <a:gd name="connsiteY4" fmla="*/ 1 h 4522126"/>
              <a:gd name="connsiteX5" fmla="*/ 1356970 w 3270481"/>
              <a:gd name="connsiteY5" fmla="*/ 1 h 4522126"/>
              <a:gd name="connsiteX6" fmla="*/ 1355978 w 3270481"/>
              <a:gd name="connsiteY6" fmla="*/ 1 h 4522126"/>
              <a:gd name="connsiteX7" fmla="*/ 1352980 w 3270481"/>
              <a:gd name="connsiteY7" fmla="*/ 1 h 4522126"/>
              <a:gd name="connsiteX8" fmla="*/ 1352978 w 3270481"/>
              <a:gd name="connsiteY8" fmla="*/ 0 h 4522126"/>
              <a:gd name="connsiteX9" fmla="*/ 1352975 w 3270481"/>
              <a:gd name="connsiteY9" fmla="*/ 1 h 4522126"/>
              <a:gd name="connsiteX10" fmla="*/ 977763 w 3270481"/>
              <a:gd name="connsiteY10" fmla="*/ 1 h 4522126"/>
              <a:gd name="connsiteX11" fmla="*/ 161323 w 3270481"/>
              <a:gd name="connsiteY11" fmla="*/ 1 h 4522126"/>
              <a:gd name="connsiteX12" fmla="*/ 0 w 3270481"/>
              <a:gd name="connsiteY12" fmla="*/ 255467 h 4522126"/>
              <a:gd name="connsiteX13" fmla="*/ 0 w 3270481"/>
              <a:gd name="connsiteY13" fmla="*/ 675318 h 4522126"/>
              <a:gd name="connsiteX14" fmla="*/ 0 w 3270481"/>
              <a:gd name="connsiteY14" fmla="*/ 1704352 h 4522126"/>
              <a:gd name="connsiteX15" fmla="*/ 0 w 3270481"/>
              <a:gd name="connsiteY15" fmla="*/ 2124204 h 4522126"/>
              <a:gd name="connsiteX16" fmla="*/ 0 w 3270481"/>
              <a:gd name="connsiteY16" fmla="*/ 2809737 h 4522126"/>
              <a:gd name="connsiteX17" fmla="*/ 0 w 3270481"/>
              <a:gd name="connsiteY17" fmla="*/ 2948814 h 4522126"/>
              <a:gd name="connsiteX18" fmla="*/ 0 w 3270481"/>
              <a:gd name="connsiteY18" fmla="*/ 4258622 h 4522126"/>
              <a:gd name="connsiteX19" fmla="*/ 0 w 3270481"/>
              <a:gd name="connsiteY19" fmla="*/ 4397698 h 4522126"/>
              <a:gd name="connsiteX20" fmla="*/ 82277 w 3270481"/>
              <a:gd name="connsiteY20" fmla="*/ 4522126 h 4522126"/>
              <a:gd name="connsiteX21" fmla="*/ 898718 w 3270481"/>
              <a:gd name="connsiteY21" fmla="*/ 4522126 h 4522126"/>
              <a:gd name="connsiteX22" fmla="*/ 2371764 w 3270481"/>
              <a:gd name="connsiteY22" fmla="*/ 4522126 h 4522126"/>
              <a:gd name="connsiteX23" fmla="*/ 3188204 w 3270481"/>
              <a:gd name="connsiteY23" fmla="*/ 4522126 h 4522126"/>
              <a:gd name="connsiteX24" fmla="*/ 3270481 w 3270481"/>
              <a:gd name="connsiteY24" fmla="*/ 4397698 h 4522126"/>
              <a:gd name="connsiteX25" fmla="*/ 3270481 w 3270481"/>
              <a:gd name="connsiteY25" fmla="*/ 4258622 h 4522126"/>
              <a:gd name="connsiteX26" fmla="*/ 3270481 w 3270481"/>
              <a:gd name="connsiteY26" fmla="*/ 2948814 h 4522126"/>
              <a:gd name="connsiteX27" fmla="*/ 3270481 w 3270481"/>
              <a:gd name="connsiteY27" fmla="*/ 2809737 h 4522126"/>
              <a:gd name="connsiteX28" fmla="*/ 3270481 w 3270481"/>
              <a:gd name="connsiteY28" fmla="*/ 2124204 h 4522126"/>
              <a:gd name="connsiteX29" fmla="*/ 3270481 w 3270481"/>
              <a:gd name="connsiteY29" fmla="*/ 2080790 h 4522126"/>
              <a:gd name="connsiteX30" fmla="*/ 3270481 w 3270481"/>
              <a:gd name="connsiteY30" fmla="*/ 675318 h 4522126"/>
              <a:gd name="connsiteX31" fmla="*/ 3270481 w 3270481"/>
              <a:gd name="connsiteY31" fmla="*/ 631906 h 4522126"/>
              <a:gd name="connsiteX32" fmla="*/ 3110373 w 3270481"/>
              <a:gd name="connsiteY32" fmla="*/ 400123 h 4522126"/>
              <a:gd name="connsiteX33" fmla="*/ 3100707 w 3270481"/>
              <a:gd name="connsiteY33" fmla="*/ 400123 h 4522126"/>
              <a:gd name="connsiteX34" fmla="*/ 3100707 w 3270481"/>
              <a:gd name="connsiteY34" fmla="*/ 399611 h 4522126"/>
              <a:gd name="connsiteX35" fmla="*/ 2399130 w 3270481"/>
              <a:gd name="connsiteY35" fmla="*/ 399611 h 4522126"/>
              <a:gd name="connsiteX36" fmla="*/ 2287775 w 3270481"/>
              <a:gd name="connsiteY36" fmla="*/ 279966 h 4522126"/>
              <a:gd name="connsiteX37" fmla="*/ 2235309 w 3270481"/>
              <a:gd name="connsiteY37" fmla="*/ 71034 h 4522126"/>
              <a:gd name="connsiteX38" fmla="*/ 2234943 w 3270481"/>
              <a:gd name="connsiteY38" fmla="*/ 68193 h 4522126"/>
              <a:gd name="connsiteX39" fmla="*/ 2234104 w 3270481"/>
              <a:gd name="connsiteY39" fmla="*/ 66239 h 4522126"/>
              <a:gd name="connsiteX40" fmla="*/ 2232773 w 3270481"/>
              <a:gd name="connsiteY40" fmla="*/ 60936 h 4522126"/>
              <a:gd name="connsiteX41" fmla="*/ 2232224 w 3270481"/>
              <a:gd name="connsiteY41" fmla="*/ 61236 h 4522126"/>
              <a:gd name="connsiteX42" fmla="*/ 2233411 w 3270481"/>
              <a:gd name="connsiteY42" fmla="*/ 64024 h 4522126"/>
              <a:gd name="connsiteX43" fmla="*/ 2233521 w 3270481"/>
              <a:gd name="connsiteY43" fmla="*/ 64879 h 4522126"/>
              <a:gd name="connsiteX44" fmla="*/ 2219703 w 3270481"/>
              <a:gd name="connsiteY44" fmla="*/ 32702 h 4522126"/>
              <a:gd name="connsiteX45" fmla="*/ 2197098 w 3270481"/>
              <a:gd name="connsiteY45" fmla="*/ 8774 h 4522126"/>
              <a:gd name="connsiteX46" fmla="*/ 2170926 w 3270481"/>
              <a:gd name="connsiteY46" fmla="*/ 478 h 4522126"/>
              <a:gd name="connsiteX47" fmla="*/ 2172418 w 3270481"/>
              <a:gd name="connsiteY47" fmla="*/ 1 h 4522126"/>
              <a:gd name="connsiteX48" fmla="*/ 2169420 w 3270481"/>
              <a:gd name="connsiteY48" fmla="*/ 1 h 4522126"/>
              <a:gd name="connsiteX0-1" fmla="*/ 2173410 w 3270481"/>
              <a:gd name="connsiteY0-2" fmla="*/ 335281 h 4857406"/>
              <a:gd name="connsiteX1-3" fmla="*/ 2172418 w 3270481"/>
              <a:gd name="connsiteY1-4" fmla="*/ 335281 h 4857406"/>
              <a:gd name="connsiteX2-5" fmla="*/ 2173482 w 3270481"/>
              <a:gd name="connsiteY2-6" fmla="*/ 335621 h 4857406"/>
              <a:gd name="connsiteX3-7" fmla="*/ 2173410 w 3270481"/>
              <a:gd name="connsiteY3-8" fmla="*/ 335281 h 4857406"/>
              <a:gd name="connsiteX4-9" fmla="*/ 1925578 w 3270481"/>
              <a:gd name="connsiteY4-10" fmla="*/ 0 h 4857406"/>
              <a:gd name="connsiteX5-11" fmla="*/ 2169415 w 3270481"/>
              <a:gd name="connsiteY5-12" fmla="*/ 335281 h 4857406"/>
              <a:gd name="connsiteX6-13" fmla="*/ 1356970 w 3270481"/>
              <a:gd name="connsiteY6-14" fmla="*/ 335281 h 4857406"/>
              <a:gd name="connsiteX7-15" fmla="*/ 1355978 w 3270481"/>
              <a:gd name="connsiteY7-16" fmla="*/ 335281 h 4857406"/>
              <a:gd name="connsiteX8-17" fmla="*/ 1352980 w 3270481"/>
              <a:gd name="connsiteY8-18" fmla="*/ 335281 h 4857406"/>
              <a:gd name="connsiteX9-19" fmla="*/ 1352978 w 3270481"/>
              <a:gd name="connsiteY9-20" fmla="*/ 335280 h 4857406"/>
              <a:gd name="connsiteX10-21" fmla="*/ 1352975 w 3270481"/>
              <a:gd name="connsiteY10-22" fmla="*/ 335281 h 4857406"/>
              <a:gd name="connsiteX11-23" fmla="*/ 977763 w 3270481"/>
              <a:gd name="connsiteY11-24" fmla="*/ 335281 h 4857406"/>
              <a:gd name="connsiteX12-25" fmla="*/ 161323 w 3270481"/>
              <a:gd name="connsiteY12-26" fmla="*/ 335281 h 4857406"/>
              <a:gd name="connsiteX13-27" fmla="*/ 0 w 3270481"/>
              <a:gd name="connsiteY13-28" fmla="*/ 590747 h 4857406"/>
              <a:gd name="connsiteX14-29" fmla="*/ 0 w 3270481"/>
              <a:gd name="connsiteY14-30" fmla="*/ 1010598 h 4857406"/>
              <a:gd name="connsiteX15-31" fmla="*/ 0 w 3270481"/>
              <a:gd name="connsiteY15-32" fmla="*/ 2039632 h 4857406"/>
              <a:gd name="connsiteX16-33" fmla="*/ 0 w 3270481"/>
              <a:gd name="connsiteY16-34" fmla="*/ 2459484 h 4857406"/>
              <a:gd name="connsiteX17-35" fmla="*/ 0 w 3270481"/>
              <a:gd name="connsiteY17-36" fmla="*/ 3145017 h 4857406"/>
              <a:gd name="connsiteX18-37" fmla="*/ 0 w 3270481"/>
              <a:gd name="connsiteY18-38" fmla="*/ 3284094 h 4857406"/>
              <a:gd name="connsiteX19-39" fmla="*/ 0 w 3270481"/>
              <a:gd name="connsiteY19-40" fmla="*/ 4593902 h 4857406"/>
              <a:gd name="connsiteX20-41" fmla="*/ 0 w 3270481"/>
              <a:gd name="connsiteY20-42" fmla="*/ 4732978 h 4857406"/>
              <a:gd name="connsiteX21-43" fmla="*/ 82277 w 3270481"/>
              <a:gd name="connsiteY21-44" fmla="*/ 4857406 h 4857406"/>
              <a:gd name="connsiteX22-45" fmla="*/ 898718 w 3270481"/>
              <a:gd name="connsiteY22-46" fmla="*/ 4857406 h 4857406"/>
              <a:gd name="connsiteX23-47" fmla="*/ 2371764 w 3270481"/>
              <a:gd name="connsiteY23-48" fmla="*/ 4857406 h 4857406"/>
              <a:gd name="connsiteX24-49" fmla="*/ 3188204 w 3270481"/>
              <a:gd name="connsiteY24-50" fmla="*/ 4857406 h 4857406"/>
              <a:gd name="connsiteX25-51" fmla="*/ 3270481 w 3270481"/>
              <a:gd name="connsiteY25-52" fmla="*/ 4732978 h 4857406"/>
              <a:gd name="connsiteX26-53" fmla="*/ 3270481 w 3270481"/>
              <a:gd name="connsiteY26-54" fmla="*/ 4593902 h 4857406"/>
              <a:gd name="connsiteX27-55" fmla="*/ 3270481 w 3270481"/>
              <a:gd name="connsiteY27-56" fmla="*/ 3284094 h 4857406"/>
              <a:gd name="connsiteX28-57" fmla="*/ 3270481 w 3270481"/>
              <a:gd name="connsiteY28-58" fmla="*/ 3145017 h 4857406"/>
              <a:gd name="connsiteX29-59" fmla="*/ 3270481 w 3270481"/>
              <a:gd name="connsiteY29-60" fmla="*/ 2459484 h 4857406"/>
              <a:gd name="connsiteX30-61" fmla="*/ 3270481 w 3270481"/>
              <a:gd name="connsiteY30-62" fmla="*/ 2416070 h 4857406"/>
              <a:gd name="connsiteX31-63" fmla="*/ 3270481 w 3270481"/>
              <a:gd name="connsiteY31-64" fmla="*/ 1010598 h 4857406"/>
              <a:gd name="connsiteX32-65" fmla="*/ 3270481 w 3270481"/>
              <a:gd name="connsiteY32-66" fmla="*/ 967186 h 4857406"/>
              <a:gd name="connsiteX33-67" fmla="*/ 3110373 w 3270481"/>
              <a:gd name="connsiteY33-68" fmla="*/ 735403 h 4857406"/>
              <a:gd name="connsiteX34-69" fmla="*/ 3100707 w 3270481"/>
              <a:gd name="connsiteY34-70" fmla="*/ 735403 h 4857406"/>
              <a:gd name="connsiteX35-71" fmla="*/ 3100707 w 3270481"/>
              <a:gd name="connsiteY35-72" fmla="*/ 734891 h 4857406"/>
              <a:gd name="connsiteX36-73" fmla="*/ 2399130 w 3270481"/>
              <a:gd name="connsiteY36-74" fmla="*/ 734891 h 4857406"/>
              <a:gd name="connsiteX37-75" fmla="*/ 2287775 w 3270481"/>
              <a:gd name="connsiteY37-76" fmla="*/ 615246 h 4857406"/>
              <a:gd name="connsiteX38-77" fmla="*/ 2235309 w 3270481"/>
              <a:gd name="connsiteY38-78" fmla="*/ 406314 h 4857406"/>
              <a:gd name="connsiteX39-79" fmla="*/ 2234943 w 3270481"/>
              <a:gd name="connsiteY39-80" fmla="*/ 403473 h 4857406"/>
              <a:gd name="connsiteX40-81" fmla="*/ 2234104 w 3270481"/>
              <a:gd name="connsiteY40-82" fmla="*/ 401519 h 4857406"/>
              <a:gd name="connsiteX41-83" fmla="*/ 2232773 w 3270481"/>
              <a:gd name="connsiteY41-84" fmla="*/ 396216 h 4857406"/>
              <a:gd name="connsiteX42-85" fmla="*/ 2232224 w 3270481"/>
              <a:gd name="connsiteY42-86" fmla="*/ 396516 h 4857406"/>
              <a:gd name="connsiteX43-87" fmla="*/ 2233411 w 3270481"/>
              <a:gd name="connsiteY43-88" fmla="*/ 399304 h 4857406"/>
              <a:gd name="connsiteX44-89" fmla="*/ 2233521 w 3270481"/>
              <a:gd name="connsiteY44-90" fmla="*/ 400159 h 4857406"/>
              <a:gd name="connsiteX45-91" fmla="*/ 2219703 w 3270481"/>
              <a:gd name="connsiteY45-92" fmla="*/ 367982 h 4857406"/>
              <a:gd name="connsiteX46-93" fmla="*/ 2197098 w 3270481"/>
              <a:gd name="connsiteY46-94" fmla="*/ 344054 h 4857406"/>
              <a:gd name="connsiteX47-95" fmla="*/ 2170926 w 3270481"/>
              <a:gd name="connsiteY47-96" fmla="*/ 335758 h 4857406"/>
              <a:gd name="connsiteX48-97" fmla="*/ 2172418 w 3270481"/>
              <a:gd name="connsiteY48-98" fmla="*/ 335281 h 4857406"/>
              <a:gd name="connsiteX49" fmla="*/ 2169420 w 3270481"/>
              <a:gd name="connsiteY49" fmla="*/ 335281 h 4857406"/>
              <a:gd name="connsiteX50" fmla="*/ 1925578 w 3270481"/>
              <a:gd name="connsiteY50" fmla="*/ 0 h 4857406"/>
              <a:gd name="connsiteX0-99" fmla="*/ 2173410 w 3270481"/>
              <a:gd name="connsiteY0-100" fmla="*/ 1 h 4522126"/>
              <a:gd name="connsiteX1-101" fmla="*/ 2172418 w 3270481"/>
              <a:gd name="connsiteY1-102" fmla="*/ 1 h 4522126"/>
              <a:gd name="connsiteX2-103" fmla="*/ 2173482 w 3270481"/>
              <a:gd name="connsiteY2-104" fmla="*/ 341 h 4522126"/>
              <a:gd name="connsiteX3-105" fmla="*/ 2173410 w 3270481"/>
              <a:gd name="connsiteY3-106" fmla="*/ 1 h 4522126"/>
              <a:gd name="connsiteX4-107" fmla="*/ 2169420 w 3270481"/>
              <a:gd name="connsiteY4-108" fmla="*/ 1 h 4522126"/>
              <a:gd name="connsiteX5-109" fmla="*/ 2169415 w 3270481"/>
              <a:gd name="connsiteY5-110" fmla="*/ 1 h 4522126"/>
              <a:gd name="connsiteX6-111" fmla="*/ 1356970 w 3270481"/>
              <a:gd name="connsiteY6-112" fmla="*/ 1 h 4522126"/>
              <a:gd name="connsiteX7-113" fmla="*/ 1355978 w 3270481"/>
              <a:gd name="connsiteY7-114" fmla="*/ 1 h 4522126"/>
              <a:gd name="connsiteX8-115" fmla="*/ 1352980 w 3270481"/>
              <a:gd name="connsiteY8-116" fmla="*/ 1 h 4522126"/>
              <a:gd name="connsiteX9-117" fmla="*/ 1352978 w 3270481"/>
              <a:gd name="connsiteY9-118" fmla="*/ 0 h 4522126"/>
              <a:gd name="connsiteX10-119" fmla="*/ 1352975 w 3270481"/>
              <a:gd name="connsiteY10-120" fmla="*/ 1 h 4522126"/>
              <a:gd name="connsiteX11-121" fmla="*/ 977763 w 3270481"/>
              <a:gd name="connsiteY11-122" fmla="*/ 1 h 4522126"/>
              <a:gd name="connsiteX12-123" fmla="*/ 161323 w 3270481"/>
              <a:gd name="connsiteY12-124" fmla="*/ 1 h 4522126"/>
              <a:gd name="connsiteX13-125" fmla="*/ 0 w 3270481"/>
              <a:gd name="connsiteY13-126" fmla="*/ 255467 h 4522126"/>
              <a:gd name="connsiteX14-127" fmla="*/ 0 w 3270481"/>
              <a:gd name="connsiteY14-128" fmla="*/ 675318 h 4522126"/>
              <a:gd name="connsiteX15-129" fmla="*/ 0 w 3270481"/>
              <a:gd name="connsiteY15-130" fmla="*/ 1704352 h 4522126"/>
              <a:gd name="connsiteX16-131" fmla="*/ 0 w 3270481"/>
              <a:gd name="connsiteY16-132" fmla="*/ 2124204 h 4522126"/>
              <a:gd name="connsiteX17-133" fmla="*/ 0 w 3270481"/>
              <a:gd name="connsiteY17-134" fmla="*/ 2809737 h 4522126"/>
              <a:gd name="connsiteX18-135" fmla="*/ 0 w 3270481"/>
              <a:gd name="connsiteY18-136" fmla="*/ 2948814 h 4522126"/>
              <a:gd name="connsiteX19-137" fmla="*/ 0 w 3270481"/>
              <a:gd name="connsiteY19-138" fmla="*/ 4258622 h 4522126"/>
              <a:gd name="connsiteX20-139" fmla="*/ 0 w 3270481"/>
              <a:gd name="connsiteY20-140" fmla="*/ 4397698 h 4522126"/>
              <a:gd name="connsiteX21-141" fmla="*/ 82277 w 3270481"/>
              <a:gd name="connsiteY21-142" fmla="*/ 4522126 h 4522126"/>
              <a:gd name="connsiteX22-143" fmla="*/ 898718 w 3270481"/>
              <a:gd name="connsiteY22-144" fmla="*/ 4522126 h 4522126"/>
              <a:gd name="connsiteX23-145" fmla="*/ 2371764 w 3270481"/>
              <a:gd name="connsiteY23-146" fmla="*/ 4522126 h 4522126"/>
              <a:gd name="connsiteX24-147" fmla="*/ 3188204 w 3270481"/>
              <a:gd name="connsiteY24-148" fmla="*/ 4522126 h 4522126"/>
              <a:gd name="connsiteX25-149" fmla="*/ 3270481 w 3270481"/>
              <a:gd name="connsiteY25-150" fmla="*/ 4397698 h 4522126"/>
              <a:gd name="connsiteX26-151" fmla="*/ 3270481 w 3270481"/>
              <a:gd name="connsiteY26-152" fmla="*/ 4258622 h 4522126"/>
              <a:gd name="connsiteX27-153" fmla="*/ 3270481 w 3270481"/>
              <a:gd name="connsiteY27-154" fmla="*/ 2948814 h 4522126"/>
              <a:gd name="connsiteX28-155" fmla="*/ 3270481 w 3270481"/>
              <a:gd name="connsiteY28-156" fmla="*/ 2809737 h 4522126"/>
              <a:gd name="connsiteX29-157" fmla="*/ 3270481 w 3270481"/>
              <a:gd name="connsiteY29-158" fmla="*/ 2124204 h 4522126"/>
              <a:gd name="connsiteX30-159" fmla="*/ 3270481 w 3270481"/>
              <a:gd name="connsiteY30-160" fmla="*/ 2080790 h 4522126"/>
              <a:gd name="connsiteX31-161" fmla="*/ 3270481 w 3270481"/>
              <a:gd name="connsiteY31-162" fmla="*/ 675318 h 4522126"/>
              <a:gd name="connsiteX32-163" fmla="*/ 3270481 w 3270481"/>
              <a:gd name="connsiteY32-164" fmla="*/ 631906 h 4522126"/>
              <a:gd name="connsiteX33-165" fmla="*/ 3110373 w 3270481"/>
              <a:gd name="connsiteY33-166" fmla="*/ 400123 h 4522126"/>
              <a:gd name="connsiteX34-167" fmla="*/ 3100707 w 3270481"/>
              <a:gd name="connsiteY34-168" fmla="*/ 400123 h 4522126"/>
              <a:gd name="connsiteX35-169" fmla="*/ 3100707 w 3270481"/>
              <a:gd name="connsiteY35-170" fmla="*/ 399611 h 4522126"/>
              <a:gd name="connsiteX36-171" fmla="*/ 2399130 w 3270481"/>
              <a:gd name="connsiteY36-172" fmla="*/ 399611 h 4522126"/>
              <a:gd name="connsiteX37-173" fmla="*/ 2287775 w 3270481"/>
              <a:gd name="connsiteY37-174" fmla="*/ 279966 h 4522126"/>
              <a:gd name="connsiteX38-175" fmla="*/ 2235309 w 3270481"/>
              <a:gd name="connsiteY38-176" fmla="*/ 71034 h 4522126"/>
              <a:gd name="connsiteX39-177" fmla="*/ 2234943 w 3270481"/>
              <a:gd name="connsiteY39-178" fmla="*/ 68193 h 4522126"/>
              <a:gd name="connsiteX40-179" fmla="*/ 2234104 w 3270481"/>
              <a:gd name="connsiteY40-180" fmla="*/ 66239 h 4522126"/>
              <a:gd name="connsiteX41-181" fmla="*/ 2232773 w 3270481"/>
              <a:gd name="connsiteY41-182" fmla="*/ 60936 h 4522126"/>
              <a:gd name="connsiteX42-183" fmla="*/ 2232224 w 3270481"/>
              <a:gd name="connsiteY42-184" fmla="*/ 61236 h 4522126"/>
              <a:gd name="connsiteX43-185" fmla="*/ 2233411 w 3270481"/>
              <a:gd name="connsiteY43-186" fmla="*/ 64024 h 4522126"/>
              <a:gd name="connsiteX44-187" fmla="*/ 2233521 w 3270481"/>
              <a:gd name="connsiteY44-188" fmla="*/ 64879 h 4522126"/>
              <a:gd name="connsiteX45-189" fmla="*/ 2219703 w 3270481"/>
              <a:gd name="connsiteY45-190" fmla="*/ 32702 h 4522126"/>
              <a:gd name="connsiteX46-191" fmla="*/ 2197098 w 3270481"/>
              <a:gd name="connsiteY46-192" fmla="*/ 8774 h 4522126"/>
              <a:gd name="connsiteX47-193" fmla="*/ 2170926 w 3270481"/>
              <a:gd name="connsiteY47-194" fmla="*/ 478 h 4522126"/>
              <a:gd name="connsiteX48-195" fmla="*/ 2172418 w 3270481"/>
              <a:gd name="connsiteY48-196" fmla="*/ 1 h 4522126"/>
              <a:gd name="connsiteX49-197" fmla="*/ 2169420 w 3270481"/>
              <a:gd name="connsiteY49-198" fmla="*/ 1 h 4522126"/>
              <a:gd name="connsiteX0-199" fmla="*/ 2173410 w 3270481"/>
              <a:gd name="connsiteY0-200" fmla="*/ 340360 h 4862485"/>
              <a:gd name="connsiteX1-201" fmla="*/ 2172418 w 3270481"/>
              <a:gd name="connsiteY1-202" fmla="*/ 340360 h 4862485"/>
              <a:gd name="connsiteX2-203" fmla="*/ 2173482 w 3270481"/>
              <a:gd name="connsiteY2-204" fmla="*/ 340700 h 4862485"/>
              <a:gd name="connsiteX3-205" fmla="*/ 2173410 w 3270481"/>
              <a:gd name="connsiteY3-206" fmla="*/ 340360 h 4862485"/>
              <a:gd name="connsiteX4-207" fmla="*/ 2260860 w 3270481"/>
              <a:gd name="connsiteY4-208" fmla="*/ 0 h 4862485"/>
              <a:gd name="connsiteX5-209" fmla="*/ 2169415 w 3270481"/>
              <a:gd name="connsiteY5-210" fmla="*/ 340360 h 4862485"/>
              <a:gd name="connsiteX6-211" fmla="*/ 1356970 w 3270481"/>
              <a:gd name="connsiteY6-212" fmla="*/ 340360 h 4862485"/>
              <a:gd name="connsiteX7-213" fmla="*/ 1355978 w 3270481"/>
              <a:gd name="connsiteY7-214" fmla="*/ 340360 h 4862485"/>
              <a:gd name="connsiteX8-215" fmla="*/ 1352980 w 3270481"/>
              <a:gd name="connsiteY8-216" fmla="*/ 340360 h 4862485"/>
              <a:gd name="connsiteX9-217" fmla="*/ 1352978 w 3270481"/>
              <a:gd name="connsiteY9-218" fmla="*/ 340359 h 4862485"/>
              <a:gd name="connsiteX10-219" fmla="*/ 1352975 w 3270481"/>
              <a:gd name="connsiteY10-220" fmla="*/ 340360 h 4862485"/>
              <a:gd name="connsiteX11-221" fmla="*/ 977763 w 3270481"/>
              <a:gd name="connsiteY11-222" fmla="*/ 340360 h 4862485"/>
              <a:gd name="connsiteX12-223" fmla="*/ 161323 w 3270481"/>
              <a:gd name="connsiteY12-224" fmla="*/ 340360 h 4862485"/>
              <a:gd name="connsiteX13-225" fmla="*/ 0 w 3270481"/>
              <a:gd name="connsiteY13-226" fmla="*/ 595826 h 4862485"/>
              <a:gd name="connsiteX14-227" fmla="*/ 0 w 3270481"/>
              <a:gd name="connsiteY14-228" fmla="*/ 1015677 h 4862485"/>
              <a:gd name="connsiteX15-229" fmla="*/ 0 w 3270481"/>
              <a:gd name="connsiteY15-230" fmla="*/ 2044711 h 4862485"/>
              <a:gd name="connsiteX16-231" fmla="*/ 0 w 3270481"/>
              <a:gd name="connsiteY16-232" fmla="*/ 2464563 h 4862485"/>
              <a:gd name="connsiteX17-233" fmla="*/ 0 w 3270481"/>
              <a:gd name="connsiteY17-234" fmla="*/ 3150096 h 4862485"/>
              <a:gd name="connsiteX18-235" fmla="*/ 0 w 3270481"/>
              <a:gd name="connsiteY18-236" fmla="*/ 3289173 h 4862485"/>
              <a:gd name="connsiteX19-237" fmla="*/ 0 w 3270481"/>
              <a:gd name="connsiteY19-238" fmla="*/ 4598981 h 4862485"/>
              <a:gd name="connsiteX20-239" fmla="*/ 0 w 3270481"/>
              <a:gd name="connsiteY20-240" fmla="*/ 4738057 h 4862485"/>
              <a:gd name="connsiteX21-241" fmla="*/ 82277 w 3270481"/>
              <a:gd name="connsiteY21-242" fmla="*/ 4862485 h 4862485"/>
              <a:gd name="connsiteX22-243" fmla="*/ 898718 w 3270481"/>
              <a:gd name="connsiteY22-244" fmla="*/ 4862485 h 4862485"/>
              <a:gd name="connsiteX23-245" fmla="*/ 2371764 w 3270481"/>
              <a:gd name="connsiteY23-246" fmla="*/ 4862485 h 4862485"/>
              <a:gd name="connsiteX24-247" fmla="*/ 3188204 w 3270481"/>
              <a:gd name="connsiteY24-248" fmla="*/ 4862485 h 4862485"/>
              <a:gd name="connsiteX25-249" fmla="*/ 3270481 w 3270481"/>
              <a:gd name="connsiteY25-250" fmla="*/ 4738057 h 4862485"/>
              <a:gd name="connsiteX26-251" fmla="*/ 3270481 w 3270481"/>
              <a:gd name="connsiteY26-252" fmla="*/ 4598981 h 4862485"/>
              <a:gd name="connsiteX27-253" fmla="*/ 3270481 w 3270481"/>
              <a:gd name="connsiteY27-254" fmla="*/ 3289173 h 4862485"/>
              <a:gd name="connsiteX28-255" fmla="*/ 3270481 w 3270481"/>
              <a:gd name="connsiteY28-256" fmla="*/ 3150096 h 4862485"/>
              <a:gd name="connsiteX29-257" fmla="*/ 3270481 w 3270481"/>
              <a:gd name="connsiteY29-258" fmla="*/ 2464563 h 4862485"/>
              <a:gd name="connsiteX30-259" fmla="*/ 3270481 w 3270481"/>
              <a:gd name="connsiteY30-260" fmla="*/ 2421149 h 4862485"/>
              <a:gd name="connsiteX31-261" fmla="*/ 3270481 w 3270481"/>
              <a:gd name="connsiteY31-262" fmla="*/ 1015677 h 4862485"/>
              <a:gd name="connsiteX32-263" fmla="*/ 3270481 w 3270481"/>
              <a:gd name="connsiteY32-264" fmla="*/ 972265 h 4862485"/>
              <a:gd name="connsiteX33-265" fmla="*/ 3110373 w 3270481"/>
              <a:gd name="connsiteY33-266" fmla="*/ 740482 h 4862485"/>
              <a:gd name="connsiteX34-267" fmla="*/ 3100707 w 3270481"/>
              <a:gd name="connsiteY34-268" fmla="*/ 740482 h 4862485"/>
              <a:gd name="connsiteX35-269" fmla="*/ 3100707 w 3270481"/>
              <a:gd name="connsiteY35-270" fmla="*/ 739970 h 4862485"/>
              <a:gd name="connsiteX36-271" fmla="*/ 2399130 w 3270481"/>
              <a:gd name="connsiteY36-272" fmla="*/ 739970 h 4862485"/>
              <a:gd name="connsiteX37-273" fmla="*/ 2287775 w 3270481"/>
              <a:gd name="connsiteY37-274" fmla="*/ 620325 h 4862485"/>
              <a:gd name="connsiteX38-275" fmla="*/ 2235309 w 3270481"/>
              <a:gd name="connsiteY38-276" fmla="*/ 411393 h 4862485"/>
              <a:gd name="connsiteX39-277" fmla="*/ 2234943 w 3270481"/>
              <a:gd name="connsiteY39-278" fmla="*/ 408552 h 4862485"/>
              <a:gd name="connsiteX40-279" fmla="*/ 2234104 w 3270481"/>
              <a:gd name="connsiteY40-280" fmla="*/ 406598 h 4862485"/>
              <a:gd name="connsiteX41-281" fmla="*/ 2232773 w 3270481"/>
              <a:gd name="connsiteY41-282" fmla="*/ 401295 h 4862485"/>
              <a:gd name="connsiteX42-283" fmla="*/ 2232224 w 3270481"/>
              <a:gd name="connsiteY42-284" fmla="*/ 401595 h 4862485"/>
              <a:gd name="connsiteX43-285" fmla="*/ 2233411 w 3270481"/>
              <a:gd name="connsiteY43-286" fmla="*/ 404383 h 4862485"/>
              <a:gd name="connsiteX44-287" fmla="*/ 2233521 w 3270481"/>
              <a:gd name="connsiteY44-288" fmla="*/ 405238 h 4862485"/>
              <a:gd name="connsiteX45-289" fmla="*/ 2219703 w 3270481"/>
              <a:gd name="connsiteY45-290" fmla="*/ 373061 h 4862485"/>
              <a:gd name="connsiteX46-291" fmla="*/ 2197098 w 3270481"/>
              <a:gd name="connsiteY46-292" fmla="*/ 349133 h 4862485"/>
              <a:gd name="connsiteX47-293" fmla="*/ 2170926 w 3270481"/>
              <a:gd name="connsiteY47-294" fmla="*/ 340837 h 4862485"/>
              <a:gd name="connsiteX48-295" fmla="*/ 2172418 w 3270481"/>
              <a:gd name="connsiteY48-296" fmla="*/ 340360 h 4862485"/>
              <a:gd name="connsiteX49-297" fmla="*/ 2260860 w 3270481"/>
              <a:gd name="connsiteY49-298" fmla="*/ 0 h 4862485"/>
              <a:gd name="connsiteX0-299" fmla="*/ 2173410 w 3270481"/>
              <a:gd name="connsiteY0-300" fmla="*/ 1 h 4522126"/>
              <a:gd name="connsiteX1-301" fmla="*/ 2172418 w 3270481"/>
              <a:gd name="connsiteY1-302" fmla="*/ 1 h 4522126"/>
              <a:gd name="connsiteX2-303" fmla="*/ 2173482 w 3270481"/>
              <a:gd name="connsiteY2-304" fmla="*/ 341 h 4522126"/>
              <a:gd name="connsiteX3-305" fmla="*/ 2173410 w 3270481"/>
              <a:gd name="connsiteY3-306" fmla="*/ 1 h 4522126"/>
              <a:gd name="connsiteX4-307" fmla="*/ 2172418 w 3270481"/>
              <a:gd name="connsiteY4-308" fmla="*/ 1 h 4522126"/>
              <a:gd name="connsiteX5-309" fmla="*/ 2169415 w 3270481"/>
              <a:gd name="connsiteY5-310" fmla="*/ 1 h 4522126"/>
              <a:gd name="connsiteX6-311" fmla="*/ 1356970 w 3270481"/>
              <a:gd name="connsiteY6-312" fmla="*/ 1 h 4522126"/>
              <a:gd name="connsiteX7-313" fmla="*/ 1355978 w 3270481"/>
              <a:gd name="connsiteY7-314" fmla="*/ 1 h 4522126"/>
              <a:gd name="connsiteX8-315" fmla="*/ 1352980 w 3270481"/>
              <a:gd name="connsiteY8-316" fmla="*/ 1 h 4522126"/>
              <a:gd name="connsiteX9-317" fmla="*/ 1352978 w 3270481"/>
              <a:gd name="connsiteY9-318" fmla="*/ 0 h 4522126"/>
              <a:gd name="connsiteX10-319" fmla="*/ 1352975 w 3270481"/>
              <a:gd name="connsiteY10-320" fmla="*/ 1 h 4522126"/>
              <a:gd name="connsiteX11-321" fmla="*/ 977763 w 3270481"/>
              <a:gd name="connsiteY11-322" fmla="*/ 1 h 4522126"/>
              <a:gd name="connsiteX12-323" fmla="*/ 161323 w 3270481"/>
              <a:gd name="connsiteY12-324" fmla="*/ 1 h 4522126"/>
              <a:gd name="connsiteX13-325" fmla="*/ 0 w 3270481"/>
              <a:gd name="connsiteY13-326" fmla="*/ 255467 h 4522126"/>
              <a:gd name="connsiteX14-327" fmla="*/ 0 w 3270481"/>
              <a:gd name="connsiteY14-328" fmla="*/ 675318 h 4522126"/>
              <a:gd name="connsiteX15-329" fmla="*/ 0 w 3270481"/>
              <a:gd name="connsiteY15-330" fmla="*/ 1704352 h 4522126"/>
              <a:gd name="connsiteX16-331" fmla="*/ 0 w 3270481"/>
              <a:gd name="connsiteY16-332" fmla="*/ 2124204 h 4522126"/>
              <a:gd name="connsiteX17-333" fmla="*/ 0 w 3270481"/>
              <a:gd name="connsiteY17-334" fmla="*/ 2809737 h 4522126"/>
              <a:gd name="connsiteX18-335" fmla="*/ 0 w 3270481"/>
              <a:gd name="connsiteY18-336" fmla="*/ 2948814 h 4522126"/>
              <a:gd name="connsiteX19-337" fmla="*/ 0 w 3270481"/>
              <a:gd name="connsiteY19-338" fmla="*/ 4258622 h 4522126"/>
              <a:gd name="connsiteX20-339" fmla="*/ 0 w 3270481"/>
              <a:gd name="connsiteY20-340" fmla="*/ 4397698 h 4522126"/>
              <a:gd name="connsiteX21-341" fmla="*/ 82277 w 3270481"/>
              <a:gd name="connsiteY21-342" fmla="*/ 4522126 h 4522126"/>
              <a:gd name="connsiteX22-343" fmla="*/ 898718 w 3270481"/>
              <a:gd name="connsiteY22-344" fmla="*/ 4522126 h 4522126"/>
              <a:gd name="connsiteX23-345" fmla="*/ 2371764 w 3270481"/>
              <a:gd name="connsiteY23-346" fmla="*/ 4522126 h 4522126"/>
              <a:gd name="connsiteX24-347" fmla="*/ 3188204 w 3270481"/>
              <a:gd name="connsiteY24-348" fmla="*/ 4522126 h 4522126"/>
              <a:gd name="connsiteX25-349" fmla="*/ 3270481 w 3270481"/>
              <a:gd name="connsiteY25-350" fmla="*/ 4397698 h 4522126"/>
              <a:gd name="connsiteX26-351" fmla="*/ 3270481 w 3270481"/>
              <a:gd name="connsiteY26-352" fmla="*/ 4258622 h 4522126"/>
              <a:gd name="connsiteX27-353" fmla="*/ 3270481 w 3270481"/>
              <a:gd name="connsiteY27-354" fmla="*/ 2948814 h 4522126"/>
              <a:gd name="connsiteX28-355" fmla="*/ 3270481 w 3270481"/>
              <a:gd name="connsiteY28-356" fmla="*/ 2809737 h 4522126"/>
              <a:gd name="connsiteX29-357" fmla="*/ 3270481 w 3270481"/>
              <a:gd name="connsiteY29-358" fmla="*/ 2124204 h 4522126"/>
              <a:gd name="connsiteX30-359" fmla="*/ 3270481 w 3270481"/>
              <a:gd name="connsiteY30-360" fmla="*/ 2080790 h 4522126"/>
              <a:gd name="connsiteX31-361" fmla="*/ 3270481 w 3270481"/>
              <a:gd name="connsiteY31-362" fmla="*/ 675318 h 4522126"/>
              <a:gd name="connsiteX32-363" fmla="*/ 3270481 w 3270481"/>
              <a:gd name="connsiteY32-364" fmla="*/ 631906 h 4522126"/>
              <a:gd name="connsiteX33-365" fmla="*/ 3110373 w 3270481"/>
              <a:gd name="connsiteY33-366" fmla="*/ 400123 h 4522126"/>
              <a:gd name="connsiteX34-367" fmla="*/ 3100707 w 3270481"/>
              <a:gd name="connsiteY34-368" fmla="*/ 400123 h 4522126"/>
              <a:gd name="connsiteX35-369" fmla="*/ 3100707 w 3270481"/>
              <a:gd name="connsiteY35-370" fmla="*/ 399611 h 4522126"/>
              <a:gd name="connsiteX36-371" fmla="*/ 2399130 w 3270481"/>
              <a:gd name="connsiteY36-372" fmla="*/ 399611 h 4522126"/>
              <a:gd name="connsiteX37-373" fmla="*/ 2287775 w 3270481"/>
              <a:gd name="connsiteY37-374" fmla="*/ 279966 h 4522126"/>
              <a:gd name="connsiteX38-375" fmla="*/ 2235309 w 3270481"/>
              <a:gd name="connsiteY38-376" fmla="*/ 71034 h 4522126"/>
              <a:gd name="connsiteX39-377" fmla="*/ 2234943 w 3270481"/>
              <a:gd name="connsiteY39-378" fmla="*/ 68193 h 4522126"/>
              <a:gd name="connsiteX40-379" fmla="*/ 2234104 w 3270481"/>
              <a:gd name="connsiteY40-380" fmla="*/ 66239 h 4522126"/>
              <a:gd name="connsiteX41-381" fmla="*/ 2232773 w 3270481"/>
              <a:gd name="connsiteY41-382" fmla="*/ 60936 h 4522126"/>
              <a:gd name="connsiteX42-383" fmla="*/ 2232224 w 3270481"/>
              <a:gd name="connsiteY42-384" fmla="*/ 61236 h 4522126"/>
              <a:gd name="connsiteX43-385" fmla="*/ 2233411 w 3270481"/>
              <a:gd name="connsiteY43-386" fmla="*/ 64024 h 4522126"/>
              <a:gd name="connsiteX44-387" fmla="*/ 2233521 w 3270481"/>
              <a:gd name="connsiteY44-388" fmla="*/ 64879 h 4522126"/>
              <a:gd name="connsiteX45-389" fmla="*/ 2219703 w 3270481"/>
              <a:gd name="connsiteY45-390" fmla="*/ 32702 h 4522126"/>
              <a:gd name="connsiteX46-391" fmla="*/ 2197098 w 3270481"/>
              <a:gd name="connsiteY46-392" fmla="*/ 8774 h 4522126"/>
              <a:gd name="connsiteX47-393" fmla="*/ 2170926 w 3270481"/>
              <a:gd name="connsiteY47-394" fmla="*/ 478 h 4522126"/>
              <a:gd name="connsiteX48-395" fmla="*/ 2172418 w 3270481"/>
              <a:gd name="connsiteY48-396" fmla="*/ 1 h 4522126"/>
              <a:gd name="connsiteX0-397" fmla="*/ 2173410 w 3270481"/>
              <a:gd name="connsiteY0-398" fmla="*/ 208280 h 4730405"/>
              <a:gd name="connsiteX1-399" fmla="*/ 2172418 w 3270481"/>
              <a:gd name="connsiteY1-400" fmla="*/ 208280 h 4730405"/>
              <a:gd name="connsiteX2-401" fmla="*/ 2173482 w 3270481"/>
              <a:gd name="connsiteY2-402" fmla="*/ 208620 h 4730405"/>
              <a:gd name="connsiteX3-403" fmla="*/ 2173410 w 3270481"/>
              <a:gd name="connsiteY3-404" fmla="*/ 208280 h 4730405"/>
              <a:gd name="connsiteX4-405" fmla="*/ 1783798 w 3270481"/>
              <a:gd name="connsiteY4-406" fmla="*/ 0 h 4730405"/>
              <a:gd name="connsiteX5-407" fmla="*/ 2169415 w 3270481"/>
              <a:gd name="connsiteY5-408" fmla="*/ 208280 h 4730405"/>
              <a:gd name="connsiteX6-409" fmla="*/ 1356970 w 3270481"/>
              <a:gd name="connsiteY6-410" fmla="*/ 208280 h 4730405"/>
              <a:gd name="connsiteX7-411" fmla="*/ 1355978 w 3270481"/>
              <a:gd name="connsiteY7-412" fmla="*/ 208280 h 4730405"/>
              <a:gd name="connsiteX8-413" fmla="*/ 1352980 w 3270481"/>
              <a:gd name="connsiteY8-414" fmla="*/ 208280 h 4730405"/>
              <a:gd name="connsiteX9-415" fmla="*/ 1352978 w 3270481"/>
              <a:gd name="connsiteY9-416" fmla="*/ 208279 h 4730405"/>
              <a:gd name="connsiteX10-417" fmla="*/ 1352975 w 3270481"/>
              <a:gd name="connsiteY10-418" fmla="*/ 208280 h 4730405"/>
              <a:gd name="connsiteX11-419" fmla="*/ 977763 w 3270481"/>
              <a:gd name="connsiteY11-420" fmla="*/ 208280 h 4730405"/>
              <a:gd name="connsiteX12-421" fmla="*/ 161323 w 3270481"/>
              <a:gd name="connsiteY12-422" fmla="*/ 208280 h 4730405"/>
              <a:gd name="connsiteX13-423" fmla="*/ 0 w 3270481"/>
              <a:gd name="connsiteY13-424" fmla="*/ 463746 h 4730405"/>
              <a:gd name="connsiteX14-425" fmla="*/ 0 w 3270481"/>
              <a:gd name="connsiteY14-426" fmla="*/ 883597 h 4730405"/>
              <a:gd name="connsiteX15-427" fmla="*/ 0 w 3270481"/>
              <a:gd name="connsiteY15-428" fmla="*/ 1912631 h 4730405"/>
              <a:gd name="connsiteX16-429" fmla="*/ 0 w 3270481"/>
              <a:gd name="connsiteY16-430" fmla="*/ 2332483 h 4730405"/>
              <a:gd name="connsiteX17-431" fmla="*/ 0 w 3270481"/>
              <a:gd name="connsiteY17-432" fmla="*/ 3018016 h 4730405"/>
              <a:gd name="connsiteX18-433" fmla="*/ 0 w 3270481"/>
              <a:gd name="connsiteY18-434" fmla="*/ 3157093 h 4730405"/>
              <a:gd name="connsiteX19-435" fmla="*/ 0 w 3270481"/>
              <a:gd name="connsiteY19-436" fmla="*/ 4466901 h 4730405"/>
              <a:gd name="connsiteX20-437" fmla="*/ 0 w 3270481"/>
              <a:gd name="connsiteY20-438" fmla="*/ 4605977 h 4730405"/>
              <a:gd name="connsiteX21-439" fmla="*/ 82277 w 3270481"/>
              <a:gd name="connsiteY21-440" fmla="*/ 4730405 h 4730405"/>
              <a:gd name="connsiteX22-441" fmla="*/ 898718 w 3270481"/>
              <a:gd name="connsiteY22-442" fmla="*/ 4730405 h 4730405"/>
              <a:gd name="connsiteX23-443" fmla="*/ 2371764 w 3270481"/>
              <a:gd name="connsiteY23-444" fmla="*/ 4730405 h 4730405"/>
              <a:gd name="connsiteX24-445" fmla="*/ 3188204 w 3270481"/>
              <a:gd name="connsiteY24-446" fmla="*/ 4730405 h 4730405"/>
              <a:gd name="connsiteX25-447" fmla="*/ 3270481 w 3270481"/>
              <a:gd name="connsiteY25-448" fmla="*/ 4605977 h 4730405"/>
              <a:gd name="connsiteX26-449" fmla="*/ 3270481 w 3270481"/>
              <a:gd name="connsiteY26-450" fmla="*/ 4466901 h 4730405"/>
              <a:gd name="connsiteX27-451" fmla="*/ 3270481 w 3270481"/>
              <a:gd name="connsiteY27-452" fmla="*/ 3157093 h 4730405"/>
              <a:gd name="connsiteX28-453" fmla="*/ 3270481 w 3270481"/>
              <a:gd name="connsiteY28-454" fmla="*/ 3018016 h 4730405"/>
              <a:gd name="connsiteX29-455" fmla="*/ 3270481 w 3270481"/>
              <a:gd name="connsiteY29-456" fmla="*/ 2332483 h 4730405"/>
              <a:gd name="connsiteX30-457" fmla="*/ 3270481 w 3270481"/>
              <a:gd name="connsiteY30-458" fmla="*/ 2289069 h 4730405"/>
              <a:gd name="connsiteX31-459" fmla="*/ 3270481 w 3270481"/>
              <a:gd name="connsiteY31-460" fmla="*/ 883597 h 4730405"/>
              <a:gd name="connsiteX32-461" fmla="*/ 3270481 w 3270481"/>
              <a:gd name="connsiteY32-462" fmla="*/ 840185 h 4730405"/>
              <a:gd name="connsiteX33-463" fmla="*/ 3110373 w 3270481"/>
              <a:gd name="connsiteY33-464" fmla="*/ 608402 h 4730405"/>
              <a:gd name="connsiteX34-465" fmla="*/ 3100707 w 3270481"/>
              <a:gd name="connsiteY34-466" fmla="*/ 608402 h 4730405"/>
              <a:gd name="connsiteX35-467" fmla="*/ 3100707 w 3270481"/>
              <a:gd name="connsiteY35-468" fmla="*/ 607890 h 4730405"/>
              <a:gd name="connsiteX36-469" fmla="*/ 2399130 w 3270481"/>
              <a:gd name="connsiteY36-470" fmla="*/ 607890 h 4730405"/>
              <a:gd name="connsiteX37-471" fmla="*/ 2287775 w 3270481"/>
              <a:gd name="connsiteY37-472" fmla="*/ 488245 h 4730405"/>
              <a:gd name="connsiteX38-473" fmla="*/ 2235309 w 3270481"/>
              <a:gd name="connsiteY38-474" fmla="*/ 279313 h 4730405"/>
              <a:gd name="connsiteX39-475" fmla="*/ 2234943 w 3270481"/>
              <a:gd name="connsiteY39-476" fmla="*/ 276472 h 4730405"/>
              <a:gd name="connsiteX40-477" fmla="*/ 2234104 w 3270481"/>
              <a:gd name="connsiteY40-478" fmla="*/ 274518 h 4730405"/>
              <a:gd name="connsiteX41-479" fmla="*/ 2232773 w 3270481"/>
              <a:gd name="connsiteY41-480" fmla="*/ 269215 h 4730405"/>
              <a:gd name="connsiteX42-481" fmla="*/ 2232224 w 3270481"/>
              <a:gd name="connsiteY42-482" fmla="*/ 269515 h 4730405"/>
              <a:gd name="connsiteX43-483" fmla="*/ 2233411 w 3270481"/>
              <a:gd name="connsiteY43-484" fmla="*/ 272303 h 4730405"/>
              <a:gd name="connsiteX44-485" fmla="*/ 2233521 w 3270481"/>
              <a:gd name="connsiteY44-486" fmla="*/ 273158 h 4730405"/>
              <a:gd name="connsiteX45-487" fmla="*/ 2219703 w 3270481"/>
              <a:gd name="connsiteY45-488" fmla="*/ 240981 h 4730405"/>
              <a:gd name="connsiteX46-489" fmla="*/ 2197098 w 3270481"/>
              <a:gd name="connsiteY46-490" fmla="*/ 217053 h 4730405"/>
              <a:gd name="connsiteX47-491" fmla="*/ 2170926 w 3270481"/>
              <a:gd name="connsiteY47-492" fmla="*/ 208757 h 4730405"/>
              <a:gd name="connsiteX48-493" fmla="*/ 1783798 w 3270481"/>
              <a:gd name="connsiteY48-494" fmla="*/ 0 h 4730405"/>
              <a:gd name="connsiteX0-495" fmla="*/ 2173410 w 3270481"/>
              <a:gd name="connsiteY0-496" fmla="*/ 1 h 4522126"/>
              <a:gd name="connsiteX1-497" fmla="*/ 2172418 w 3270481"/>
              <a:gd name="connsiteY1-498" fmla="*/ 1 h 4522126"/>
              <a:gd name="connsiteX2-499" fmla="*/ 2173482 w 3270481"/>
              <a:gd name="connsiteY2-500" fmla="*/ 341 h 4522126"/>
              <a:gd name="connsiteX3-501" fmla="*/ 2173410 w 3270481"/>
              <a:gd name="connsiteY3-502" fmla="*/ 1 h 4522126"/>
              <a:gd name="connsiteX4-503" fmla="*/ 2170926 w 3270481"/>
              <a:gd name="connsiteY4-504" fmla="*/ 478 h 4522126"/>
              <a:gd name="connsiteX5-505" fmla="*/ 2169415 w 3270481"/>
              <a:gd name="connsiteY5-506" fmla="*/ 1 h 4522126"/>
              <a:gd name="connsiteX6-507" fmla="*/ 1356970 w 3270481"/>
              <a:gd name="connsiteY6-508" fmla="*/ 1 h 4522126"/>
              <a:gd name="connsiteX7-509" fmla="*/ 1355978 w 3270481"/>
              <a:gd name="connsiteY7-510" fmla="*/ 1 h 4522126"/>
              <a:gd name="connsiteX8-511" fmla="*/ 1352980 w 3270481"/>
              <a:gd name="connsiteY8-512" fmla="*/ 1 h 4522126"/>
              <a:gd name="connsiteX9-513" fmla="*/ 1352978 w 3270481"/>
              <a:gd name="connsiteY9-514" fmla="*/ 0 h 4522126"/>
              <a:gd name="connsiteX10-515" fmla="*/ 1352975 w 3270481"/>
              <a:gd name="connsiteY10-516" fmla="*/ 1 h 4522126"/>
              <a:gd name="connsiteX11-517" fmla="*/ 977763 w 3270481"/>
              <a:gd name="connsiteY11-518" fmla="*/ 1 h 4522126"/>
              <a:gd name="connsiteX12-519" fmla="*/ 161323 w 3270481"/>
              <a:gd name="connsiteY12-520" fmla="*/ 1 h 4522126"/>
              <a:gd name="connsiteX13-521" fmla="*/ 0 w 3270481"/>
              <a:gd name="connsiteY13-522" fmla="*/ 255467 h 4522126"/>
              <a:gd name="connsiteX14-523" fmla="*/ 0 w 3270481"/>
              <a:gd name="connsiteY14-524" fmla="*/ 675318 h 4522126"/>
              <a:gd name="connsiteX15-525" fmla="*/ 0 w 3270481"/>
              <a:gd name="connsiteY15-526" fmla="*/ 1704352 h 4522126"/>
              <a:gd name="connsiteX16-527" fmla="*/ 0 w 3270481"/>
              <a:gd name="connsiteY16-528" fmla="*/ 2124204 h 4522126"/>
              <a:gd name="connsiteX17-529" fmla="*/ 0 w 3270481"/>
              <a:gd name="connsiteY17-530" fmla="*/ 2809737 h 4522126"/>
              <a:gd name="connsiteX18-531" fmla="*/ 0 w 3270481"/>
              <a:gd name="connsiteY18-532" fmla="*/ 2948814 h 4522126"/>
              <a:gd name="connsiteX19-533" fmla="*/ 0 w 3270481"/>
              <a:gd name="connsiteY19-534" fmla="*/ 4258622 h 4522126"/>
              <a:gd name="connsiteX20-535" fmla="*/ 0 w 3270481"/>
              <a:gd name="connsiteY20-536" fmla="*/ 4397698 h 4522126"/>
              <a:gd name="connsiteX21-537" fmla="*/ 82277 w 3270481"/>
              <a:gd name="connsiteY21-538" fmla="*/ 4522126 h 4522126"/>
              <a:gd name="connsiteX22-539" fmla="*/ 898718 w 3270481"/>
              <a:gd name="connsiteY22-540" fmla="*/ 4522126 h 4522126"/>
              <a:gd name="connsiteX23-541" fmla="*/ 2371764 w 3270481"/>
              <a:gd name="connsiteY23-542" fmla="*/ 4522126 h 4522126"/>
              <a:gd name="connsiteX24-543" fmla="*/ 3188204 w 3270481"/>
              <a:gd name="connsiteY24-544" fmla="*/ 4522126 h 4522126"/>
              <a:gd name="connsiteX25-545" fmla="*/ 3270481 w 3270481"/>
              <a:gd name="connsiteY25-546" fmla="*/ 4397698 h 4522126"/>
              <a:gd name="connsiteX26-547" fmla="*/ 3270481 w 3270481"/>
              <a:gd name="connsiteY26-548" fmla="*/ 4258622 h 4522126"/>
              <a:gd name="connsiteX27-549" fmla="*/ 3270481 w 3270481"/>
              <a:gd name="connsiteY27-550" fmla="*/ 2948814 h 4522126"/>
              <a:gd name="connsiteX28-551" fmla="*/ 3270481 w 3270481"/>
              <a:gd name="connsiteY28-552" fmla="*/ 2809737 h 4522126"/>
              <a:gd name="connsiteX29-553" fmla="*/ 3270481 w 3270481"/>
              <a:gd name="connsiteY29-554" fmla="*/ 2124204 h 4522126"/>
              <a:gd name="connsiteX30-555" fmla="*/ 3270481 w 3270481"/>
              <a:gd name="connsiteY30-556" fmla="*/ 2080790 h 4522126"/>
              <a:gd name="connsiteX31-557" fmla="*/ 3270481 w 3270481"/>
              <a:gd name="connsiteY31-558" fmla="*/ 675318 h 4522126"/>
              <a:gd name="connsiteX32-559" fmla="*/ 3270481 w 3270481"/>
              <a:gd name="connsiteY32-560" fmla="*/ 631906 h 4522126"/>
              <a:gd name="connsiteX33-561" fmla="*/ 3110373 w 3270481"/>
              <a:gd name="connsiteY33-562" fmla="*/ 400123 h 4522126"/>
              <a:gd name="connsiteX34-563" fmla="*/ 3100707 w 3270481"/>
              <a:gd name="connsiteY34-564" fmla="*/ 400123 h 4522126"/>
              <a:gd name="connsiteX35-565" fmla="*/ 3100707 w 3270481"/>
              <a:gd name="connsiteY35-566" fmla="*/ 399611 h 4522126"/>
              <a:gd name="connsiteX36-567" fmla="*/ 2399130 w 3270481"/>
              <a:gd name="connsiteY36-568" fmla="*/ 399611 h 4522126"/>
              <a:gd name="connsiteX37-569" fmla="*/ 2287775 w 3270481"/>
              <a:gd name="connsiteY37-570" fmla="*/ 279966 h 4522126"/>
              <a:gd name="connsiteX38-571" fmla="*/ 2235309 w 3270481"/>
              <a:gd name="connsiteY38-572" fmla="*/ 71034 h 4522126"/>
              <a:gd name="connsiteX39-573" fmla="*/ 2234943 w 3270481"/>
              <a:gd name="connsiteY39-574" fmla="*/ 68193 h 4522126"/>
              <a:gd name="connsiteX40-575" fmla="*/ 2234104 w 3270481"/>
              <a:gd name="connsiteY40-576" fmla="*/ 66239 h 4522126"/>
              <a:gd name="connsiteX41-577" fmla="*/ 2232773 w 3270481"/>
              <a:gd name="connsiteY41-578" fmla="*/ 60936 h 4522126"/>
              <a:gd name="connsiteX42-579" fmla="*/ 2232224 w 3270481"/>
              <a:gd name="connsiteY42-580" fmla="*/ 61236 h 4522126"/>
              <a:gd name="connsiteX43-581" fmla="*/ 2233411 w 3270481"/>
              <a:gd name="connsiteY43-582" fmla="*/ 64024 h 4522126"/>
              <a:gd name="connsiteX44-583" fmla="*/ 2233521 w 3270481"/>
              <a:gd name="connsiteY44-584" fmla="*/ 64879 h 4522126"/>
              <a:gd name="connsiteX45-585" fmla="*/ 2219703 w 3270481"/>
              <a:gd name="connsiteY45-586" fmla="*/ 32702 h 4522126"/>
              <a:gd name="connsiteX46-587" fmla="*/ 2197098 w 3270481"/>
              <a:gd name="connsiteY46-588" fmla="*/ 8774 h 4522126"/>
              <a:gd name="connsiteX47-589" fmla="*/ 2170926 w 3270481"/>
              <a:gd name="connsiteY47-590" fmla="*/ 478 h 45221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</a:cxnLst>
            <a:rect l="l" t="t" r="r" b="b"/>
            <a:pathLst>
              <a:path w="3270481" h="4522126">
                <a:moveTo>
                  <a:pt x="2173410" y="1"/>
                </a:moveTo>
                <a:lnTo>
                  <a:pt x="2172418" y="1"/>
                </a:lnTo>
                <a:lnTo>
                  <a:pt x="2173482" y="341"/>
                </a:lnTo>
                <a:cubicBezTo>
                  <a:pt x="2173458" y="228"/>
                  <a:pt x="2173434" y="114"/>
                  <a:pt x="2173410" y="1"/>
                </a:cubicBezTo>
                <a:close/>
                <a:moveTo>
                  <a:pt x="2170926" y="478"/>
                </a:moveTo>
                <a:lnTo>
                  <a:pt x="2169415" y="1"/>
                </a:lnTo>
                <a:lnTo>
                  <a:pt x="1356970" y="1"/>
                </a:lnTo>
                <a:lnTo>
                  <a:pt x="1355978" y="1"/>
                </a:lnTo>
                <a:lnTo>
                  <a:pt x="1352980" y="1"/>
                </a:lnTo>
                <a:cubicBezTo>
                  <a:pt x="1352979" y="1"/>
                  <a:pt x="1352979" y="0"/>
                  <a:pt x="1352978" y="0"/>
                </a:cubicBezTo>
                <a:cubicBezTo>
                  <a:pt x="1352977" y="0"/>
                  <a:pt x="1352976" y="1"/>
                  <a:pt x="1352975" y="1"/>
                </a:cubicBezTo>
                <a:lnTo>
                  <a:pt x="977763" y="1"/>
                </a:lnTo>
                <a:lnTo>
                  <a:pt x="161323" y="1"/>
                </a:lnTo>
                <a:cubicBezTo>
                  <a:pt x="72226" y="1"/>
                  <a:pt x="0" y="114377"/>
                  <a:pt x="0" y="255467"/>
                </a:cubicBezTo>
                <a:lnTo>
                  <a:pt x="0" y="675318"/>
                </a:lnTo>
                <a:lnTo>
                  <a:pt x="0" y="1704352"/>
                </a:lnTo>
                <a:lnTo>
                  <a:pt x="0" y="2124204"/>
                </a:lnTo>
                <a:lnTo>
                  <a:pt x="0" y="2809737"/>
                </a:lnTo>
                <a:lnTo>
                  <a:pt x="0" y="2948814"/>
                </a:lnTo>
                <a:lnTo>
                  <a:pt x="0" y="4258622"/>
                </a:lnTo>
                <a:lnTo>
                  <a:pt x="0" y="4397698"/>
                </a:lnTo>
                <a:cubicBezTo>
                  <a:pt x="0" y="4466419"/>
                  <a:pt x="36836" y="4522126"/>
                  <a:pt x="82277" y="4522126"/>
                </a:cubicBezTo>
                <a:lnTo>
                  <a:pt x="898718" y="4522126"/>
                </a:lnTo>
                <a:lnTo>
                  <a:pt x="2371764" y="4522126"/>
                </a:lnTo>
                <a:lnTo>
                  <a:pt x="3188204" y="4522126"/>
                </a:lnTo>
                <a:cubicBezTo>
                  <a:pt x="3233644" y="4522126"/>
                  <a:pt x="3270481" y="4466419"/>
                  <a:pt x="3270481" y="4397698"/>
                </a:cubicBezTo>
                <a:lnTo>
                  <a:pt x="3270481" y="4258622"/>
                </a:lnTo>
                <a:lnTo>
                  <a:pt x="3270481" y="2948814"/>
                </a:lnTo>
                <a:lnTo>
                  <a:pt x="3270481" y="2809737"/>
                </a:lnTo>
                <a:lnTo>
                  <a:pt x="3270481" y="2124204"/>
                </a:lnTo>
                <a:lnTo>
                  <a:pt x="3270481" y="2080790"/>
                </a:lnTo>
                <a:lnTo>
                  <a:pt x="3270481" y="675318"/>
                </a:lnTo>
                <a:lnTo>
                  <a:pt x="3270481" y="631906"/>
                </a:lnTo>
                <a:cubicBezTo>
                  <a:pt x="3270481" y="503896"/>
                  <a:pt x="3198798" y="400123"/>
                  <a:pt x="3110373" y="400123"/>
                </a:cubicBezTo>
                <a:lnTo>
                  <a:pt x="3100707" y="400123"/>
                </a:lnTo>
                <a:lnTo>
                  <a:pt x="3100707" y="399611"/>
                </a:lnTo>
                <a:lnTo>
                  <a:pt x="2399130" y="399611"/>
                </a:lnTo>
                <a:cubicBezTo>
                  <a:pt x="2350020" y="399611"/>
                  <a:pt x="2305923" y="352230"/>
                  <a:pt x="2287775" y="279966"/>
                </a:cubicBezTo>
                <a:lnTo>
                  <a:pt x="2235309" y="71034"/>
                </a:lnTo>
                <a:lnTo>
                  <a:pt x="2234943" y="68193"/>
                </a:lnTo>
                <a:lnTo>
                  <a:pt x="2234104" y="66239"/>
                </a:lnTo>
                <a:lnTo>
                  <a:pt x="2232773" y="60936"/>
                </a:lnTo>
                <a:lnTo>
                  <a:pt x="2232224" y="61236"/>
                </a:lnTo>
                <a:lnTo>
                  <a:pt x="2233411" y="64024"/>
                </a:lnTo>
                <a:cubicBezTo>
                  <a:pt x="2233448" y="64309"/>
                  <a:pt x="2233484" y="64594"/>
                  <a:pt x="2233521" y="64879"/>
                </a:cubicBezTo>
                <a:lnTo>
                  <a:pt x="2219703" y="32702"/>
                </a:lnTo>
                <a:cubicBezTo>
                  <a:pt x="2213269" y="22600"/>
                  <a:pt x="2205606" y="14424"/>
                  <a:pt x="2197098" y="8774"/>
                </a:cubicBezTo>
                <a:lnTo>
                  <a:pt x="2170926" y="478"/>
                </a:lnTo>
                <a:close/>
              </a:path>
            </a:pathLst>
          </a:custGeom>
          <a:gradFill>
            <a:gsLst>
              <a:gs pos="65000">
                <a:schemeClr val="bg1">
                  <a:lumMod val="10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cap="flat" cmpd="sng" algn="ctr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6">
                    <a:alpha val="0"/>
                    <a:lumMod val="50000"/>
                    <a:lumOff val="5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endParaRPr lang="zh-CN" altLang="en-US" kern="0" dirty="0">
              <a:noFill/>
              <a:latin typeface="等线" panose="02010600030101010101" charset="-122"/>
              <a:ea typeface="等线" panose="02010600030101010101" charset="-122"/>
              <a:sym typeface="Roboto" panose="02000000000000000000" pitchFamily="2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953773" y="1692404"/>
            <a:ext cx="2583647" cy="564578"/>
          </a:xfrm>
          <a:prstGeom prst="rect">
            <a:avLst/>
          </a:prstGeom>
          <a:gradFill flip="none" rotWithShape="1">
            <a:gsLst>
              <a:gs pos="0">
                <a:srgbClr val="05A4E9">
                  <a:alpha val="20000"/>
                </a:srgbClr>
              </a:gs>
              <a:gs pos="100000">
                <a:srgbClr val="105CC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PA-任意多边形 2710"/>
          <p:cNvSpPr/>
          <p:nvPr>
            <p:custDataLst>
              <p:tags r:id="rId3"/>
            </p:custDataLst>
          </p:nvPr>
        </p:nvSpPr>
        <p:spPr>
          <a:xfrm>
            <a:off x="510706" y="1682365"/>
            <a:ext cx="1665874" cy="968759"/>
          </a:xfrm>
          <a:custGeom>
            <a:avLst/>
            <a:gdLst>
              <a:gd name="connsiteX0" fmla="*/ 1193883 w 1296216"/>
              <a:gd name="connsiteY0" fmla="*/ 401400 h 808115"/>
              <a:gd name="connsiteX1" fmla="*/ 1181711 w 1296216"/>
              <a:gd name="connsiteY1" fmla="*/ 432940 h 808115"/>
              <a:gd name="connsiteX2" fmla="*/ 1186063 w 1296216"/>
              <a:gd name="connsiteY2" fmla="*/ 419473 h 808115"/>
              <a:gd name="connsiteX3" fmla="*/ 1188203 w 1296216"/>
              <a:gd name="connsiteY3" fmla="*/ 411322 h 808115"/>
              <a:gd name="connsiteX4" fmla="*/ 400379 w 1296216"/>
              <a:gd name="connsiteY4" fmla="*/ 0 h 808115"/>
              <a:gd name="connsiteX5" fmla="*/ 1296216 w 1296216"/>
              <a:gd name="connsiteY5" fmla="*/ 0 h 808115"/>
              <a:gd name="connsiteX6" fmla="*/ 1188203 w 1296216"/>
              <a:gd name="connsiteY6" fmla="*/ 411322 h 808115"/>
              <a:gd name="connsiteX7" fmla="*/ 1174778 w 1296216"/>
              <a:gd name="connsiteY7" fmla="*/ 434776 h 808115"/>
              <a:gd name="connsiteX8" fmla="*/ 1075399 w 1296216"/>
              <a:gd name="connsiteY8" fmla="*/ 482677 h 808115"/>
              <a:gd name="connsiteX9" fmla="*/ 248726 w 1296216"/>
              <a:gd name="connsiteY9" fmla="*/ 482677 h 808115"/>
              <a:gd name="connsiteX10" fmla="*/ 248726 w 1296216"/>
              <a:gd name="connsiteY10" fmla="*/ 483394 h 808115"/>
              <a:gd name="connsiteX11" fmla="*/ 234565 w 1296216"/>
              <a:gd name="connsiteY11" fmla="*/ 483394 h 808115"/>
              <a:gd name="connsiteX12" fmla="*/ 18433 w 1296216"/>
              <a:gd name="connsiteY12" fmla="*/ 681720 h 808115"/>
              <a:gd name="connsiteX13" fmla="*/ 11241 w 1296216"/>
              <a:gd name="connsiteY13" fmla="*/ 713795 h 808115"/>
              <a:gd name="connsiteX14" fmla="*/ 11242 w 1296216"/>
              <a:gd name="connsiteY14" fmla="*/ 713795 h 808115"/>
              <a:gd name="connsiteX15" fmla="*/ 4767 w 1296216"/>
              <a:gd name="connsiteY15" fmla="*/ 742673 h 808115"/>
              <a:gd name="connsiteX16" fmla="*/ 1 w 1296216"/>
              <a:gd name="connsiteY16" fmla="*/ 808115 h 808115"/>
              <a:gd name="connsiteX17" fmla="*/ 1 w 1296216"/>
              <a:gd name="connsiteY17" fmla="*/ 713795 h 808115"/>
              <a:gd name="connsiteX18" fmla="*/ 0 w 1296216"/>
              <a:gd name="connsiteY18" fmla="*/ 713795 h 808115"/>
              <a:gd name="connsiteX19" fmla="*/ 0 w 1296216"/>
              <a:gd name="connsiteY19" fmla="*/ 400379 h 808115"/>
              <a:gd name="connsiteX20" fmla="*/ 400379 w 1296216"/>
              <a:gd name="connsiteY20" fmla="*/ 0 h 808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96216" h="808115">
                <a:moveTo>
                  <a:pt x="1193883" y="401400"/>
                </a:moveTo>
                <a:lnTo>
                  <a:pt x="1181711" y="432940"/>
                </a:lnTo>
                <a:cubicBezTo>
                  <a:pt x="1183904" y="427260"/>
                  <a:pt x="1184517" y="425361"/>
                  <a:pt x="1186063" y="419473"/>
                </a:cubicBezTo>
                <a:lnTo>
                  <a:pt x="1188203" y="411322"/>
                </a:lnTo>
                <a:close/>
                <a:moveTo>
                  <a:pt x="400379" y="0"/>
                </a:moveTo>
                <a:lnTo>
                  <a:pt x="1296216" y="0"/>
                </a:lnTo>
                <a:lnTo>
                  <a:pt x="1188203" y="411322"/>
                </a:lnTo>
                <a:lnTo>
                  <a:pt x="1174778" y="434776"/>
                </a:lnTo>
                <a:cubicBezTo>
                  <a:pt x="1151108" y="464527"/>
                  <a:pt x="1114799" y="482677"/>
                  <a:pt x="1075399" y="482677"/>
                </a:cubicBezTo>
                <a:lnTo>
                  <a:pt x="248726" y="482677"/>
                </a:lnTo>
                <a:lnTo>
                  <a:pt x="248726" y="483394"/>
                </a:lnTo>
                <a:lnTo>
                  <a:pt x="234565" y="483394"/>
                </a:lnTo>
                <a:cubicBezTo>
                  <a:pt x="137405" y="483394"/>
                  <a:pt x="54042" y="565173"/>
                  <a:pt x="18433" y="681720"/>
                </a:cubicBezTo>
                <a:lnTo>
                  <a:pt x="11241" y="713795"/>
                </a:lnTo>
                <a:lnTo>
                  <a:pt x="11242" y="713795"/>
                </a:lnTo>
                <a:lnTo>
                  <a:pt x="4767" y="742673"/>
                </a:lnTo>
                <a:cubicBezTo>
                  <a:pt x="1642" y="763811"/>
                  <a:pt x="1" y="785698"/>
                  <a:pt x="1" y="808115"/>
                </a:cubicBezTo>
                <a:lnTo>
                  <a:pt x="1" y="713795"/>
                </a:lnTo>
                <a:lnTo>
                  <a:pt x="0" y="713795"/>
                </a:lnTo>
                <a:lnTo>
                  <a:pt x="0" y="400379"/>
                </a:lnTo>
                <a:cubicBezTo>
                  <a:pt x="0" y="179255"/>
                  <a:pt x="179256" y="0"/>
                  <a:pt x="4003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5A4E9"/>
              </a:gs>
              <a:gs pos="53000">
                <a:srgbClr val="105CC7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ym typeface="Roboto" panose="02000000000000000000" pitchFamily="2" charset="0"/>
            </a:endParaRPr>
          </a:p>
        </p:txBody>
      </p:sp>
      <p:sp>
        <p:nvSpPr>
          <p:cNvPr id="54" name="PA-矩形 16+"/>
          <p:cNvSpPr/>
          <p:nvPr>
            <p:custDataLst>
              <p:tags r:id="rId4"/>
            </p:custDataLst>
          </p:nvPr>
        </p:nvSpPr>
        <p:spPr>
          <a:xfrm>
            <a:off x="2366615" y="1672208"/>
            <a:ext cx="3515343" cy="584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565" fontAlgn="base">
              <a:buClrTx/>
              <a:buSzTx/>
              <a:buFontTx/>
              <a:defRPr/>
            </a:pP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DSP芯片</a:t>
            </a:r>
            <a:r>
              <a:rPr kumimoji="1" lang="zh-CN" altLang="en-US" sz="320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无法满足</a:t>
            </a: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需求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66310" y="1614822"/>
            <a:ext cx="1571520" cy="50831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/>
            </a:pPr>
            <a:r>
              <a:rPr kumimoji="1" lang="zh-CN" altLang="en-US" sz="36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演示新手书" panose="00000500000000000000" pitchFamily="50" charset="-122"/>
                <a:ea typeface="演示新手书" panose="00000500000000000000" pitchFamily="50" charset="-122"/>
                <a:cs typeface="OPPOSans M" panose="00020600040101010101" pitchFamily="18" charset="-122"/>
                <a:sym typeface="思源宋体 CN Heavy" panose="02020900000000000000" pitchFamily="18" charset="-122"/>
              </a:rPr>
              <a:t>痛点一</a:t>
            </a:r>
          </a:p>
        </p:txBody>
      </p:sp>
      <p:sp>
        <p:nvSpPr>
          <p:cNvPr id="7" name="矩形 6"/>
          <p:cNvSpPr/>
          <p:nvPr/>
        </p:nvSpPr>
        <p:spPr>
          <a:xfrm>
            <a:off x="777720" y="2430780"/>
            <a:ext cx="5219009" cy="1347401"/>
          </a:xfrm>
          <a:prstGeom prst="rect">
            <a:avLst/>
          </a:prstGeom>
          <a:solidFill>
            <a:schemeClr val="accent1">
              <a:alpha val="9000"/>
            </a:schemeClr>
          </a:solidFill>
          <a:ln w="3175">
            <a:solidFill>
              <a:schemeClr val="accent1">
                <a:lumMod val="9296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ectangle 6+"/>
          <p:cNvSpPr/>
          <p:nvPr/>
        </p:nvSpPr>
        <p:spPr>
          <a:xfrm>
            <a:off x="777720" y="2430780"/>
            <a:ext cx="1398861" cy="1347401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825830" y="2385695"/>
            <a:ext cx="1409700" cy="1348036"/>
            <a:chOff x="536740" y="2362385"/>
            <a:chExt cx="1699332" cy="1539875"/>
          </a:xfrm>
        </p:grpSpPr>
        <p:pic>
          <p:nvPicPr>
            <p:cNvPr id="57" name="图片 171" descr="CPU (3)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36740" y="2362385"/>
              <a:ext cx="1539875" cy="15398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8" name="文本框 57"/>
            <p:cNvSpPr txBox="1"/>
            <p:nvPr/>
          </p:nvSpPr>
          <p:spPr>
            <a:xfrm>
              <a:off x="920238" y="2896254"/>
              <a:ext cx="1315834" cy="2966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b="1" kern="0" dirty="0">
                  <a:solidFill>
                    <a:schemeClr val="bg1"/>
                  </a:solidFill>
                  <a:effectLst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DSP</a:t>
              </a:r>
            </a:p>
          </p:txBody>
        </p:sp>
      </p:grpSp>
      <p:sp>
        <p:nvSpPr>
          <p:cNvPr id="61" name="圆角矩形 138"/>
          <p:cNvSpPr/>
          <p:nvPr/>
        </p:nvSpPr>
        <p:spPr>
          <a:xfrm>
            <a:off x="2296502" y="2622624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指令集限制</a:t>
            </a:r>
          </a:p>
        </p:txBody>
      </p:sp>
      <p:sp>
        <p:nvSpPr>
          <p:cNvPr id="62" name="圆角矩形 135"/>
          <p:cNvSpPr/>
          <p:nvPr/>
        </p:nvSpPr>
        <p:spPr>
          <a:xfrm>
            <a:off x="2296502" y="3170841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吞吐率低下</a:t>
            </a:r>
          </a:p>
        </p:txBody>
      </p:sp>
      <p:sp>
        <p:nvSpPr>
          <p:cNvPr id="63" name="圆角矩形 166"/>
          <p:cNvSpPr/>
          <p:nvPr/>
        </p:nvSpPr>
        <p:spPr>
          <a:xfrm>
            <a:off x="4146615" y="2622624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带宽制约</a:t>
            </a:r>
          </a:p>
        </p:txBody>
      </p:sp>
      <p:sp>
        <p:nvSpPr>
          <p:cNvPr id="64" name="圆角矩形 167"/>
          <p:cNvSpPr/>
          <p:nvPr/>
        </p:nvSpPr>
        <p:spPr>
          <a:xfrm>
            <a:off x="4146615" y="3170841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串行架构</a:t>
            </a:r>
          </a:p>
        </p:txBody>
      </p:sp>
      <p:sp>
        <p:nvSpPr>
          <p:cNvPr id="65" name="梯形 64"/>
          <p:cNvSpPr/>
          <p:nvPr/>
        </p:nvSpPr>
        <p:spPr>
          <a:xfrm>
            <a:off x="626266" y="4062306"/>
            <a:ext cx="5370463" cy="570931"/>
          </a:xfrm>
          <a:prstGeom prst="trapezoid">
            <a:avLst>
              <a:gd name="adj" fmla="val 92340"/>
            </a:avLst>
          </a:prstGeom>
          <a:gradFill>
            <a:gsLst>
              <a:gs pos="41000">
                <a:schemeClr val="accent2">
                  <a:alpha val="0"/>
                </a:schemeClr>
              </a:gs>
              <a:gs pos="100000">
                <a:schemeClr val="accent1">
                  <a:alpha val="35000"/>
                </a:schemeClr>
              </a:gs>
            </a:gsLst>
            <a:lin ang="5400000" scaled="0"/>
          </a:gradFill>
          <a:ln w="12700" cap="flat" cmpd="sng" algn="ctr">
            <a:gradFill>
              <a:gsLst>
                <a:gs pos="40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44880"/>
            <a:endParaRPr lang="zh-CN" altLang="en-US" sz="1860" kern="0">
              <a:solidFill>
                <a:prstClr val="white"/>
              </a:solidFill>
              <a:latin typeface="HarmonyOS Sans SC Bold"/>
              <a:ea typeface="+mj-ea"/>
            </a:endParaRPr>
          </a:p>
        </p:txBody>
      </p:sp>
      <p:sp>
        <p:nvSpPr>
          <p:cNvPr id="67" name="PA-矩形 16+"/>
          <p:cNvSpPr/>
          <p:nvPr>
            <p:custDataLst>
              <p:tags r:id="rId5"/>
            </p:custDataLst>
          </p:nvPr>
        </p:nvSpPr>
        <p:spPr>
          <a:xfrm>
            <a:off x="1331428" y="3990353"/>
            <a:ext cx="4062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565" fontAlgn="base">
              <a:buClrTx/>
              <a:buSzTx/>
              <a:buFontTx/>
              <a:defRPr/>
            </a:pP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使用</a:t>
            </a:r>
            <a:r>
              <a:rPr kumimoji="1" lang="en-US" altLang="zh-CN" sz="3200" dirty="0">
                <a:solidFill>
                  <a:schemeClr val="accent3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GPU</a:t>
            </a: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替代是</a:t>
            </a:r>
            <a:r>
              <a:rPr kumimoji="1" lang="zh-CN" altLang="en-US" sz="3200" dirty="0">
                <a:solidFill>
                  <a:schemeClr val="accent3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大势所趋</a:t>
            </a:r>
          </a:p>
        </p:txBody>
      </p:sp>
      <p:sp>
        <p:nvSpPr>
          <p:cNvPr id="68" name="矩形 67"/>
          <p:cNvSpPr/>
          <p:nvPr/>
        </p:nvSpPr>
        <p:spPr>
          <a:xfrm>
            <a:off x="777720" y="4783342"/>
            <a:ext cx="5219009" cy="1347401"/>
          </a:xfrm>
          <a:prstGeom prst="rect">
            <a:avLst/>
          </a:prstGeom>
          <a:solidFill>
            <a:schemeClr val="accent1">
              <a:alpha val="9000"/>
            </a:schemeClr>
          </a:solidFill>
          <a:ln w="3175">
            <a:solidFill>
              <a:schemeClr val="accent1">
                <a:lumMod val="9296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ectangle 6+"/>
          <p:cNvSpPr/>
          <p:nvPr/>
        </p:nvSpPr>
        <p:spPr>
          <a:xfrm>
            <a:off x="777720" y="4783342"/>
            <a:ext cx="1398861" cy="1347401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圆角矩形 138"/>
          <p:cNvSpPr/>
          <p:nvPr/>
        </p:nvSpPr>
        <p:spPr>
          <a:xfrm>
            <a:off x="2296502" y="4975186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延迟率低</a:t>
            </a:r>
          </a:p>
        </p:txBody>
      </p:sp>
      <p:sp>
        <p:nvSpPr>
          <p:cNvPr id="74" name="圆角矩形 135"/>
          <p:cNvSpPr/>
          <p:nvPr/>
        </p:nvSpPr>
        <p:spPr>
          <a:xfrm>
            <a:off x="2296502" y="5523403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吞吐率高</a:t>
            </a:r>
          </a:p>
        </p:txBody>
      </p:sp>
      <p:sp>
        <p:nvSpPr>
          <p:cNvPr id="82" name="圆角矩形 166"/>
          <p:cNvSpPr/>
          <p:nvPr/>
        </p:nvSpPr>
        <p:spPr>
          <a:xfrm>
            <a:off x="4146615" y="4975186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高速带宽</a:t>
            </a:r>
          </a:p>
        </p:txBody>
      </p:sp>
      <p:sp>
        <p:nvSpPr>
          <p:cNvPr id="86" name="圆角矩形 167"/>
          <p:cNvSpPr/>
          <p:nvPr/>
        </p:nvSpPr>
        <p:spPr>
          <a:xfrm>
            <a:off x="4146615" y="5523403"/>
            <a:ext cx="1734843" cy="43141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  <a:sym typeface="+mn-ea"/>
              </a:rPr>
              <a:t>并行架构</a:t>
            </a:r>
          </a:p>
        </p:txBody>
      </p:sp>
      <p:sp>
        <p:nvSpPr>
          <p:cNvPr id="173" name="任意多边形 172"/>
          <p:cNvSpPr/>
          <p:nvPr/>
        </p:nvSpPr>
        <p:spPr>
          <a:xfrm rot="10800000">
            <a:off x="3271934" y="3659943"/>
            <a:ext cx="692435" cy="399607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任意多边形 172"/>
          <p:cNvSpPr/>
          <p:nvPr/>
        </p:nvSpPr>
        <p:spPr>
          <a:xfrm rot="10800000">
            <a:off x="1757033" y="3659943"/>
            <a:ext cx="692435" cy="399607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" name="任意多边形 172"/>
          <p:cNvSpPr/>
          <p:nvPr/>
        </p:nvSpPr>
        <p:spPr>
          <a:xfrm rot="10800000">
            <a:off x="4849957" y="3659943"/>
            <a:ext cx="692435" cy="399607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8" name="PA-任意多边形 21"/>
          <p:cNvSpPr/>
          <p:nvPr>
            <p:custDataLst>
              <p:tags r:id="rId6"/>
            </p:custDataLst>
          </p:nvPr>
        </p:nvSpPr>
        <p:spPr>
          <a:xfrm flipH="1">
            <a:off x="6394581" y="1686548"/>
            <a:ext cx="5679275" cy="4769308"/>
          </a:xfrm>
          <a:custGeom>
            <a:avLst/>
            <a:gdLst>
              <a:gd name="connsiteX0" fmla="*/ 2173410 w 3270481"/>
              <a:gd name="connsiteY0" fmla="*/ 1 h 4522126"/>
              <a:gd name="connsiteX1" fmla="*/ 2172418 w 3270481"/>
              <a:gd name="connsiteY1" fmla="*/ 1 h 4522126"/>
              <a:gd name="connsiteX2" fmla="*/ 2173482 w 3270481"/>
              <a:gd name="connsiteY2" fmla="*/ 341 h 4522126"/>
              <a:gd name="connsiteX3" fmla="*/ 2169418 w 3270481"/>
              <a:gd name="connsiteY3" fmla="*/ 0 h 4522126"/>
              <a:gd name="connsiteX4" fmla="*/ 2169415 w 3270481"/>
              <a:gd name="connsiteY4" fmla="*/ 1 h 4522126"/>
              <a:gd name="connsiteX5" fmla="*/ 1356970 w 3270481"/>
              <a:gd name="connsiteY5" fmla="*/ 1 h 4522126"/>
              <a:gd name="connsiteX6" fmla="*/ 1355978 w 3270481"/>
              <a:gd name="connsiteY6" fmla="*/ 1 h 4522126"/>
              <a:gd name="connsiteX7" fmla="*/ 1352980 w 3270481"/>
              <a:gd name="connsiteY7" fmla="*/ 1 h 4522126"/>
              <a:gd name="connsiteX8" fmla="*/ 1352978 w 3270481"/>
              <a:gd name="connsiteY8" fmla="*/ 0 h 4522126"/>
              <a:gd name="connsiteX9" fmla="*/ 1352975 w 3270481"/>
              <a:gd name="connsiteY9" fmla="*/ 1 h 4522126"/>
              <a:gd name="connsiteX10" fmla="*/ 977763 w 3270481"/>
              <a:gd name="connsiteY10" fmla="*/ 1 h 4522126"/>
              <a:gd name="connsiteX11" fmla="*/ 161323 w 3270481"/>
              <a:gd name="connsiteY11" fmla="*/ 1 h 4522126"/>
              <a:gd name="connsiteX12" fmla="*/ 0 w 3270481"/>
              <a:gd name="connsiteY12" fmla="*/ 255467 h 4522126"/>
              <a:gd name="connsiteX13" fmla="*/ 0 w 3270481"/>
              <a:gd name="connsiteY13" fmla="*/ 675318 h 4522126"/>
              <a:gd name="connsiteX14" fmla="*/ 0 w 3270481"/>
              <a:gd name="connsiteY14" fmla="*/ 1704352 h 4522126"/>
              <a:gd name="connsiteX15" fmla="*/ 0 w 3270481"/>
              <a:gd name="connsiteY15" fmla="*/ 2124204 h 4522126"/>
              <a:gd name="connsiteX16" fmla="*/ 0 w 3270481"/>
              <a:gd name="connsiteY16" fmla="*/ 2809737 h 4522126"/>
              <a:gd name="connsiteX17" fmla="*/ 0 w 3270481"/>
              <a:gd name="connsiteY17" fmla="*/ 2948814 h 4522126"/>
              <a:gd name="connsiteX18" fmla="*/ 0 w 3270481"/>
              <a:gd name="connsiteY18" fmla="*/ 4258622 h 4522126"/>
              <a:gd name="connsiteX19" fmla="*/ 0 w 3270481"/>
              <a:gd name="connsiteY19" fmla="*/ 4397698 h 4522126"/>
              <a:gd name="connsiteX20" fmla="*/ 82277 w 3270481"/>
              <a:gd name="connsiteY20" fmla="*/ 4522126 h 4522126"/>
              <a:gd name="connsiteX21" fmla="*/ 898718 w 3270481"/>
              <a:gd name="connsiteY21" fmla="*/ 4522126 h 4522126"/>
              <a:gd name="connsiteX22" fmla="*/ 2371764 w 3270481"/>
              <a:gd name="connsiteY22" fmla="*/ 4522126 h 4522126"/>
              <a:gd name="connsiteX23" fmla="*/ 3188204 w 3270481"/>
              <a:gd name="connsiteY23" fmla="*/ 4522126 h 4522126"/>
              <a:gd name="connsiteX24" fmla="*/ 3270481 w 3270481"/>
              <a:gd name="connsiteY24" fmla="*/ 4397698 h 4522126"/>
              <a:gd name="connsiteX25" fmla="*/ 3270481 w 3270481"/>
              <a:gd name="connsiteY25" fmla="*/ 4258622 h 4522126"/>
              <a:gd name="connsiteX26" fmla="*/ 3270481 w 3270481"/>
              <a:gd name="connsiteY26" fmla="*/ 2948814 h 4522126"/>
              <a:gd name="connsiteX27" fmla="*/ 3270481 w 3270481"/>
              <a:gd name="connsiteY27" fmla="*/ 2809737 h 4522126"/>
              <a:gd name="connsiteX28" fmla="*/ 3270481 w 3270481"/>
              <a:gd name="connsiteY28" fmla="*/ 2124204 h 4522126"/>
              <a:gd name="connsiteX29" fmla="*/ 3270481 w 3270481"/>
              <a:gd name="connsiteY29" fmla="*/ 2080790 h 4522126"/>
              <a:gd name="connsiteX30" fmla="*/ 3270481 w 3270481"/>
              <a:gd name="connsiteY30" fmla="*/ 675318 h 4522126"/>
              <a:gd name="connsiteX31" fmla="*/ 3270481 w 3270481"/>
              <a:gd name="connsiteY31" fmla="*/ 631906 h 4522126"/>
              <a:gd name="connsiteX32" fmla="*/ 3110373 w 3270481"/>
              <a:gd name="connsiteY32" fmla="*/ 400123 h 4522126"/>
              <a:gd name="connsiteX33" fmla="*/ 3100707 w 3270481"/>
              <a:gd name="connsiteY33" fmla="*/ 400123 h 4522126"/>
              <a:gd name="connsiteX34" fmla="*/ 3100707 w 3270481"/>
              <a:gd name="connsiteY34" fmla="*/ 399611 h 4522126"/>
              <a:gd name="connsiteX35" fmla="*/ 2399130 w 3270481"/>
              <a:gd name="connsiteY35" fmla="*/ 399611 h 4522126"/>
              <a:gd name="connsiteX36" fmla="*/ 2287775 w 3270481"/>
              <a:gd name="connsiteY36" fmla="*/ 279966 h 4522126"/>
              <a:gd name="connsiteX37" fmla="*/ 2235309 w 3270481"/>
              <a:gd name="connsiteY37" fmla="*/ 71034 h 4522126"/>
              <a:gd name="connsiteX38" fmla="*/ 2234943 w 3270481"/>
              <a:gd name="connsiteY38" fmla="*/ 68193 h 4522126"/>
              <a:gd name="connsiteX39" fmla="*/ 2234104 w 3270481"/>
              <a:gd name="connsiteY39" fmla="*/ 66239 h 4522126"/>
              <a:gd name="connsiteX40" fmla="*/ 2232773 w 3270481"/>
              <a:gd name="connsiteY40" fmla="*/ 60936 h 4522126"/>
              <a:gd name="connsiteX41" fmla="*/ 2232224 w 3270481"/>
              <a:gd name="connsiteY41" fmla="*/ 61236 h 4522126"/>
              <a:gd name="connsiteX42" fmla="*/ 2233411 w 3270481"/>
              <a:gd name="connsiteY42" fmla="*/ 64024 h 4522126"/>
              <a:gd name="connsiteX43" fmla="*/ 2233521 w 3270481"/>
              <a:gd name="connsiteY43" fmla="*/ 64879 h 4522126"/>
              <a:gd name="connsiteX44" fmla="*/ 2219703 w 3270481"/>
              <a:gd name="connsiteY44" fmla="*/ 32702 h 4522126"/>
              <a:gd name="connsiteX45" fmla="*/ 2197098 w 3270481"/>
              <a:gd name="connsiteY45" fmla="*/ 8774 h 4522126"/>
              <a:gd name="connsiteX46" fmla="*/ 2170926 w 3270481"/>
              <a:gd name="connsiteY46" fmla="*/ 478 h 4522126"/>
              <a:gd name="connsiteX47" fmla="*/ 2172418 w 3270481"/>
              <a:gd name="connsiteY47" fmla="*/ 1 h 4522126"/>
              <a:gd name="connsiteX48" fmla="*/ 2169420 w 3270481"/>
              <a:gd name="connsiteY48" fmla="*/ 1 h 4522126"/>
              <a:gd name="connsiteX0-1" fmla="*/ 2173410 w 3270481"/>
              <a:gd name="connsiteY0-2" fmla="*/ 335281 h 4857406"/>
              <a:gd name="connsiteX1-3" fmla="*/ 2172418 w 3270481"/>
              <a:gd name="connsiteY1-4" fmla="*/ 335281 h 4857406"/>
              <a:gd name="connsiteX2-5" fmla="*/ 2173482 w 3270481"/>
              <a:gd name="connsiteY2-6" fmla="*/ 335621 h 4857406"/>
              <a:gd name="connsiteX3-7" fmla="*/ 2173410 w 3270481"/>
              <a:gd name="connsiteY3-8" fmla="*/ 335281 h 4857406"/>
              <a:gd name="connsiteX4-9" fmla="*/ 1925578 w 3270481"/>
              <a:gd name="connsiteY4-10" fmla="*/ 0 h 4857406"/>
              <a:gd name="connsiteX5-11" fmla="*/ 2169415 w 3270481"/>
              <a:gd name="connsiteY5-12" fmla="*/ 335281 h 4857406"/>
              <a:gd name="connsiteX6-13" fmla="*/ 1356970 w 3270481"/>
              <a:gd name="connsiteY6-14" fmla="*/ 335281 h 4857406"/>
              <a:gd name="connsiteX7-15" fmla="*/ 1355978 w 3270481"/>
              <a:gd name="connsiteY7-16" fmla="*/ 335281 h 4857406"/>
              <a:gd name="connsiteX8-17" fmla="*/ 1352980 w 3270481"/>
              <a:gd name="connsiteY8-18" fmla="*/ 335281 h 4857406"/>
              <a:gd name="connsiteX9-19" fmla="*/ 1352978 w 3270481"/>
              <a:gd name="connsiteY9-20" fmla="*/ 335280 h 4857406"/>
              <a:gd name="connsiteX10-21" fmla="*/ 1352975 w 3270481"/>
              <a:gd name="connsiteY10-22" fmla="*/ 335281 h 4857406"/>
              <a:gd name="connsiteX11-23" fmla="*/ 977763 w 3270481"/>
              <a:gd name="connsiteY11-24" fmla="*/ 335281 h 4857406"/>
              <a:gd name="connsiteX12-25" fmla="*/ 161323 w 3270481"/>
              <a:gd name="connsiteY12-26" fmla="*/ 335281 h 4857406"/>
              <a:gd name="connsiteX13-27" fmla="*/ 0 w 3270481"/>
              <a:gd name="connsiteY13-28" fmla="*/ 590747 h 4857406"/>
              <a:gd name="connsiteX14-29" fmla="*/ 0 w 3270481"/>
              <a:gd name="connsiteY14-30" fmla="*/ 1010598 h 4857406"/>
              <a:gd name="connsiteX15-31" fmla="*/ 0 w 3270481"/>
              <a:gd name="connsiteY15-32" fmla="*/ 2039632 h 4857406"/>
              <a:gd name="connsiteX16-33" fmla="*/ 0 w 3270481"/>
              <a:gd name="connsiteY16-34" fmla="*/ 2459484 h 4857406"/>
              <a:gd name="connsiteX17-35" fmla="*/ 0 w 3270481"/>
              <a:gd name="connsiteY17-36" fmla="*/ 3145017 h 4857406"/>
              <a:gd name="connsiteX18-37" fmla="*/ 0 w 3270481"/>
              <a:gd name="connsiteY18-38" fmla="*/ 3284094 h 4857406"/>
              <a:gd name="connsiteX19-39" fmla="*/ 0 w 3270481"/>
              <a:gd name="connsiteY19-40" fmla="*/ 4593902 h 4857406"/>
              <a:gd name="connsiteX20-41" fmla="*/ 0 w 3270481"/>
              <a:gd name="connsiteY20-42" fmla="*/ 4732978 h 4857406"/>
              <a:gd name="connsiteX21-43" fmla="*/ 82277 w 3270481"/>
              <a:gd name="connsiteY21-44" fmla="*/ 4857406 h 4857406"/>
              <a:gd name="connsiteX22-45" fmla="*/ 898718 w 3270481"/>
              <a:gd name="connsiteY22-46" fmla="*/ 4857406 h 4857406"/>
              <a:gd name="connsiteX23-47" fmla="*/ 2371764 w 3270481"/>
              <a:gd name="connsiteY23-48" fmla="*/ 4857406 h 4857406"/>
              <a:gd name="connsiteX24-49" fmla="*/ 3188204 w 3270481"/>
              <a:gd name="connsiteY24-50" fmla="*/ 4857406 h 4857406"/>
              <a:gd name="connsiteX25-51" fmla="*/ 3270481 w 3270481"/>
              <a:gd name="connsiteY25-52" fmla="*/ 4732978 h 4857406"/>
              <a:gd name="connsiteX26-53" fmla="*/ 3270481 w 3270481"/>
              <a:gd name="connsiteY26-54" fmla="*/ 4593902 h 4857406"/>
              <a:gd name="connsiteX27-55" fmla="*/ 3270481 w 3270481"/>
              <a:gd name="connsiteY27-56" fmla="*/ 3284094 h 4857406"/>
              <a:gd name="connsiteX28-57" fmla="*/ 3270481 w 3270481"/>
              <a:gd name="connsiteY28-58" fmla="*/ 3145017 h 4857406"/>
              <a:gd name="connsiteX29-59" fmla="*/ 3270481 w 3270481"/>
              <a:gd name="connsiteY29-60" fmla="*/ 2459484 h 4857406"/>
              <a:gd name="connsiteX30-61" fmla="*/ 3270481 w 3270481"/>
              <a:gd name="connsiteY30-62" fmla="*/ 2416070 h 4857406"/>
              <a:gd name="connsiteX31-63" fmla="*/ 3270481 w 3270481"/>
              <a:gd name="connsiteY31-64" fmla="*/ 1010598 h 4857406"/>
              <a:gd name="connsiteX32-65" fmla="*/ 3270481 w 3270481"/>
              <a:gd name="connsiteY32-66" fmla="*/ 967186 h 4857406"/>
              <a:gd name="connsiteX33-67" fmla="*/ 3110373 w 3270481"/>
              <a:gd name="connsiteY33-68" fmla="*/ 735403 h 4857406"/>
              <a:gd name="connsiteX34-69" fmla="*/ 3100707 w 3270481"/>
              <a:gd name="connsiteY34-70" fmla="*/ 735403 h 4857406"/>
              <a:gd name="connsiteX35-71" fmla="*/ 3100707 w 3270481"/>
              <a:gd name="connsiteY35-72" fmla="*/ 734891 h 4857406"/>
              <a:gd name="connsiteX36-73" fmla="*/ 2399130 w 3270481"/>
              <a:gd name="connsiteY36-74" fmla="*/ 734891 h 4857406"/>
              <a:gd name="connsiteX37-75" fmla="*/ 2287775 w 3270481"/>
              <a:gd name="connsiteY37-76" fmla="*/ 615246 h 4857406"/>
              <a:gd name="connsiteX38-77" fmla="*/ 2235309 w 3270481"/>
              <a:gd name="connsiteY38-78" fmla="*/ 406314 h 4857406"/>
              <a:gd name="connsiteX39-79" fmla="*/ 2234943 w 3270481"/>
              <a:gd name="connsiteY39-80" fmla="*/ 403473 h 4857406"/>
              <a:gd name="connsiteX40-81" fmla="*/ 2234104 w 3270481"/>
              <a:gd name="connsiteY40-82" fmla="*/ 401519 h 4857406"/>
              <a:gd name="connsiteX41-83" fmla="*/ 2232773 w 3270481"/>
              <a:gd name="connsiteY41-84" fmla="*/ 396216 h 4857406"/>
              <a:gd name="connsiteX42-85" fmla="*/ 2232224 w 3270481"/>
              <a:gd name="connsiteY42-86" fmla="*/ 396516 h 4857406"/>
              <a:gd name="connsiteX43-87" fmla="*/ 2233411 w 3270481"/>
              <a:gd name="connsiteY43-88" fmla="*/ 399304 h 4857406"/>
              <a:gd name="connsiteX44-89" fmla="*/ 2233521 w 3270481"/>
              <a:gd name="connsiteY44-90" fmla="*/ 400159 h 4857406"/>
              <a:gd name="connsiteX45-91" fmla="*/ 2219703 w 3270481"/>
              <a:gd name="connsiteY45-92" fmla="*/ 367982 h 4857406"/>
              <a:gd name="connsiteX46-93" fmla="*/ 2197098 w 3270481"/>
              <a:gd name="connsiteY46-94" fmla="*/ 344054 h 4857406"/>
              <a:gd name="connsiteX47-95" fmla="*/ 2170926 w 3270481"/>
              <a:gd name="connsiteY47-96" fmla="*/ 335758 h 4857406"/>
              <a:gd name="connsiteX48-97" fmla="*/ 2172418 w 3270481"/>
              <a:gd name="connsiteY48-98" fmla="*/ 335281 h 4857406"/>
              <a:gd name="connsiteX49" fmla="*/ 2169420 w 3270481"/>
              <a:gd name="connsiteY49" fmla="*/ 335281 h 4857406"/>
              <a:gd name="connsiteX50" fmla="*/ 1925578 w 3270481"/>
              <a:gd name="connsiteY50" fmla="*/ 0 h 4857406"/>
              <a:gd name="connsiteX0-99" fmla="*/ 2173410 w 3270481"/>
              <a:gd name="connsiteY0-100" fmla="*/ 1 h 4522126"/>
              <a:gd name="connsiteX1-101" fmla="*/ 2172418 w 3270481"/>
              <a:gd name="connsiteY1-102" fmla="*/ 1 h 4522126"/>
              <a:gd name="connsiteX2-103" fmla="*/ 2173482 w 3270481"/>
              <a:gd name="connsiteY2-104" fmla="*/ 341 h 4522126"/>
              <a:gd name="connsiteX3-105" fmla="*/ 2173410 w 3270481"/>
              <a:gd name="connsiteY3-106" fmla="*/ 1 h 4522126"/>
              <a:gd name="connsiteX4-107" fmla="*/ 2169420 w 3270481"/>
              <a:gd name="connsiteY4-108" fmla="*/ 1 h 4522126"/>
              <a:gd name="connsiteX5-109" fmla="*/ 2169415 w 3270481"/>
              <a:gd name="connsiteY5-110" fmla="*/ 1 h 4522126"/>
              <a:gd name="connsiteX6-111" fmla="*/ 1356970 w 3270481"/>
              <a:gd name="connsiteY6-112" fmla="*/ 1 h 4522126"/>
              <a:gd name="connsiteX7-113" fmla="*/ 1355978 w 3270481"/>
              <a:gd name="connsiteY7-114" fmla="*/ 1 h 4522126"/>
              <a:gd name="connsiteX8-115" fmla="*/ 1352980 w 3270481"/>
              <a:gd name="connsiteY8-116" fmla="*/ 1 h 4522126"/>
              <a:gd name="connsiteX9-117" fmla="*/ 1352978 w 3270481"/>
              <a:gd name="connsiteY9-118" fmla="*/ 0 h 4522126"/>
              <a:gd name="connsiteX10-119" fmla="*/ 1352975 w 3270481"/>
              <a:gd name="connsiteY10-120" fmla="*/ 1 h 4522126"/>
              <a:gd name="connsiteX11-121" fmla="*/ 977763 w 3270481"/>
              <a:gd name="connsiteY11-122" fmla="*/ 1 h 4522126"/>
              <a:gd name="connsiteX12-123" fmla="*/ 161323 w 3270481"/>
              <a:gd name="connsiteY12-124" fmla="*/ 1 h 4522126"/>
              <a:gd name="connsiteX13-125" fmla="*/ 0 w 3270481"/>
              <a:gd name="connsiteY13-126" fmla="*/ 255467 h 4522126"/>
              <a:gd name="connsiteX14-127" fmla="*/ 0 w 3270481"/>
              <a:gd name="connsiteY14-128" fmla="*/ 675318 h 4522126"/>
              <a:gd name="connsiteX15-129" fmla="*/ 0 w 3270481"/>
              <a:gd name="connsiteY15-130" fmla="*/ 1704352 h 4522126"/>
              <a:gd name="connsiteX16-131" fmla="*/ 0 w 3270481"/>
              <a:gd name="connsiteY16-132" fmla="*/ 2124204 h 4522126"/>
              <a:gd name="connsiteX17-133" fmla="*/ 0 w 3270481"/>
              <a:gd name="connsiteY17-134" fmla="*/ 2809737 h 4522126"/>
              <a:gd name="connsiteX18-135" fmla="*/ 0 w 3270481"/>
              <a:gd name="connsiteY18-136" fmla="*/ 2948814 h 4522126"/>
              <a:gd name="connsiteX19-137" fmla="*/ 0 w 3270481"/>
              <a:gd name="connsiteY19-138" fmla="*/ 4258622 h 4522126"/>
              <a:gd name="connsiteX20-139" fmla="*/ 0 w 3270481"/>
              <a:gd name="connsiteY20-140" fmla="*/ 4397698 h 4522126"/>
              <a:gd name="connsiteX21-141" fmla="*/ 82277 w 3270481"/>
              <a:gd name="connsiteY21-142" fmla="*/ 4522126 h 4522126"/>
              <a:gd name="connsiteX22-143" fmla="*/ 898718 w 3270481"/>
              <a:gd name="connsiteY22-144" fmla="*/ 4522126 h 4522126"/>
              <a:gd name="connsiteX23-145" fmla="*/ 2371764 w 3270481"/>
              <a:gd name="connsiteY23-146" fmla="*/ 4522126 h 4522126"/>
              <a:gd name="connsiteX24-147" fmla="*/ 3188204 w 3270481"/>
              <a:gd name="connsiteY24-148" fmla="*/ 4522126 h 4522126"/>
              <a:gd name="connsiteX25-149" fmla="*/ 3270481 w 3270481"/>
              <a:gd name="connsiteY25-150" fmla="*/ 4397698 h 4522126"/>
              <a:gd name="connsiteX26-151" fmla="*/ 3270481 w 3270481"/>
              <a:gd name="connsiteY26-152" fmla="*/ 4258622 h 4522126"/>
              <a:gd name="connsiteX27-153" fmla="*/ 3270481 w 3270481"/>
              <a:gd name="connsiteY27-154" fmla="*/ 2948814 h 4522126"/>
              <a:gd name="connsiteX28-155" fmla="*/ 3270481 w 3270481"/>
              <a:gd name="connsiteY28-156" fmla="*/ 2809737 h 4522126"/>
              <a:gd name="connsiteX29-157" fmla="*/ 3270481 w 3270481"/>
              <a:gd name="connsiteY29-158" fmla="*/ 2124204 h 4522126"/>
              <a:gd name="connsiteX30-159" fmla="*/ 3270481 w 3270481"/>
              <a:gd name="connsiteY30-160" fmla="*/ 2080790 h 4522126"/>
              <a:gd name="connsiteX31-161" fmla="*/ 3270481 w 3270481"/>
              <a:gd name="connsiteY31-162" fmla="*/ 675318 h 4522126"/>
              <a:gd name="connsiteX32-163" fmla="*/ 3270481 w 3270481"/>
              <a:gd name="connsiteY32-164" fmla="*/ 631906 h 4522126"/>
              <a:gd name="connsiteX33-165" fmla="*/ 3110373 w 3270481"/>
              <a:gd name="connsiteY33-166" fmla="*/ 400123 h 4522126"/>
              <a:gd name="connsiteX34-167" fmla="*/ 3100707 w 3270481"/>
              <a:gd name="connsiteY34-168" fmla="*/ 400123 h 4522126"/>
              <a:gd name="connsiteX35-169" fmla="*/ 3100707 w 3270481"/>
              <a:gd name="connsiteY35-170" fmla="*/ 399611 h 4522126"/>
              <a:gd name="connsiteX36-171" fmla="*/ 2399130 w 3270481"/>
              <a:gd name="connsiteY36-172" fmla="*/ 399611 h 4522126"/>
              <a:gd name="connsiteX37-173" fmla="*/ 2287775 w 3270481"/>
              <a:gd name="connsiteY37-174" fmla="*/ 279966 h 4522126"/>
              <a:gd name="connsiteX38-175" fmla="*/ 2235309 w 3270481"/>
              <a:gd name="connsiteY38-176" fmla="*/ 71034 h 4522126"/>
              <a:gd name="connsiteX39-177" fmla="*/ 2234943 w 3270481"/>
              <a:gd name="connsiteY39-178" fmla="*/ 68193 h 4522126"/>
              <a:gd name="connsiteX40-179" fmla="*/ 2234104 w 3270481"/>
              <a:gd name="connsiteY40-180" fmla="*/ 66239 h 4522126"/>
              <a:gd name="connsiteX41-181" fmla="*/ 2232773 w 3270481"/>
              <a:gd name="connsiteY41-182" fmla="*/ 60936 h 4522126"/>
              <a:gd name="connsiteX42-183" fmla="*/ 2232224 w 3270481"/>
              <a:gd name="connsiteY42-184" fmla="*/ 61236 h 4522126"/>
              <a:gd name="connsiteX43-185" fmla="*/ 2233411 w 3270481"/>
              <a:gd name="connsiteY43-186" fmla="*/ 64024 h 4522126"/>
              <a:gd name="connsiteX44-187" fmla="*/ 2233521 w 3270481"/>
              <a:gd name="connsiteY44-188" fmla="*/ 64879 h 4522126"/>
              <a:gd name="connsiteX45-189" fmla="*/ 2219703 w 3270481"/>
              <a:gd name="connsiteY45-190" fmla="*/ 32702 h 4522126"/>
              <a:gd name="connsiteX46-191" fmla="*/ 2197098 w 3270481"/>
              <a:gd name="connsiteY46-192" fmla="*/ 8774 h 4522126"/>
              <a:gd name="connsiteX47-193" fmla="*/ 2170926 w 3270481"/>
              <a:gd name="connsiteY47-194" fmla="*/ 478 h 4522126"/>
              <a:gd name="connsiteX48-195" fmla="*/ 2172418 w 3270481"/>
              <a:gd name="connsiteY48-196" fmla="*/ 1 h 4522126"/>
              <a:gd name="connsiteX49-197" fmla="*/ 2169420 w 3270481"/>
              <a:gd name="connsiteY49-198" fmla="*/ 1 h 4522126"/>
              <a:gd name="connsiteX0-199" fmla="*/ 2173410 w 3270481"/>
              <a:gd name="connsiteY0-200" fmla="*/ 340360 h 4862485"/>
              <a:gd name="connsiteX1-201" fmla="*/ 2172418 w 3270481"/>
              <a:gd name="connsiteY1-202" fmla="*/ 340360 h 4862485"/>
              <a:gd name="connsiteX2-203" fmla="*/ 2173482 w 3270481"/>
              <a:gd name="connsiteY2-204" fmla="*/ 340700 h 4862485"/>
              <a:gd name="connsiteX3-205" fmla="*/ 2173410 w 3270481"/>
              <a:gd name="connsiteY3-206" fmla="*/ 340360 h 4862485"/>
              <a:gd name="connsiteX4-207" fmla="*/ 2260860 w 3270481"/>
              <a:gd name="connsiteY4-208" fmla="*/ 0 h 4862485"/>
              <a:gd name="connsiteX5-209" fmla="*/ 2169415 w 3270481"/>
              <a:gd name="connsiteY5-210" fmla="*/ 340360 h 4862485"/>
              <a:gd name="connsiteX6-211" fmla="*/ 1356970 w 3270481"/>
              <a:gd name="connsiteY6-212" fmla="*/ 340360 h 4862485"/>
              <a:gd name="connsiteX7-213" fmla="*/ 1355978 w 3270481"/>
              <a:gd name="connsiteY7-214" fmla="*/ 340360 h 4862485"/>
              <a:gd name="connsiteX8-215" fmla="*/ 1352980 w 3270481"/>
              <a:gd name="connsiteY8-216" fmla="*/ 340360 h 4862485"/>
              <a:gd name="connsiteX9-217" fmla="*/ 1352978 w 3270481"/>
              <a:gd name="connsiteY9-218" fmla="*/ 340359 h 4862485"/>
              <a:gd name="connsiteX10-219" fmla="*/ 1352975 w 3270481"/>
              <a:gd name="connsiteY10-220" fmla="*/ 340360 h 4862485"/>
              <a:gd name="connsiteX11-221" fmla="*/ 977763 w 3270481"/>
              <a:gd name="connsiteY11-222" fmla="*/ 340360 h 4862485"/>
              <a:gd name="connsiteX12-223" fmla="*/ 161323 w 3270481"/>
              <a:gd name="connsiteY12-224" fmla="*/ 340360 h 4862485"/>
              <a:gd name="connsiteX13-225" fmla="*/ 0 w 3270481"/>
              <a:gd name="connsiteY13-226" fmla="*/ 595826 h 4862485"/>
              <a:gd name="connsiteX14-227" fmla="*/ 0 w 3270481"/>
              <a:gd name="connsiteY14-228" fmla="*/ 1015677 h 4862485"/>
              <a:gd name="connsiteX15-229" fmla="*/ 0 w 3270481"/>
              <a:gd name="connsiteY15-230" fmla="*/ 2044711 h 4862485"/>
              <a:gd name="connsiteX16-231" fmla="*/ 0 w 3270481"/>
              <a:gd name="connsiteY16-232" fmla="*/ 2464563 h 4862485"/>
              <a:gd name="connsiteX17-233" fmla="*/ 0 w 3270481"/>
              <a:gd name="connsiteY17-234" fmla="*/ 3150096 h 4862485"/>
              <a:gd name="connsiteX18-235" fmla="*/ 0 w 3270481"/>
              <a:gd name="connsiteY18-236" fmla="*/ 3289173 h 4862485"/>
              <a:gd name="connsiteX19-237" fmla="*/ 0 w 3270481"/>
              <a:gd name="connsiteY19-238" fmla="*/ 4598981 h 4862485"/>
              <a:gd name="connsiteX20-239" fmla="*/ 0 w 3270481"/>
              <a:gd name="connsiteY20-240" fmla="*/ 4738057 h 4862485"/>
              <a:gd name="connsiteX21-241" fmla="*/ 82277 w 3270481"/>
              <a:gd name="connsiteY21-242" fmla="*/ 4862485 h 4862485"/>
              <a:gd name="connsiteX22-243" fmla="*/ 898718 w 3270481"/>
              <a:gd name="connsiteY22-244" fmla="*/ 4862485 h 4862485"/>
              <a:gd name="connsiteX23-245" fmla="*/ 2371764 w 3270481"/>
              <a:gd name="connsiteY23-246" fmla="*/ 4862485 h 4862485"/>
              <a:gd name="connsiteX24-247" fmla="*/ 3188204 w 3270481"/>
              <a:gd name="connsiteY24-248" fmla="*/ 4862485 h 4862485"/>
              <a:gd name="connsiteX25-249" fmla="*/ 3270481 w 3270481"/>
              <a:gd name="connsiteY25-250" fmla="*/ 4738057 h 4862485"/>
              <a:gd name="connsiteX26-251" fmla="*/ 3270481 w 3270481"/>
              <a:gd name="connsiteY26-252" fmla="*/ 4598981 h 4862485"/>
              <a:gd name="connsiteX27-253" fmla="*/ 3270481 w 3270481"/>
              <a:gd name="connsiteY27-254" fmla="*/ 3289173 h 4862485"/>
              <a:gd name="connsiteX28-255" fmla="*/ 3270481 w 3270481"/>
              <a:gd name="connsiteY28-256" fmla="*/ 3150096 h 4862485"/>
              <a:gd name="connsiteX29-257" fmla="*/ 3270481 w 3270481"/>
              <a:gd name="connsiteY29-258" fmla="*/ 2464563 h 4862485"/>
              <a:gd name="connsiteX30-259" fmla="*/ 3270481 w 3270481"/>
              <a:gd name="connsiteY30-260" fmla="*/ 2421149 h 4862485"/>
              <a:gd name="connsiteX31-261" fmla="*/ 3270481 w 3270481"/>
              <a:gd name="connsiteY31-262" fmla="*/ 1015677 h 4862485"/>
              <a:gd name="connsiteX32-263" fmla="*/ 3270481 w 3270481"/>
              <a:gd name="connsiteY32-264" fmla="*/ 972265 h 4862485"/>
              <a:gd name="connsiteX33-265" fmla="*/ 3110373 w 3270481"/>
              <a:gd name="connsiteY33-266" fmla="*/ 740482 h 4862485"/>
              <a:gd name="connsiteX34-267" fmla="*/ 3100707 w 3270481"/>
              <a:gd name="connsiteY34-268" fmla="*/ 740482 h 4862485"/>
              <a:gd name="connsiteX35-269" fmla="*/ 3100707 w 3270481"/>
              <a:gd name="connsiteY35-270" fmla="*/ 739970 h 4862485"/>
              <a:gd name="connsiteX36-271" fmla="*/ 2399130 w 3270481"/>
              <a:gd name="connsiteY36-272" fmla="*/ 739970 h 4862485"/>
              <a:gd name="connsiteX37-273" fmla="*/ 2287775 w 3270481"/>
              <a:gd name="connsiteY37-274" fmla="*/ 620325 h 4862485"/>
              <a:gd name="connsiteX38-275" fmla="*/ 2235309 w 3270481"/>
              <a:gd name="connsiteY38-276" fmla="*/ 411393 h 4862485"/>
              <a:gd name="connsiteX39-277" fmla="*/ 2234943 w 3270481"/>
              <a:gd name="connsiteY39-278" fmla="*/ 408552 h 4862485"/>
              <a:gd name="connsiteX40-279" fmla="*/ 2234104 w 3270481"/>
              <a:gd name="connsiteY40-280" fmla="*/ 406598 h 4862485"/>
              <a:gd name="connsiteX41-281" fmla="*/ 2232773 w 3270481"/>
              <a:gd name="connsiteY41-282" fmla="*/ 401295 h 4862485"/>
              <a:gd name="connsiteX42-283" fmla="*/ 2232224 w 3270481"/>
              <a:gd name="connsiteY42-284" fmla="*/ 401595 h 4862485"/>
              <a:gd name="connsiteX43-285" fmla="*/ 2233411 w 3270481"/>
              <a:gd name="connsiteY43-286" fmla="*/ 404383 h 4862485"/>
              <a:gd name="connsiteX44-287" fmla="*/ 2233521 w 3270481"/>
              <a:gd name="connsiteY44-288" fmla="*/ 405238 h 4862485"/>
              <a:gd name="connsiteX45-289" fmla="*/ 2219703 w 3270481"/>
              <a:gd name="connsiteY45-290" fmla="*/ 373061 h 4862485"/>
              <a:gd name="connsiteX46-291" fmla="*/ 2197098 w 3270481"/>
              <a:gd name="connsiteY46-292" fmla="*/ 349133 h 4862485"/>
              <a:gd name="connsiteX47-293" fmla="*/ 2170926 w 3270481"/>
              <a:gd name="connsiteY47-294" fmla="*/ 340837 h 4862485"/>
              <a:gd name="connsiteX48-295" fmla="*/ 2172418 w 3270481"/>
              <a:gd name="connsiteY48-296" fmla="*/ 340360 h 4862485"/>
              <a:gd name="connsiteX49-297" fmla="*/ 2260860 w 3270481"/>
              <a:gd name="connsiteY49-298" fmla="*/ 0 h 4862485"/>
              <a:gd name="connsiteX0-299" fmla="*/ 2173410 w 3270481"/>
              <a:gd name="connsiteY0-300" fmla="*/ 1 h 4522126"/>
              <a:gd name="connsiteX1-301" fmla="*/ 2172418 w 3270481"/>
              <a:gd name="connsiteY1-302" fmla="*/ 1 h 4522126"/>
              <a:gd name="connsiteX2-303" fmla="*/ 2173482 w 3270481"/>
              <a:gd name="connsiteY2-304" fmla="*/ 341 h 4522126"/>
              <a:gd name="connsiteX3-305" fmla="*/ 2173410 w 3270481"/>
              <a:gd name="connsiteY3-306" fmla="*/ 1 h 4522126"/>
              <a:gd name="connsiteX4-307" fmla="*/ 2172418 w 3270481"/>
              <a:gd name="connsiteY4-308" fmla="*/ 1 h 4522126"/>
              <a:gd name="connsiteX5-309" fmla="*/ 2169415 w 3270481"/>
              <a:gd name="connsiteY5-310" fmla="*/ 1 h 4522126"/>
              <a:gd name="connsiteX6-311" fmla="*/ 1356970 w 3270481"/>
              <a:gd name="connsiteY6-312" fmla="*/ 1 h 4522126"/>
              <a:gd name="connsiteX7-313" fmla="*/ 1355978 w 3270481"/>
              <a:gd name="connsiteY7-314" fmla="*/ 1 h 4522126"/>
              <a:gd name="connsiteX8-315" fmla="*/ 1352980 w 3270481"/>
              <a:gd name="connsiteY8-316" fmla="*/ 1 h 4522126"/>
              <a:gd name="connsiteX9-317" fmla="*/ 1352978 w 3270481"/>
              <a:gd name="connsiteY9-318" fmla="*/ 0 h 4522126"/>
              <a:gd name="connsiteX10-319" fmla="*/ 1352975 w 3270481"/>
              <a:gd name="connsiteY10-320" fmla="*/ 1 h 4522126"/>
              <a:gd name="connsiteX11-321" fmla="*/ 977763 w 3270481"/>
              <a:gd name="connsiteY11-322" fmla="*/ 1 h 4522126"/>
              <a:gd name="connsiteX12-323" fmla="*/ 161323 w 3270481"/>
              <a:gd name="connsiteY12-324" fmla="*/ 1 h 4522126"/>
              <a:gd name="connsiteX13-325" fmla="*/ 0 w 3270481"/>
              <a:gd name="connsiteY13-326" fmla="*/ 255467 h 4522126"/>
              <a:gd name="connsiteX14-327" fmla="*/ 0 w 3270481"/>
              <a:gd name="connsiteY14-328" fmla="*/ 675318 h 4522126"/>
              <a:gd name="connsiteX15-329" fmla="*/ 0 w 3270481"/>
              <a:gd name="connsiteY15-330" fmla="*/ 1704352 h 4522126"/>
              <a:gd name="connsiteX16-331" fmla="*/ 0 w 3270481"/>
              <a:gd name="connsiteY16-332" fmla="*/ 2124204 h 4522126"/>
              <a:gd name="connsiteX17-333" fmla="*/ 0 w 3270481"/>
              <a:gd name="connsiteY17-334" fmla="*/ 2809737 h 4522126"/>
              <a:gd name="connsiteX18-335" fmla="*/ 0 w 3270481"/>
              <a:gd name="connsiteY18-336" fmla="*/ 2948814 h 4522126"/>
              <a:gd name="connsiteX19-337" fmla="*/ 0 w 3270481"/>
              <a:gd name="connsiteY19-338" fmla="*/ 4258622 h 4522126"/>
              <a:gd name="connsiteX20-339" fmla="*/ 0 w 3270481"/>
              <a:gd name="connsiteY20-340" fmla="*/ 4397698 h 4522126"/>
              <a:gd name="connsiteX21-341" fmla="*/ 82277 w 3270481"/>
              <a:gd name="connsiteY21-342" fmla="*/ 4522126 h 4522126"/>
              <a:gd name="connsiteX22-343" fmla="*/ 898718 w 3270481"/>
              <a:gd name="connsiteY22-344" fmla="*/ 4522126 h 4522126"/>
              <a:gd name="connsiteX23-345" fmla="*/ 2371764 w 3270481"/>
              <a:gd name="connsiteY23-346" fmla="*/ 4522126 h 4522126"/>
              <a:gd name="connsiteX24-347" fmla="*/ 3188204 w 3270481"/>
              <a:gd name="connsiteY24-348" fmla="*/ 4522126 h 4522126"/>
              <a:gd name="connsiteX25-349" fmla="*/ 3270481 w 3270481"/>
              <a:gd name="connsiteY25-350" fmla="*/ 4397698 h 4522126"/>
              <a:gd name="connsiteX26-351" fmla="*/ 3270481 w 3270481"/>
              <a:gd name="connsiteY26-352" fmla="*/ 4258622 h 4522126"/>
              <a:gd name="connsiteX27-353" fmla="*/ 3270481 w 3270481"/>
              <a:gd name="connsiteY27-354" fmla="*/ 2948814 h 4522126"/>
              <a:gd name="connsiteX28-355" fmla="*/ 3270481 w 3270481"/>
              <a:gd name="connsiteY28-356" fmla="*/ 2809737 h 4522126"/>
              <a:gd name="connsiteX29-357" fmla="*/ 3270481 w 3270481"/>
              <a:gd name="connsiteY29-358" fmla="*/ 2124204 h 4522126"/>
              <a:gd name="connsiteX30-359" fmla="*/ 3270481 w 3270481"/>
              <a:gd name="connsiteY30-360" fmla="*/ 2080790 h 4522126"/>
              <a:gd name="connsiteX31-361" fmla="*/ 3270481 w 3270481"/>
              <a:gd name="connsiteY31-362" fmla="*/ 675318 h 4522126"/>
              <a:gd name="connsiteX32-363" fmla="*/ 3270481 w 3270481"/>
              <a:gd name="connsiteY32-364" fmla="*/ 631906 h 4522126"/>
              <a:gd name="connsiteX33-365" fmla="*/ 3110373 w 3270481"/>
              <a:gd name="connsiteY33-366" fmla="*/ 400123 h 4522126"/>
              <a:gd name="connsiteX34-367" fmla="*/ 3100707 w 3270481"/>
              <a:gd name="connsiteY34-368" fmla="*/ 400123 h 4522126"/>
              <a:gd name="connsiteX35-369" fmla="*/ 3100707 w 3270481"/>
              <a:gd name="connsiteY35-370" fmla="*/ 399611 h 4522126"/>
              <a:gd name="connsiteX36-371" fmla="*/ 2399130 w 3270481"/>
              <a:gd name="connsiteY36-372" fmla="*/ 399611 h 4522126"/>
              <a:gd name="connsiteX37-373" fmla="*/ 2287775 w 3270481"/>
              <a:gd name="connsiteY37-374" fmla="*/ 279966 h 4522126"/>
              <a:gd name="connsiteX38-375" fmla="*/ 2235309 w 3270481"/>
              <a:gd name="connsiteY38-376" fmla="*/ 71034 h 4522126"/>
              <a:gd name="connsiteX39-377" fmla="*/ 2234943 w 3270481"/>
              <a:gd name="connsiteY39-378" fmla="*/ 68193 h 4522126"/>
              <a:gd name="connsiteX40-379" fmla="*/ 2234104 w 3270481"/>
              <a:gd name="connsiteY40-380" fmla="*/ 66239 h 4522126"/>
              <a:gd name="connsiteX41-381" fmla="*/ 2232773 w 3270481"/>
              <a:gd name="connsiteY41-382" fmla="*/ 60936 h 4522126"/>
              <a:gd name="connsiteX42-383" fmla="*/ 2232224 w 3270481"/>
              <a:gd name="connsiteY42-384" fmla="*/ 61236 h 4522126"/>
              <a:gd name="connsiteX43-385" fmla="*/ 2233411 w 3270481"/>
              <a:gd name="connsiteY43-386" fmla="*/ 64024 h 4522126"/>
              <a:gd name="connsiteX44-387" fmla="*/ 2233521 w 3270481"/>
              <a:gd name="connsiteY44-388" fmla="*/ 64879 h 4522126"/>
              <a:gd name="connsiteX45-389" fmla="*/ 2219703 w 3270481"/>
              <a:gd name="connsiteY45-390" fmla="*/ 32702 h 4522126"/>
              <a:gd name="connsiteX46-391" fmla="*/ 2197098 w 3270481"/>
              <a:gd name="connsiteY46-392" fmla="*/ 8774 h 4522126"/>
              <a:gd name="connsiteX47-393" fmla="*/ 2170926 w 3270481"/>
              <a:gd name="connsiteY47-394" fmla="*/ 478 h 4522126"/>
              <a:gd name="connsiteX48-395" fmla="*/ 2172418 w 3270481"/>
              <a:gd name="connsiteY48-396" fmla="*/ 1 h 4522126"/>
              <a:gd name="connsiteX0-397" fmla="*/ 2173410 w 3270481"/>
              <a:gd name="connsiteY0-398" fmla="*/ 208280 h 4730405"/>
              <a:gd name="connsiteX1-399" fmla="*/ 2172418 w 3270481"/>
              <a:gd name="connsiteY1-400" fmla="*/ 208280 h 4730405"/>
              <a:gd name="connsiteX2-401" fmla="*/ 2173482 w 3270481"/>
              <a:gd name="connsiteY2-402" fmla="*/ 208620 h 4730405"/>
              <a:gd name="connsiteX3-403" fmla="*/ 2173410 w 3270481"/>
              <a:gd name="connsiteY3-404" fmla="*/ 208280 h 4730405"/>
              <a:gd name="connsiteX4-405" fmla="*/ 1783798 w 3270481"/>
              <a:gd name="connsiteY4-406" fmla="*/ 0 h 4730405"/>
              <a:gd name="connsiteX5-407" fmla="*/ 2169415 w 3270481"/>
              <a:gd name="connsiteY5-408" fmla="*/ 208280 h 4730405"/>
              <a:gd name="connsiteX6-409" fmla="*/ 1356970 w 3270481"/>
              <a:gd name="connsiteY6-410" fmla="*/ 208280 h 4730405"/>
              <a:gd name="connsiteX7-411" fmla="*/ 1355978 w 3270481"/>
              <a:gd name="connsiteY7-412" fmla="*/ 208280 h 4730405"/>
              <a:gd name="connsiteX8-413" fmla="*/ 1352980 w 3270481"/>
              <a:gd name="connsiteY8-414" fmla="*/ 208280 h 4730405"/>
              <a:gd name="connsiteX9-415" fmla="*/ 1352978 w 3270481"/>
              <a:gd name="connsiteY9-416" fmla="*/ 208279 h 4730405"/>
              <a:gd name="connsiteX10-417" fmla="*/ 1352975 w 3270481"/>
              <a:gd name="connsiteY10-418" fmla="*/ 208280 h 4730405"/>
              <a:gd name="connsiteX11-419" fmla="*/ 977763 w 3270481"/>
              <a:gd name="connsiteY11-420" fmla="*/ 208280 h 4730405"/>
              <a:gd name="connsiteX12-421" fmla="*/ 161323 w 3270481"/>
              <a:gd name="connsiteY12-422" fmla="*/ 208280 h 4730405"/>
              <a:gd name="connsiteX13-423" fmla="*/ 0 w 3270481"/>
              <a:gd name="connsiteY13-424" fmla="*/ 463746 h 4730405"/>
              <a:gd name="connsiteX14-425" fmla="*/ 0 w 3270481"/>
              <a:gd name="connsiteY14-426" fmla="*/ 883597 h 4730405"/>
              <a:gd name="connsiteX15-427" fmla="*/ 0 w 3270481"/>
              <a:gd name="connsiteY15-428" fmla="*/ 1912631 h 4730405"/>
              <a:gd name="connsiteX16-429" fmla="*/ 0 w 3270481"/>
              <a:gd name="connsiteY16-430" fmla="*/ 2332483 h 4730405"/>
              <a:gd name="connsiteX17-431" fmla="*/ 0 w 3270481"/>
              <a:gd name="connsiteY17-432" fmla="*/ 3018016 h 4730405"/>
              <a:gd name="connsiteX18-433" fmla="*/ 0 w 3270481"/>
              <a:gd name="connsiteY18-434" fmla="*/ 3157093 h 4730405"/>
              <a:gd name="connsiteX19-435" fmla="*/ 0 w 3270481"/>
              <a:gd name="connsiteY19-436" fmla="*/ 4466901 h 4730405"/>
              <a:gd name="connsiteX20-437" fmla="*/ 0 w 3270481"/>
              <a:gd name="connsiteY20-438" fmla="*/ 4605977 h 4730405"/>
              <a:gd name="connsiteX21-439" fmla="*/ 82277 w 3270481"/>
              <a:gd name="connsiteY21-440" fmla="*/ 4730405 h 4730405"/>
              <a:gd name="connsiteX22-441" fmla="*/ 898718 w 3270481"/>
              <a:gd name="connsiteY22-442" fmla="*/ 4730405 h 4730405"/>
              <a:gd name="connsiteX23-443" fmla="*/ 2371764 w 3270481"/>
              <a:gd name="connsiteY23-444" fmla="*/ 4730405 h 4730405"/>
              <a:gd name="connsiteX24-445" fmla="*/ 3188204 w 3270481"/>
              <a:gd name="connsiteY24-446" fmla="*/ 4730405 h 4730405"/>
              <a:gd name="connsiteX25-447" fmla="*/ 3270481 w 3270481"/>
              <a:gd name="connsiteY25-448" fmla="*/ 4605977 h 4730405"/>
              <a:gd name="connsiteX26-449" fmla="*/ 3270481 w 3270481"/>
              <a:gd name="connsiteY26-450" fmla="*/ 4466901 h 4730405"/>
              <a:gd name="connsiteX27-451" fmla="*/ 3270481 w 3270481"/>
              <a:gd name="connsiteY27-452" fmla="*/ 3157093 h 4730405"/>
              <a:gd name="connsiteX28-453" fmla="*/ 3270481 w 3270481"/>
              <a:gd name="connsiteY28-454" fmla="*/ 3018016 h 4730405"/>
              <a:gd name="connsiteX29-455" fmla="*/ 3270481 w 3270481"/>
              <a:gd name="connsiteY29-456" fmla="*/ 2332483 h 4730405"/>
              <a:gd name="connsiteX30-457" fmla="*/ 3270481 w 3270481"/>
              <a:gd name="connsiteY30-458" fmla="*/ 2289069 h 4730405"/>
              <a:gd name="connsiteX31-459" fmla="*/ 3270481 w 3270481"/>
              <a:gd name="connsiteY31-460" fmla="*/ 883597 h 4730405"/>
              <a:gd name="connsiteX32-461" fmla="*/ 3270481 w 3270481"/>
              <a:gd name="connsiteY32-462" fmla="*/ 840185 h 4730405"/>
              <a:gd name="connsiteX33-463" fmla="*/ 3110373 w 3270481"/>
              <a:gd name="connsiteY33-464" fmla="*/ 608402 h 4730405"/>
              <a:gd name="connsiteX34-465" fmla="*/ 3100707 w 3270481"/>
              <a:gd name="connsiteY34-466" fmla="*/ 608402 h 4730405"/>
              <a:gd name="connsiteX35-467" fmla="*/ 3100707 w 3270481"/>
              <a:gd name="connsiteY35-468" fmla="*/ 607890 h 4730405"/>
              <a:gd name="connsiteX36-469" fmla="*/ 2399130 w 3270481"/>
              <a:gd name="connsiteY36-470" fmla="*/ 607890 h 4730405"/>
              <a:gd name="connsiteX37-471" fmla="*/ 2287775 w 3270481"/>
              <a:gd name="connsiteY37-472" fmla="*/ 488245 h 4730405"/>
              <a:gd name="connsiteX38-473" fmla="*/ 2235309 w 3270481"/>
              <a:gd name="connsiteY38-474" fmla="*/ 279313 h 4730405"/>
              <a:gd name="connsiteX39-475" fmla="*/ 2234943 w 3270481"/>
              <a:gd name="connsiteY39-476" fmla="*/ 276472 h 4730405"/>
              <a:gd name="connsiteX40-477" fmla="*/ 2234104 w 3270481"/>
              <a:gd name="connsiteY40-478" fmla="*/ 274518 h 4730405"/>
              <a:gd name="connsiteX41-479" fmla="*/ 2232773 w 3270481"/>
              <a:gd name="connsiteY41-480" fmla="*/ 269215 h 4730405"/>
              <a:gd name="connsiteX42-481" fmla="*/ 2232224 w 3270481"/>
              <a:gd name="connsiteY42-482" fmla="*/ 269515 h 4730405"/>
              <a:gd name="connsiteX43-483" fmla="*/ 2233411 w 3270481"/>
              <a:gd name="connsiteY43-484" fmla="*/ 272303 h 4730405"/>
              <a:gd name="connsiteX44-485" fmla="*/ 2233521 w 3270481"/>
              <a:gd name="connsiteY44-486" fmla="*/ 273158 h 4730405"/>
              <a:gd name="connsiteX45-487" fmla="*/ 2219703 w 3270481"/>
              <a:gd name="connsiteY45-488" fmla="*/ 240981 h 4730405"/>
              <a:gd name="connsiteX46-489" fmla="*/ 2197098 w 3270481"/>
              <a:gd name="connsiteY46-490" fmla="*/ 217053 h 4730405"/>
              <a:gd name="connsiteX47-491" fmla="*/ 2170926 w 3270481"/>
              <a:gd name="connsiteY47-492" fmla="*/ 208757 h 4730405"/>
              <a:gd name="connsiteX48-493" fmla="*/ 1783798 w 3270481"/>
              <a:gd name="connsiteY48-494" fmla="*/ 0 h 4730405"/>
              <a:gd name="connsiteX0-495" fmla="*/ 2173410 w 3270481"/>
              <a:gd name="connsiteY0-496" fmla="*/ 1 h 4522126"/>
              <a:gd name="connsiteX1-497" fmla="*/ 2172418 w 3270481"/>
              <a:gd name="connsiteY1-498" fmla="*/ 1 h 4522126"/>
              <a:gd name="connsiteX2-499" fmla="*/ 2173482 w 3270481"/>
              <a:gd name="connsiteY2-500" fmla="*/ 341 h 4522126"/>
              <a:gd name="connsiteX3-501" fmla="*/ 2173410 w 3270481"/>
              <a:gd name="connsiteY3-502" fmla="*/ 1 h 4522126"/>
              <a:gd name="connsiteX4-503" fmla="*/ 2170926 w 3270481"/>
              <a:gd name="connsiteY4-504" fmla="*/ 478 h 4522126"/>
              <a:gd name="connsiteX5-505" fmla="*/ 2169415 w 3270481"/>
              <a:gd name="connsiteY5-506" fmla="*/ 1 h 4522126"/>
              <a:gd name="connsiteX6-507" fmla="*/ 1356970 w 3270481"/>
              <a:gd name="connsiteY6-508" fmla="*/ 1 h 4522126"/>
              <a:gd name="connsiteX7-509" fmla="*/ 1355978 w 3270481"/>
              <a:gd name="connsiteY7-510" fmla="*/ 1 h 4522126"/>
              <a:gd name="connsiteX8-511" fmla="*/ 1352980 w 3270481"/>
              <a:gd name="connsiteY8-512" fmla="*/ 1 h 4522126"/>
              <a:gd name="connsiteX9-513" fmla="*/ 1352978 w 3270481"/>
              <a:gd name="connsiteY9-514" fmla="*/ 0 h 4522126"/>
              <a:gd name="connsiteX10-515" fmla="*/ 1352975 w 3270481"/>
              <a:gd name="connsiteY10-516" fmla="*/ 1 h 4522126"/>
              <a:gd name="connsiteX11-517" fmla="*/ 977763 w 3270481"/>
              <a:gd name="connsiteY11-518" fmla="*/ 1 h 4522126"/>
              <a:gd name="connsiteX12-519" fmla="*/ 161323 w 3270481"/>
              <a:gd name="connsiteY12-520" fmla="*/ 1 h 4522126"/>
              <a:gd name="connsiteX13-521" fmla="*/ 0 w 3270481"/>
              <a:gd name="connsiteY13-522" fmla="*/ 255467 h 4522126"/>
              <a:gd name="connsiteX14-523" fmla="*/ 0 w 3270481"/>
              <a:gd name="connsiteY14-524" fmla="*/ 675318 h 4522126"/>
              <a:gd name="connsiteX15-525" fmla="*/ 0 w 3270481"/>
              <a:gd name="connsiteY15-526" fmla="*/ 1704352 h 4522126"/>
              <a:gd name="connsiteX16-527" fmla="*/ 0 w 3270481"/>
              <a:gd name="connsiteY16-528" fmla="*/ 2124204 h 4522126"/>
              <a:gd name="connsiteX17-529" fmla="*/ 0 w 3270481"/>
              <a:gd name="connsiteY17-530" fmla="*/ 2809737 h 4522126"/>
              <a:gd name="connsiteX18-531" fmla="*/ 0 w 3270481"/>
              <a:gd name="connsiteY18-532" fmla="*/ 2948814 h 4522126"/>
              <a:gd name="connsiteX19-533" fmla="*/ 0 w 3270481"/>
              <a:gd name="connsiteY19-534" fmla="*/ 4258622 h 4522126"/>
              <a:gd name="connsiteX20-535" fmla="*/ 0 w 3270481"/>
              <a:gd name="connsiteY20-536" fmla="*/ 4397698 h 4522126"/>
              <a:gd name="connsiteX21-537" fmla="*/ 82277 w 3270481"/>
              <a:gd name="connsiteY21-538" fmla="*/ 4522126 h 4522126"/>
              <a:gd name="connsiteX22-539" fmla="*/ 898718 w 3270481"/>
              <a:gd name="connsiteY22-540" fmla="*/ 4522126 h 4522126"/>
              <a:gd name="connsiteX23-541" fmla="*/ 2371764 w 3270481"/>
              <a:gd name="connsiteY23-542" fmla="*/ 4522126 h 4522126"/>
              <a:gd name="connsiteX24-543" fmla="*/ 3188204 w 3270481"/>
              <a:gd name="connsiteY24-544" fmla="*/ 4522126 h 4522126"/>
              <a:gd name="connsiteX25-545" fmla="*/ 3270481 w 3270481"/>
              <a:gd name="connsiteY25-546" fmla="*/ 4397698 h 4522126"/>
              <a:gd name="connsiteX26-547" fmla="*/ 3270481 w 3270481"/>
              <a:gd name="connsiteY26-548" fmla="*/ 4258622 h 4522126"/>
              <a:gd name="connsiteX27-549" fmla="*/ 3270481 w 3270481"/>
              <a:gd name="connsiteY27-550" fmla="*/ 2948814 h 4522126"/>
              <a:gd name="connsiteX28-551" fmla="*/ 3270481 w 3270481"/>
              <a:gd name="connsiteY28-552" fmla="*/ 2809737 h 4522126"/>
              <a:gd name="connsiteX29-553" fmla="*/ 3270481 w 3270481"/>
              <a:gd name="connsiteY29-554" fmla="*/ 2124204 h 4522126"/>
              <a:gd name="connsiteX30-555" fmla="*/ 3270481 w 3270481"/>
              <a:gd name="connsiteY30-556" fmla="*/ 2080790 h 4522126"/>
              <a:gd name="connsiteX31-557" fmla="*/ 3270481 w 3270481"/>
              <a:gd name="connsiteY31-558" fmla="*/ 675318 h 4522126"/>
              <a:gd name="connsiteX32-559" fmla="*/ 3270481 w 3270481"/>
              <a:gd name="connsiteY32-560" fmla="*/ 631906 h 4522126"/>
              <a:gd name="connsiteX33-561" fmla="*/ 3110373 w 3270481"/>
              <a:gd name="connsiteY33-562" fmla="*/ 400123 h 4522126"/>
              <a:gd name="connsiteX34-563" fmla="*/ 3100707 w 3270481"/>
              <a:gd name="connsiteY34-564" fmla="*/ 400123 h 4522126"/>
              <a:gd name="connsiteX35-565" fmla="*/ 3100707 w 3270481"/>
              <a:gd name="connsiteY35-566" fmla="*/ 399611 h 4522126"/>
              <a:gd name="connsiteX36-567" fmla="*/ 2399130 w 3270481"/>
              <a:gd name="connsiteY36-568" fmla="*/ 399611 h 4522126"/>
              <a:gd name="connsiteX37-569" fmla="*/ 2287775 w 3270481"/>
              <a:gd name="connsiteY37-570" fmla="*/ 279966 h 4522126"/>
              <a:gd name="connsiteX38-571" fmla="*/ 2235309 w 3270481"/>
              <a:gd name="connsiteY38-572" fmla="*/ 71034 h 4522126"/>
              <a:gd name="connsiteX39-573" fmla="*/ 2234943 w 3270481"/>
              <a:gd name="connsiteY39-574" fmla="*/ 68193 h 4522126"/>
              <a:gd name="connsiteX40-575" fmla="*/ 2234104 w 3270481"/>
              <a:gd name="connsiteY40-576" fmla="*/ 66239 h 4522126"/>
              <a:gd name="connsiteX41-577" fmla="*/ 2232773 w 3270481"/>
              <a:gd name="connsiteY41-578" fmla="*/ 60936 h 4522126"/>
              <a:gd name="connsiteX42-579" fmla="*/ 2232224 w 3270481"/>
              <a:gd name="connsiteY42-580" fmla="*/ 61236 h 4522126"/>
              <a:gd name="connsiteX43-581" fmla="*/ 2233411 w 3270481"/>
              <a:gd name="connsiteY43-582" fmla="*/ 64024 h 4522126"/>
              <a:gd name="connsiteX44-583" fmla="*/ 2233521 w 3270481"/>
              <a:gd name="connsiteY44-584" fmla="*/ 64879 h 4522126"/>
              <a:gd name="connsiteX45-585" fmla="*/ 2219703 w 3270481"/>
              <a:gd name="connsiteY45-586" fmla="*/ 32702 h 4522126"/>
              <a:gd name="connsiteX46-587" fmla="*/ 2197098 w 3270481"/>
              <a:gd name="connsiteY46-588" fmla="*/ 8774 h 4522126"/>
              <a:gd name="connsiteX47-589" fmla="*/ 2170926 w 3270481"/>
              <a:gd name="connsiteY47-590" fmla="*/ 478 h 45221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</a:cxnLst>
            <a:rect l="l" t="t" r="r" b="b"/>
            <a:pathLst>
              <a:path w="3270481" h="4522126">
                <a:moveTo>
                  <a:pt x="2173410" y="1"/>
                </a:moveTo>
                <a:lnTo>
                  <a:pt x="2172418" y="1"/>
                </a:lnTo>
                <a:lnTo>
                  <a:pt x="2173482" y="341"/>
                </a:lnTo>
                <a:cubicBezTo>
                  <a:pt x="2173458" y="228"/>
                  <a:pt x="2173434" y="114"/>
                  <a:pt x="2173410" y="1"/>
                </a:cubicBezTo>
                <a:close/>
                <a:moveTo>
                  <a:pt x="2170926" y="478"/>
                </a:moveTo>
                <a:lnTo>
                  <a:pt x="2169415" y="1"/>
                </a:lnTo>
                <a:lnTo>
                  <a:pt x="1356970" y="1"/>
                </a:lnTo>
                <a:lnTo>
                  <a:pt x="1355978" y="1"/>
                </a:lnTo>
                <a:lnTo>
                  <a:pt x="1352980" y="1"/>
                </a:lnTo>
                <a:cubicBezTo>
                  <a:pt x="1352979" y="1"/>
                  <a:pt x="1352979" y="0"/>
                  <a:pt x="1352978" y="0"/>
                </a:cubicBezTo>
                <a:cubicBezTo>
                  <a:pt x="1352977" y="0"/>
                  <a:pt x="1352976" y="1"/>
                  <a:pt x="1352975" y="1"/>
                </a:cubicBezTo>
                <a:lnTo>
                  <a:pt x="977763" y="1"/>
                </a:lnTo>
                <a:lnTo>
                  <a:pt x="161323" y="1"/>
                </a:lnTo>
                <a:cubicBezTo>
                  <a:pt x="72226" y="1"/>
                  <a:pt x="0" y="114377"/>
                  <a:pt x="0" y="255467"/>
                </a:cubicBezTo>
                <a:lnTo>
                  <a:pt x="0" y="675318"/>
                </a:lnTo>
                <a:lnTo>
                  <a:pt x="0" y="1704352"/>
                </a:lnTo>
                <a:lnTo>
                  <a:pt x="0" y="2124204"/>
                </a:lnTo>
                <a:lnTo>
                  <a:pt x="0" y="2809737"/>
                </a:lnTo>
                <a:lnTo>
                  <a:pt x="0" y="2948814"/>
                </a:lnTo>
                <a:lnTo>
                  <a:pt x="0" y="4258622"/>
                </a:lnTo>
                <a:lnTo>
                  <a:pt x="0" y="4397698"/>
                </a:lnTo>
                <a:cubicBezTo>
                  <a:pt x="0" y="4466419"/>
                  <a:pt x="36836" y="4522126"/>
                  <a:pt x="82277" y="4522126"/>
                </a:cubicBezTo>
                <a:lnTo>
                  <a:pt x="898718" y="4522126"/>
                </a:lnTo>
                <a:lnTo>
                  <a:pt x="2371764" y="4522126"/>
                </a:lnTo>
                <a:lnTo>
                  <a:pt x="3188204" y="4522126"/>
                </a:lnTo>
                <a:cubicBezTo>
                  <a:pt x="3233644" y="4522126"/>
                  <a:pt x="3270481" y="4466419"/>
                  <a:pt x="3270481" y="4397698"/>
                </a:cubicBezTo>
                <a:lnTo>
                  <a:pt x="3270481" y="4258622"/>
                </a:lnTo>
                <a:lnTo>
                  <a:pt x="3270481" y="2948814"/>
                </a:lnTo>
                <a:lnTo>
                  <a:pt x="3270481" y="2809737"/>
                </a:lnTo>
                <a:lnTo>
                  <a:pt x="3270481" y="2124204"/>
                </a:lnTo>
                <a:lnTo>
                  <a:pt x="3270481" y="2080790"/>
                </a:lnTo>
                <a:lnTo>
                  <a:pt x="3270481" y="675318"/>
                </a:lnTo>
                <a:lnTo>
                  <a:pt x="3270481" y="631906"/>
                </a:lnTo>
                <a:cubicBezTo>
                  <a:pt x="3270481" y="503896"/>
                  <a:pt x="3198798" y="400123"/>
                  <a:pt x="3110373" y="400123"/>
                </a:cubicBezTo>
                <a:lnTo>
                  <a:pt x="3100707" y="400123"/>
                </a:lnTo>
                <a:lnTo>
                  <a:pt x="3100707" y="399611"/>
                </a:lnTo>
                <a:lnTo>
                  <a:pt x="2399130" y="399611"/>
                </a:lnTo>
                <a:cubicBezTo>
                  <a:pt x="2350020" y="399611"/>
                  <a:pt x="2305923" y="352230"/>
                  <a:pt x="2287775" y="279966"/>
                </a:cubicBezTo>
                <a:lnTo>
                  <a:pt x="2235309" y="71034"/>
                </a:lnTo>
                <a:lnTo>
                  <a:pt x="2234943" y="68193"/>
                </a:lnTo>
                <a:lnTo>
                  <a:pt x="2234104" y="66239"/>
                </a:lnTo>
                <a:lnTo>
                  <a:pt x="2232773" y="60936"/>
                </a:lnTo>
                <a:lnTo>
                  <a:pt x="2232224" y="61236"/>
                </a:lnTo>
                <a:lnTo>
                  <a:pt x="2233411" y="64024"/>
                </a:lnTo>
                <a:cubicBezTo>
                  <a:pt x="2233448" y="64309"/>
                  <a:pt x="2233484" y="64594"/>
                  <a:pt x="2233521" y="64879"/>
                </a:cubicBezTo>
                <a:lnTo>
                  <a:pt x="2219703" y="32702"/>
                </a:lnTo>
                <a:cubicBezTo>
                  <a:pt x="2213269" y="22600"/>
                  <a:pt x="2205606" y="14424"/>
                  <a:pt x="2197098" y="8774"/>
                </a:cubicBezTo>
                <a:lnTo>
                  <a:pt x="2170926" y="478"/>
                </a:lnTo>
                <a:close/>
              </a:path>
            </a:pathLst>
          </a:custGeom>
          <a:gradFill>
            <a:gsLst>
              <a:gs pos="65000">
                <a:schemeClr val="bg1">
                  <a:lumMod val="10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cap="flat" cmpd="sng" algn="ctr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6">
                    <a:alpha val="0"/>
                    <a:lumMod val="50000"/>
                    <a:lumOff val="5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endParaRPr lang="zh-CN" altLang="en-US" kern="0" dirty="0">
              <a:noFill/>
              <a:latin typeface="等线" panose="02010600030101010101" charset="-122"/>
              <a:ea typeface="等线" panose="02010600030101010101" charset="-122"/>
              <a:sym typeface="Roboto" panose="02000000000000000000" pitchFamily="2" charset="0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837649" y="1692404"/>
            <a:ext cx="2583647" cy="564578"/>
          </a:xfrm>
          <a:prstGeom prst="rect">
            <a:avLst/>
          </a:prstGeom>
          <a:gradFill flip="none" rotWithShape="1">
            <a:gsLst>
              <a:gs pos="0">
                <a:srgbClr val="05A4E9">
                  <a:alpha val="20000"/>
                </a:srgbClr>
              </a:gs>
              <a:gs pos="100000">
                <a:srgbClr val="105CC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PA-任意多边形 2710"/>
          <p:cNvSpPr/>
          <p:nvPr>
            <p:custDataLst>
              <p:tags r:id="rId7"/>
            </p:custDataLst>
          </p:nvPr>
        </p:nvSpPr>
        <p:spPr>
          <a:xfrm>
            <a:off x="6394582" y="1682365"/>
            <a:ext cx="1665874" cy="968759"/>
          </a:xfrm>
          <a:custGeom>
            <a:avLst/>
            <a:gdLst>
              <a:gd name="connsiteX0" fmla="*/ 1193883 w 1296216"/>
              <a:gd name="connsiteY0" fmla="*/ 401400 h 808115"/>
              <a:gd name="connsiteX1" fmla="*/ 1181711 w 1296216"/>
              <a:gd name="connsiteY1" fmla="*/ 432940 h 808115"/>
              <a:gd name="connsiteX2" fmla="*/ 1186063 w 1296216"/>
              <a:gd name="connsiteY2" fmla="*/ 419473 h 808115"/>
              <a:gd name="connsiteX3" fmla="*/ 1188203 w 1296216"/>
              <a:gd name="connsiteY3" fmla="*/ 411322 h 808115"/>
              <a:gd name="connsiteX4" fmla="*/ 400379 w 1296216"/>
              <a:gd name="connsiteY4" fmla="*/ 0 h 808115"/>
              <a:gd name="connsiteX5" fmla="*/ 1296216 w 1296216"/>
              <a:gd name="connsiteY5" fmla="*/ 0 h 808115"/>
              <a:gd name="connsiteX6" fmla="*/ 1188203 w 1296216"/>
              <a:gd name="connsiteY6" fmla="*/ 411322 h 808115"/>
              <a:gd name="connsiteX7" fmla="*/ 1174778 w 1296216"/>
              <a:gd name="connsiteY7" fmla="*/ 434776 h 808115"/>
              <a:gd name="connsiteX8" fmla="*/ 1075399 w 1296216"/>
              <a:gd name="connsiteY8" fmla="*/ 482677 h 808115"/>
              <a:gd name="connsiteX9" fmla="*/ 248726 w 1296216"/>
              <a:gd name="connsiteY9" fmla="*/ 482677 h 808115"/>
              <a:gd name="connsiteX10" fmla="*/ 248726 w 1296216"/>
              <a:gd name="connsiteY10" fmla="*/ 483394 h 808115"/>
              <a:gd name="connsiteX11" fmla="*/ 234565 w 1296216"/>
              <a:gd name="connsiteY11" fmla="*/ 483394 h 808115"/>
              <a:gd name="connsiteX12" fmla="*/ 18433 w 1296216"/>
              <a:gd name="connsiteY12" fmla="*/ 681720 h 808115"/>
              <a:gd name="connsiteX13" fmla="*/ 11241 w 1296216"/>
              <a:gd name="connsiteY13" fmla="*/ 713795 h 808115"/>
              <a:gd name="connsiteX14" fmla="*/ 11242 w 1296216"/>
              <a:gd name="connsiteY14" fmla="*/ 713795 h 808115"/>
              <a:gd name="connsiteX15" fmla="*/ 4767 w 1296216"/>
              <a:gd name="connsiteY15" fmla="*/ 742673 h 808115"/>
              <a:gd name="connsiteX16" fmla="*/ 1 w 1296216"/>
              <a:gd name="connsiteY16" fmla="*/ 808115 h 808115"/>
              <a:gd name="connsiteX17" fmla="*/ 1 w 1296216"/>
              <a:gd name="connsiteY17" fmla="*/ 713795 h 808115"/>
              <a:gd name="connsiteX18" fmla="*/ 0 w 1296216"/>
              <a:gd name="connsiteY18" fmla="*/ 713795 h 808115"/>
              <a:gd name="connsiteX19" fmla="*/ 0 w 1296216"/>
              <a:gd name="connsiteY19" fmla="*/ 400379 h 808115"/>
              <a:gd name="connsiteX20" fmla="*/ 400379 w 1296216"/>
              <a:gd name="connsiteY20" fmla="*/ 0 h 808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96216" h="808115">
                <a:moveTo>
                  <a:pt x="1193883" y="401400"/>
                </a:moveTo>
                <a:lnTo>
                  <a:pt x="1181711" y="432940"/>
                </a:lnTo>
                <a:cubicBezTo>
                  <a:pt x="1183904" y="427260"/>
                  <a:pt x="1184517" y="425361"/>
                  <a:pt x="1186063" y="419473"/>
                </a:cubicBezTo>
                <a:lnTo>
                  <a:pt x="1188203" y="411322"/>
                </a:lnTo>
                <a:close/>
                <a:moveTo>
                  <a:pt x="400379" y="0"/>
                </a:moveTo>
                <a:lnTo>
                  <a:pt x="1296216" y="0"/>
                </a:lnTo>
                <a:lnTo>
                  <a:pt x="1188203" y="411322"/>
                </a:lnTo>
                <a:lnTo>
                  <a:pt x="1174778" y="434776"/>
                </a:lnTo>
                <a:cubicBezTo>
                  <a:pt x="1151108" y="464527"/>
                  <a:pt x="1114799" y="482677"/>
                  <a:pt x="1075399" y="482677"/>
                </a:cubicBezTo>
                <a:lnTo>
                  <a:pt x="248726" y="482677"/>
                </a:lnTo>
                <a:lnTo>
                  <a:pt x="248726" y="483394"/>
                </a:lnTo>
                <a:lnTo>
                  <a:pt x="234565" y="483394"/>
                </a:lnTo>
                <a:cubicBezTo>
                  <a:pt x="137405" y="483394"/>
                  <a:pt x="54042" y="565173"/>
                  <a:pt x="18433" y="681720"/>
                </a:cubicBezTo>
                <a:lnTo>
                  <a:pt x="11241" y="713795"/>
                </a:lnTo>
                <a:lnTo>
                  <a:pt x="11242" y="713795"/>
                </a:lnTo>
                <a:lnTo>
                  <a:pt x="4767" y="742673"/>
                </a:lnTo>
                <a:cubicBezTo>
                  <a:pt x="1642" y="763811"/>
                  <a:pt x="1" y="785698"/>
                  <a:pt x="1" y="808115"/>
                </a:cubicBezTo>
                <a:lnTo>
                  <a:pt x="1" y="713795"/>
                </a:lnTo>
                <a:lnTo>
                  <a:pt x="0" y="713795"/>
                </a:lnTo>
                <a:lnTo>
                  <a:pt x="0" y="400379"/>
                </a:lnTo>
                <a:cubicBezTo>
                  <a:pt x="0" y="179255"/>
                  <a:pt x="179256" y="0"/>
                  <a:pt x="4003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5A4E9"/>
              </a:gs>
              <a:gs pos="53000">
                <a:srgbClr val="105CC7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ym typeface="Roboto" panose="02000000000000000000" pitchFamily="2" charset="0"/>
            </a:endParaRPr>
          </a:p>
        </p:txBody>
      </p:sp>
      <p:sp>
        <p:nvSpPr>
          <p:cNvPr id="132" name="PA-矩形 16+"/>
          <p:cNvSpPr/>
          <p:nvPr>
            <p:custDataLst>
              <p:tags r:id="rId8"/>
            </p:custDataLst>
          </p:nvPr>
        </p:nvSpPr>
        <p:spPr>
          <a:xfrm>
            <a:off x="8391373" y="1672208"/>
            <a:ext cx="3233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565" fontAlgn="base">
              <a:buClrTx/>
              <a:buSzTx/>
              <a:buFontTx/>
              <a:defRPr/>
            </a:pP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国外</a:t>
            </a:r>
            <a:r>
              <a:rPr kumimoji="1" lang="zh-CN" altLang="en-US" sz="3200" dirty="0">
                <a:solidFill>
                  <a:schemeClr val="accent3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垄断</a:t>
            </a:r>
            <a:r>
              <a:rPr kumimoji="1" lang="zh-CN" altLang="en-US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高性能</a:t>
            </a:r>
            <a:r>
              <a:rPr kumimoji="1" lang="en-US" altLang="zh-CN" sz="2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GPU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550186" y="1614822"/>
            <a:ext cx="1571520" cy="50831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/>
            </a:pPr>
            <a:r>
              <a:rPr kumimoji="1" lang="zh-CN" altLang="en-US" sz="36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演示新手书" panose="00000500000000000000" pitchFamily="50" charset="-122"/>
                <a:ea typeface="演示新手书" panose="00000500000000000000" pitchFamily="50" charset="-122"/>
                <a:cs typeface="OPPOSans M" panose="00020600040101010101" pitchFamily="18" charset="-122"/>
                <a:sym typeface="思源宋体 CN Heavy" panose="02020900000000000000" pitchFamily="18" charset="-122"/>
              </a:rPr>
              <a:t>痛点二</a:t>
            </a:r>
          </a:p>
        </p:txBody>
      </p:sp>
      <p:pic>
        <p:nvPicPr>
          <p:cNvPr id="159" name="图片 158" descr="ChatGPT Image 2025年8月8日 16_11_22"/>
          <p:cNvPicPr>
            <a:picLocks noChangeAspect="1"/>
          </p:cNvPicPr>
          <p:nvPr/>
        </p:nvPicPr>
        <p:blipFill>
          <a:blip r:embed="rId26"/>
          <a:srcRect l="14074" t="26222" r="16981" b="27519"/>
          <a:stretch>
            <a:fillRect/>
          </a:stretch>
        </p:blipFill>
        <p:spPr>
          <a:xfrm rot="5400000">
            <a:off x="882334" y="5031204"/>
            <a:ext cx="1189631" cy="8410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61" name="图表 160" descr="7b0a202020202263686172745265734964223a20223230343736363030220a7d0a"/>
          <p:cNvGraphicFramePr/>
          <p:nvPr/>
        </p:nvGraphicFramePr>
        <p:xfrm>
          <a:off x="6525796" y="2780254"/>
          <a:ext cx="5296472" cy="3133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162" name="文本框 161"/>
          <p:cNvSpPr txBox="1"/>
          <p:nvPr/>
        </p:nvSpPr>
        <p:spPr>
          <a:xfrm>
            <a:off x="6908153" y="2342791"/>
            <a:ext cx="486600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dirty="0">
                <a:latin typeface="+mn-ea"/>
                <a:cs typeface="OPPOSans M" panose="00020600040101010101" pitchFamily="18" charset="-122"/>
              </a:rPr>
              <a:t>2014~2024年中国进出口芯片金额（亿元）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10135414" y="2649824"/>
            <a:ext cx="2191385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1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—— </a:t>
            </a:r>
            <a:r>
              <a:rPr lang="zh-CN" altLang="en-US" sz="11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数据来源丨中国海关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8857" y="5730229"/>
            <a:ext cx="5996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kumimoji="1" lang="zh-CN" altLang="en-US" sz="2400" dirty="0"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最大逆差达</a:t>
            </a:r>
            <a:r>
              <a:rPr kumimoji="1" lang="en-US" altLang="zh-CN" sz="3200" dirty="0">
                <a:solidFill>
                  <a:schemeClr val="accent3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20452</a:t>
            </a:r>
            <a:r>
              <a:rPr kumimoji="1" lang="zh-CN" altLang="en-US" sz="3200" dirty="0">
                <a:solidFill>
                  <a:schemeClr val="accent3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亿元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组合 222"/>
          <p:cNvGrpSpPr/>
          <p:nvPr/>
        </p:nvGrpSpPr>
        <p:grpSpPr>
          <a:xfrm>
            <a:off x="-5715" y="-635"/>
            <a:ext cx="12605385" cy="781685"/>
            <a:chOff x="321" y="269"/>
            <a:chExt cx="19200" cy="1231"/>
          </a:xfrm>
        </p:grpSpPr>
        <p:sp>
          <p:nvSpPr>
            <p:cNvPr id="224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321" y="269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225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917" y="584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226" name="组合 225"/>
            <p:cNvGrpSpPr/>
            <p:nvPr/>
          </p:nvGrpSpPr>
          <p:grpSpPr>
            <a:xfrm>
              <a:off x="8920" y="442"/>
              <a:ext cx="2706" cy="836"/>
              <a:chOff x="4986" y="173"/>
              <a:chExt cx="2706" cy="836"/>
            </a:xfrm>
          </p:grpSpPr>
          <p:sp>
            <p:nvSpPr>
              <p:cNvPr id="227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228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赛题分析</a:t>
                </a:r>
              </a:p>
            </p:txBody>
          </p:sp>
        </p:grpSp>
        <p:sp>
          <p:nvSpPr>
            <p:cNvPr id="229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435" y="584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230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321" y="1413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231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12300" y="584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核心技术</a:t>
              </a:r>
            </a:p>
          </p:txBody>
        </p:sp>
        <p:cxnSp>
          <p:nvCxnSpPr>
            <p:cNvPr id="232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5105" y="625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850" y="617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4" name="Group 1120+"/>
            <p:cNvGrpSpPr/>
            <p:nvPr/>
          </p:nvGrpSpPr>
          <p:grpSpPr>
            <a:xfrm>
              <a:off x="4290" y="617"/>
              <a:ext cx="406" cy="516"/>
              <a:chOff x="981945" y="2960072"/>
              <a:chExt cx="257801" cy="327873"/>
            </a:xfrm>
          </p:grpSpPr>
          <p:sp>
            <p:nvSpPr>
              <p:cNvPr id="2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236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237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725" y="617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8" name="图片 237" descr="湖工横版logo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91" y="425"/>
              <a:ext cx="3569" cy="880"/>
            </a:xfrm>
            <a:prstGeom prst="rect">
              <a:avLst/>
            </a:prstGeom>
          </p:spPr>
        </p:pic>
        <p:pic>
          <p:nvPicPr>
            <p:cNvPr id="239" name="图片 238"/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8295" y="385"/>
              <a:ext cx="935" cy="95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266230" y="1005390"/>
            <a:ext cx="12070080" cy="550545"/>
            <a:chOff x="-2515521" y="1179390"/>
            <a:chExt cx="16860720" cy="556260"/>
          </a:xfrm>
        </p:grpSpPr>
        <p:sp>
          <p:nvSpPr>
            <p:cNvPr id="241" name="矩形 240"/>
            <p:cNvSpPr/>
            <p:nvPr/>
          </p:nvSpPr>
          <p:spPr>
            <a:xfrm rot="5400000">
              <a:off x="5636709" y="-6972840"/>
              <a:ext cx="556260" cy="16860720"/>
            </a:xfrm>
            <a:prstGeom prst="rect">
              <a:avLst/>
            </a:prstGeom>
            <a:gradFill flip="none" rotWithShape="1">
              <a:gsLst>
                <a:gs pos="74000">
                  <a:schemeClr val="accent2">
                    <a:lumMod val="75000"/>
                  </a:schemeClr>
                </a:gs>
                <a:gs pos="28000">
                  <a:schemeClr val="accent2">
                    <a:lumMod val="75000"/>
                  </a:schemeClr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22225" cap="flat" cmpd="sng" algn="ctr">
              <a:gradFill>
                <a:gsLst>
                  <a:gs pos="52300">
                    <a:srgbClr val="FFFFFF"/>
                  </a:gs>
                  <a:gs pos="26000">
                    <a:srgbClr val="FFFFFF">
                      <a:alpha val="0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242" name="TextBox 5"/>
            <p:cNvSpPr txBox="1"/>
            <p:nvPr/>
          </p:nvSpPr>
          <p:spPr>
            <a:xfrm>
              <a:off x="2350244" y="1228809"/>
              <a:ext cx="7554410" cy="453390"/>
            </a:xfrm>
            <a:prstGeom prst="rect">
              <a:avLst/>
            </a:prstGeom>
            <a:noFill/>
          </p:spPr>
          <p:txBody>
            <a:bodyPr wrap="none" lIns="216000" tIns="0" rIns="0" bIns="0" anchor="ctr">
              <a:noAutofit/>
            </a:bodyPr>
            <a:lstStyle/>
            <a:p>
              <a:pPr algn="ctr">
                <a:defRPr/>
              </a:pPr>
              <a:r>
                <a:rPr lang="zh-CN" altLang="en-US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面向信号处理的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 </a:t>
              </a:r>
              <a:r>
                <a:rPr lang="zh-CN" altLang="en-US" sz="24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凌久</a:t>
              </a:r>
              <a:r>
                <a:rPr lang="en-US" altLang="zh-CN" sz="24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 GPU </a:t>
              </a:r>
              <a:r>
                <a:rPr lang="zh-CN" altLang="en-US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高性能数学库算子优化技术</a:t>
              </a:r>
              <a:endParaRPr kumimoji="0" lang="zh-CN" altLang="en-US" sz="2800" b="1" i="0" u="none" strike="noStrike" kern="0" cap="none" spc="0" normalizeH="0" baseline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endParaRPr>
            </a:p>
          </p:txBody>
        </p:sp>
      </p:grpSp>
      <p:sp>
        <p:nvSpPr>
          <p:cNvPr id="243" name="矩形: 圆角 56"/>
          <p:cNvSpPr/>
          <p:nvPr/>
        </p:nvSpPr>
        <p:spPr>
          <a:xfrm flipH="1">
            <a:off x="506624" y="1765745"/>
            <a:ext cx="5774338" cy="14341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73000">
                <a:schemeClr val="bg1"/>
              </a:gs>
            </a:gsLst>
            <a:lin ang="0" scaled="1"/>
            <a:tileRect/>
          </a:gradFill>
          <a:ln w="19050" cap="flat" cmpd="sng" algn="ctr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44880">
              <a:defRPr/>
            </a:pPr>
            <a:endParaRPr lang="zh-CN" altLang="en-US" sz="2065" kern="0" dirty="0">
              <a:solidFill>
                <a:srgbClr val="FFFFFF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 flipH="1">
            <a:off x="869949" y="1883336"/>
            <a:ext cx="4093920" cy="11143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 defTabSz="94488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80" kern="0" dirty="0"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思源宋体 CN Heavy" panose="02020900000000000000" pitchFamily="18" charset="-122"/>
              </a:rPr>
              <a:t>底层公共框架优化研究</a:t>
            </a:r>
          </a:p>
          <a:p>
            <a:pPr algn="r" defTabSz="944880">
              <a:lnSpc>
                <a:spcPct val="120000"/>
              </a:lnSpc>
              <a:defRPr/>
            </a:pPr>
            <a:r>
              <a:rPr lang="zh-CN" altLang="en-US" sz="2065" dirty="0">
                <a:latin typeface="+mn-ea"/>
                <a:cs typeface="+mn-ea"/>
                <a:sym typeface="+mn-ea"/>
              </a:rPr>
              <a:t>构建适用于凌久</a:t>
            </a:r>
            <a:r>
              <a:rPr lang="en-US" altLang="zh-CN" sz="2065" dirty="0">
                <a:latin typeface="+mn-ea"/>
                <a:cs typeface="+mn-ea"/>
                <a:sym typeface="+mn-ea"/>
              </a:rPr>
              <a:t>GPU</a:t>
            </a:r>
            <a:r>
              <a:rPr lang="zh-CN" altLang="en-US" sz="2065" dirty="0">
                <a:latin typeface="+mn-ea"/>
                <a:cs typeface="+mn-ea"/>
                <a:sym typeface="+mn-ea"/>
              </a:rPr>
              <a:t>的</a:t>
            </a:r>
          </a:p>
          <a:p>
            <a:pPr algn="r" defTabSz="944880">
              <a:lnSpc>
                <a:spcPct val="120000"/>
              </a:lnSpc>
              <a:defRPr/>
            </a:pPr>
            <a:r>
              <a:rPr lang="zh-CN" altLang="en-US" sz="2065" dirty="0">
                <a:latin typeface="+mn-ea"/>
                <a:cs typeface="+mn-ea"/>
                <a:sym typeface="+mn-ea"/>
              </a:rPr>
              <a:t>高性能基础运算库</a:t>
            </a:r>
          </a:p>
        </p:txBody>
      </p:sp>
      <p:sp>
        <p:nvSpPr>
          <p:cNvPr id="245" name="矩形: 圆角 70"/>
          <p:cNvSpPr/>
          <p:nvPr/>
        </p:nvSpPr>
        <p:spPr>
          <a:xfrm>
            <a:off x="6467075" y="1765540"/>
            <a:ext cx="5774601" cy="14344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73000">
                <a:schemeClr val="bg1"/>
              </a:gs>
            </a:gsLst>
            <a:lin ang="0" scaled="1"/>
            <a:tileRect/>
          </a:gradFill>
          <a:ln w="19050" cap="flat" cmpd="sng" algn="ctr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44880"/>
            <a:endParaRPr lang="zh-CN" altLang="en-US" sz="2065" kern="0" dirty="0">
              <a:solidFill>
                <a:srgbClr val="FFFFFF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7691036" y="1883170"/>
            <a:ext cx="4380664" cy="11145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defTabSz="94488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80" kern="0" dirty="0"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汉仪雅酷黑W" panose="00020600040101010101" charset="-122"/>
              </a:rPr>
              <a:t>信号处理通用算法库设计</a:t>
            </a:r>
          </a:p>
          <a:p>
            <a:pPr defTabSz="94488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65" dirty="0">
                <a:sym typeface="汉仪雅酷黑W" panose="00020600040101010101" charset="-122"/>
              </a:rPr>
              <a:t>在凌久微平台实现高性能的</a:t>
            </a:r>
          </a:p>
          <a:p>
            <a:pPr defTabSz="94488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65" dirty="0">
                <a:sym typeface="汉仪雅酷黑W" panose="00020600040101010101" charset="-122"/>
              </a:rPr>
              <a:t>信号处理算法</a:t>
            </a:r>
          </a:p>
        </p:txBody>
      </p:sp>
      <p:sp>
        <p:nvSpPr>
          <p:cNvPr id="247" name="椭圆 246"/>
          <p:cNvSpPr/>
          <p:nvPr/>
        </p:nvSpPr>
        <p:spPr>
          <a:xfrm>
            <a:off x="6537297" y="1941575"/>
            <a:ext cx="1092705" cy="104366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2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0079BA">
                    <a:lumMod val="20000"/>
                    <a:lumOff val="80000"/>
                  </a:srgbClr>
                </a:gs>
                <a:gs pos="77000">
                  <a:srgbClr val="9BD4C4">
                    <a:lumMod val="32000"/>
                    <a:lumOff val="68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101600" dist="63500" dir="5400000" algn="t" rotWithShape="0">
              <a:schemeClr val="accent1">
                <a:lumMod val="72656"/>
                <a:alpha val="24000"/>
              </a:schemeClr>
            </a:outerShdw>
          </a:effectLst>
        </p:spPr>
        <p:txBody>
          <a:bodyPr wrap="square" lIns="72765" tIns="36382" rIns="72765" bIns="36382" rtlCol="0" anchor="ctr">
            <a:noAutofit/>
          </a:bodyPr>
          <a:lstStyle/>
          <a:p>
            <a:pPr algn="ctr" defTabSz="944880">
              <a:defRPr/>
            </a:pPr>
            <a:endParaRPr lang="zh-CN" altLang="en-US" sz="1430" kern="0" dirty="0">
              <a:solidFill>
                <a:prstClr val="white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48" name="椭圆 247"/>
          <p:cNvSpPr/>
          <p:nvPr/>
        </p:nvSpPr>
        <p:spPr>
          <a:xfrm>
            <a:off x="5092496" y="1942398"/>
            <a:ext cx="1096593" cy="105524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2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0079BA">
                    <a:lumMod val="20000"/>
                    <a:lumOff val="80000"/>
                  </a:srgbClr>
                </a:gs>
                <a:gs pos="77000">
                  <a:srgbClr val="9BD4C4">
                    <a:lumMod val="32000"/>
                    <a:lumOff val="6800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101600" dist="63500" dir="5400000" algn="t" rotWithShape="0">
              <a:schemeClr val="accent1">
                <a:lumMod val="72656"/>
                <a:alpha val="24000"/>
              </a:schemeClr>
            </a:outerShdw>
          </a:effectLst>
        </p:spPr>
        <p:txBody>
          <a:bodyPr wrap="square" lIns="72765" tIns="36382" rIns="72765" bIns="36382" rtlCol="0" anchor="ctr">
            <a:noAutofit/>
          </a:bodyPr>
          <a:lstStyle/>
          <a:p>
            <a:pPr algn="ctr" defTabSz="944880">
              <a:defRPr/>
            </a:pPr>
            <a:endParaRPr lang="zh-CN" altLang="en-US" sz="1430" kern="0" dirty="0">
              <a:solidFill>
                <a:prstClr val="white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49" name="椭圆 248"/>
          <p:cNvSpPr/>
          <p:nvPr/>
        </p:nvSpPr>
        <p:spPr>
          <a:xfrm flipH="1">
            <a:off x="5158776" y="1983741"/>
            <a:ext cx="972562" cy="972562"/>
          </a:xfrm>
          <a:prstGeom prst="ellipse">
            <a:avLst/>
          </a:prstGeom>
          <a:blipFill rotWithShape="1">
            <a:blip r:embed="rId17"/>
            <a:stretch>
              <a:fillRect/>
            </a:stretch>
          </a:blipFill>
          <a:ln w="6350" cap="flat" cmpd="sng" algn="ctr">
            <a:solidFill>
              <a:schemeClr val="accent5">
                <a:alpha val="83000"/>
              </a:schemeClr>
            </a:solidFill>
            <a:prstDash val="solid"/>
            <a:miter lim="800000"/>
          </a:ln>
          <a:effectLst>
            <a:outerShdw blurRad="190500" dist="38100" dir="2700000" algn="tl" rotWithShape="0">
              <a:srgbClr val="65EDDA">
                <a:alpha val="31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50" name="椭圆 249"/>
          <p:cNvSpPr/>
          <p:nvPr/>
        </p:nvSpPr>
        <p:spPr>
          <a:xfrm>
            <a:off x="6598588" y="1977836"/>
            <a:ext cx="971042" cy="971042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 w="6350" cap="flat" cmpd="sng" algn="ctr">
            <a:solidFill>
              <a:schemeClr val="accent5">
                <a:alpha val="83000"/>
              </a:schemeClr>
            </a:solidFill>
            <a:prstDash val="solid"/>
            <a:miter lim="800000"/>
          </a:ln>
          <a:effectLst>
            <a:outerShdw blurRad="190500" dist="38100" dir="2700000" algn="tl" rotWithShape="0">
              <a:srgbClr val="65EDDA">
                <a:alpha val="31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51" name="箭头: V 形 240"/>
          <p:cNvSpPr/>
          <p:nvPr/>
        </p:nvSpPr>
        <p:spPr>
          <a:xfrm>
            <a:off x="852661" y="3375245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389093" y="3487793"/>
            <a:ext cx="2799433" cy="508634"/>
          </a:xfrm>
          <a:prstGeom prst="homePlate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接口适配性较差</a:t>
            </a:r>
            <a:endParaRPr lang="zh-CN" altLang="en-US" sz="3010" dirty="0">
              <a:solidFill>
                <a:srgbClr val="0068BF"/>
              </a:solidFill>
              <a:latin typeface="OPPOSans M" panose="00020600040101010101" pitchFamily="18" charset="-122"/>
            </a:endParaRPr>
          </a:p>
        </p:txBody>
      </p:sp>
      <p:sp>
        <p:nvSpPr>
          <p:cNvPr id="253" name="箭头: V 形 240"/>
          <p:cNvSpPr/>
          <p:nvPr/>
        </p:nvSpPr>
        <p:spPr>
          <a:xfrm>
            <a:off x="852661" y="4311238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1389094" y="4423786"/>
            <a:ext cx="2799433" cy="508634"/>
          </a:xfrm>
          <a:prstGeom prst="homePlate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计算吞吐率偏低</a:t>
            </a:r>
            <a:endParaRPr lang="zh-CN" altLang="en-US" sz="3010" dirty="0">
              <a:solidFill>
                <a:srgbClr val="0068BF"/>
              </a:solidFill>
              <a:latin typeface="OPPOSans M" panose="00020600040101010101" pitchFamily="18" charset="-122"/>
            </a:endParaRPr>
          </a:p>
        </p:txBody>
      </p:sp>
      <p:sp>
        <p:nvSpPr>
          <p:cNvPr id="255" name="箭头: V 形 240"/>
          <p:cNvSpPr/>
          <p:nvPr/>
        </p:nvSpPr>
        <p:spPr>
          <a:xfrm>
            <a:off x="852661" y="5247232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389093" y="5359780"/>
            <a:ext cx="2799433" cy="508634"/>
          </a:xfrm>
          <a:prstGeom prst="homePlate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算子体系不完善</a:t>
            </a:r>
            <a:endParaRPr lang="zh-CN" altLang="en-US" sz="3010" dirty="0">
              <a:solidFill>
                <a:srgbClr val="0068BF"/>
              </a:solidFill>
              <a:latin typeface="OPPOSans M" panose="00020600040101010101" pitchFamily="18" charset="-122"/>
            </a:endParaRPr>
          </a:p>
        </p:txBody>
      </p:sp>
      <p:sp>
        <p:nvSpPr>
          <p:cNvPr id="257" name="箭头: V 形 240"/>
          <p:cNvSpPr/>
          <p:nvPr/>
        </p:nvSpPr>
        <p:spPr>
          <a:xfrm flipH="1">
            <a:off x="6608159" y="3375245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7210425" y="3488055"/>
            <a:ext cx="4675505" cy="508634"/>
          </a:xfrm>
          <a:prstGeom prst="homePlate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altLang="zh-CN" sz="3010">
                <a:solidFill>
                  <a:srgbClr val="0068BF"/>
                </a:solidFill>
                <a:latin typeface="OPPOSans M" panose="00020600040101010101" pitchFamily="18" charset="-122"/>
              </a:rPr>
              <a:t>DSP</a:t>
            </a: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串行效率不足</a:t>
            </a:r>
            <a:endParaRPr lang="zh-CN" altLang="en-US" sz="3010" dirty="0">
              <a:solidFill>
                <a:srgbClr val="F78021"/>
              </a:solidFill>
              <a:latin typeface="OPPOSans M" panose="00020600040101010101" pitchFamily="18" charset="-122"/>
            </a:endParaRPr>
          </a:p>
        </p:txBody>
      </p:sp>
      <p:sp>
        <p:nvSpPr>
          <p:cNvPr id="259" name="箭头: V 形 240"/>
          <p:cNvSpPr/>
          <p:nvPr/>
        </p:nvSpPr>
        <p:spPr>
          <a:xfrm flipH="1">
            <a:off x="6608159" y="4311238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7210425" y="4424045"/>
            <a:ext cx="4676140" cy="508634"/>
          </a:xfrm>
          <a:prstGeom prst="homePlate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altLang="zh-CN" sz="3010">
                <a:solidFill>
                  <a:srgbClr val="0068BF"/>
                </a:solidFill>
                <a:latin typeface="OPPOSans M" panose="00020600040101010101" pitchFamily="18" charset="-122"/>
              </a:rPr>
              <a:t>GPU</a:t>
            </a: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平台差异性大</a:t>
            </a:r>
          </a:p>
        </p:txBody>
      </p:sp>
      <p:sp>
        <p:nvSpPr>
          <p:cNvPr id="261" name="箭头: V 形 240"/>
          <p:cNvSpPr/>
          <p:nvPr/>
        </p:nvSpPr>
        <p:spPr>
          <a:xfrm flipH="1">
            <a:off x="6608159" y="5247232"/>
            <a:ext cx="5278677" cy="739124"/>
          </a:xfrm>
          <a:prstGeom prst="homePlate">
            <a:avLst/>
          </a:prstGeom>
          <a:solidFill>
            <a:srgbClr val="FFFFFF"/>
          </a:solidFill>
          <a:ln w="17336">
            <a:solidFill>
              <a:srgbClr val="0068BF"/>
            </a:solidFill>
          </a:ln>
          <a:effectLst/>
        </p:spPr>
        <p:style>
          <a:lnRef idx="2">
            <a:srgbClr val="0068BF">
              <a:shade val="15000"/>
            </a:srgbClr>
          </a:lnRef>
          <a:fillRef idx="1">
            <a:srgbClr val="0068BF"/>
          </a:fillRef>
          <a:effectRef idx="0">
            <a:srgbClr val="0068BF"/>
          </a:effectRef>
          <a:fontRef idx="minor">
            <a:srgbClr val="FFFFFF"/>
          </a:fontRef>
        </p:style>
        <p:txBody>
          <a:bodyPr wrap="none" lIns="171990" tIns="85995" rIns="171990" bIns="85995" rtlCol="0" anchor="ctr"/>
          <a:lstStyle/>
          <a:p>
            <a:pPr algn="ctr"/>
            <a:endParaRPr lang="zh-CN" altLang="en-US" sz="3385" dirty="0">
              <a:solidFill>
                <a:srgbClr val="FFFFFF"/>
              </a:solidFill>
              <a:latin typeface="Times New Roman" panose="02020603050405020304" charset="0"/>
              <a:ea typeface="OPPOSans M" panose="00020600040101010101" pitchFamily="18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210425" y="5360035"/>
            <a:ext cx="4675505" cy="508634"/>
          </a:xfrm>
          <a:prstGeom prst="homePlate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zh-CN" altLang="en-US" sz="3010">
                <a:solidFill>
                  <a:srgbClr val="0068BF"/>
                </a:solidFill>
                <a:latin typeface="OPPOSans M" panose="00020600040101010101" pitchFamily="18" charset="-122"/>
              </a:rPr>
              <a:t>算法并行优化受限</a:t>
            </a:r>
            <a:endParaRPr lang="zh-CN" altLang="en-US" sz="3010" dirty="0">
              <a:solidFill>
                <a:srgbClr val="0068BF"/>
              </a:solidFill>
              <a:latin typeface="OPPOSans M" panose="00020600040101010101" pitchFamily="18" charset="-122"/>
            </a:endParaRPr>
          </a:p>
        </p:txBody>
      </p:sp>
      <p:grpSp>
        <p:nvGrpSpPr>
          <p:cNvPr id="263" name="组合 262"/>
          <p:cNvGrpSpPr/>
          <p:nvPr/>
        </p:nvGrpSpPr>
        <p:grpSpPr>
          <a:xfrm>
            <a:off x="521183" y="6209155"/>
            <a:ext cx="11557623" cy="862698"/>
            <a:chOff x="531660" y="6291983"/>
            <a:chExt cx="11326313" cy="707333"/>
          </a:xfrm>
        </p:grpSpPr>
        <p:sp>
          <p:nvSpPr>
            <p:cNvPr id="264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chemeClr val="bg1"/>
                </a:gs>
                <a:gs pos="85000">
                  <a:schemeClr val="bg1"/>
                </a:gs>
                <a:gs pos="1400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chemeClr val="accent2">
                      <a:alpha val="0"/>
                    </a:schemeClr>
                  </a:gs>
                  <a:gs pos="6000">
                    <a:schemeClr val="accent1"/>
                  </a:gs>
                  <a:gs pos="98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265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266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267" name="文本框 266"/>
          <p:cNvSpPr txBox="1"/>
          <p:nvPr/>
        </p:nvSpPr>
        <p:spPr>
          <a:xfrm>
            <a:off x="640080" y="6437630"/>
            <a:ext cx="113131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rPr>
              <a:t>基于</a:t>
            </a:r>
            <a:r>
              <a:rPr kumimoji="1" lang="zh-CN" altLang="en-US" sz="2800" noProof="0" dirty="0">
                <a:ln>
                  <a:noFill/>
                </a:ln>
                <a:gradFill>
                  <a:gsLst>
                    <a:gs pos="0">
                      <a:srgbClr val="DDCA57"/>
                    </a:gs>
                    <a:gs pos="99000">
                      <a:srgbClr val="F03752"/>
                    </a:gs>
                  </a:gsLst>
                  <a:lin ang="2700000" scaled="1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rPr>
              <a:t>凌久</a:t>
            </a:r>
            <a:r>
              <a:rPr kumimoji="1" lang="zh-CN" altLang="en-US" sz="2800" noProof="0" dirty="0">
                <a:ln>
                  <a:noFill/>
                </a:ln>
                <a:gradFill>
                  <a:gsLst>
                    <a:gs pos="0">
                      <a:srgbClr val="DDCA57"/>
                    </a:gs>
                    <a:gs pos="99000">
                      <a:srgbClr val="F03752"/>
                    </a:gs>
                  </a:gsLst>
                  <a:lin ang="2700000" scaled="1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GPU平台</a:t>
            </a:r>
            <a:r>
              <a:rPr kumimoji="1" lang="en-US" altLang="zh-CN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   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破解当下常见不足</a:t>
            </a:r>
            <a:r>
              <a:rPr kumimoji="1" lang="en-US" altLang="zh-CN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    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实现信号处理</a:t>
            </a:r>
            <a:r>
              <a:rPr kumimoji="1" lang="zh-CN" altLang="en-US" sz="2800" noProof="0" dirty="0">
                <a:ln>
                  <a:noFill/>
                </a:ln>
                <a:gradFill>
                  <a:gsLst>
                    <a:gs pos="0">
                      <a:srgbClr val="DDCA57"/>
                    </a:gs>
                    <a:gs pos="99000">
                      <a:srgbClr val="F03752"/>
                    </a:gs>
                  </a:gsLst>
                  <a:lin ang="2700000" scaled="1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国产化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 hidden="1"/>
          <p:cNvSpPr/>
          <p:nvPr/>
        </p:nvSpPr>
        <p:spPr>
          <a:xfrm>
            <a:off x="892340" y="1061905"/>
            <a:ext cx="1806575" cy="448945"/>
          </a:xfrm>
          <a:prstGeom prst="hexagon">
            <a:avLst/>
          </a:prstGeom>
          <a:gradFill>
            <a:gsLst>
              <a:gs pos="48687">
                <a:srgbClr val="7AD9FB"/>
              </a:gs>
              <a:gs pos="3000">
                <a:srgbClr val="2C84BC"/>
              </a:gs>
              <a:gs pos="100000">
                <a:srgbClr val="FCFEFF"/>
              </a:gs>
            </a:gsLst>
            <a:lin ang="18900000" scaled="1"/>
          </a:gradFill>
          <a:ln w="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sym typeface="方正公文小标宋" panose="02000500000000000000" charset="-122"/>
              </a:rPr>
              <a:t>科研成果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400000101010101" charset="-122"/>
              <a:ea typeface="汉仪菱心体简" panose="02010400000101010101" charset="-122"/>
              <a:sym typeface="方正公文小标宋" panose="020005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70" y="185"/>
            <a:ext cx="12599670" cy="781685"/>
            <a:chOff x="0" y="0"/>
            <a:chExt cx="19200" cy="1231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0"/>
              <a:ext cx="19200" cy="1231"/>
              <a:chOff x="0" y="580"/>
              <a:chExt cx="19200" cy="1231"/>
            </a:xfrm>
          </p:grpSpPr>
          <p:sp>
            <p:nvSpPr>
              <p:cNvPr id="4" name="任意多边形: 形状 1"/>
              <p:cNvSpPr/>
              <p:nvPr>
                <p:custDataLst>
                  <p:tags r:id="rId6"/>
                </p:custDataLst>
              </p:nvPr>
            </p:nvSpPr>
            <p:spPr>
              <a:xfrm>
                <a:off x="0" y="580"/>
                <a:ext cx="19200" cy="1209"/>
              </a:xfrm>
              <a:custGeom>
                <a:avLst/>
                <a:gdLst>
                  <a:gd name="connsiteX0" fmla="*/ 0 w 12192000"/>
                  <a:gd name="connsiteY0" fmla="*/ 0 h 767944"/>
                  <a:gd name="connsiteX1" fmla="*/ 12192000 w 12192000"/>
                  <a:gd name="connsiteY1" fmla="*/ 0 h 767944"/>
                  <a:gd name="connsiteX2" fmla="*/ 12192000 w 12192000"/>
                  <a:gd name="connsiteY2" fmla="*/ 767944 h 767944"/>
                  <a:gd name="connsiteX3" fmla="*/ 0 w 12192000"/>
                  <a:gd name="connsiteY3" fmla="*/ 767944 h 76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767944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767944"/>
                    </a:lnTo>
                    <a:lnTo>
                      <a:pt x="0" y="767944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>
                      <a:alpha val="80000"/>
                    </a:schemeClr>
                  </a:gs>
                  <a:gs pos="52000">
                    <a:schemeClr val="bg1">
                      <a:alpha val="80000"/>
                    </a:schemeClr>
                  </a:gs>
                  <a:gs pos="0">
                    <a:schemeClr val="bg1">
                      <a:alpha val="80000"/>
                    </a:schemeClr>
                  </a:gs>
                </a:gsLst>
                <a:lin ang="0" scaled="1"/>
                <a:tileRect/>
              </a:gra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" name="任意多边形: 形状 8"/>
              <p:cNvSpPr/>
              <p:nvPr>
                <p:custDataLst>
                  <p:tags r:id="rId7"/>
                </p:custDataLst>
              </p:nvPr>
            </p:nvSpPr>
            <p:spPr>
              <a:xfrm flipV="1">
                <a:off x="0" y="1724"/>
                <a:ext cx="19200" cy="87"/>
              </a:xfrm>
              <a:custGeom>
                <a:avLst/>
                <a:gdLst>
                  <a:gd name="connsiteX0" fmla="*/ 0 w 12192000"/>
                  <a:gd name="connsiteY0" fmla="*/ 55383 h 55383"/>
                  <a:gd name="connsiteX1" fmla="*/ 12192000 w 12192000"/>
                  <a:gd name="connsiteY1" fmla="*/ 55383 h 55383"/>
                  <a:gd name="connsiteX2" fmla="*/ 12192000 w 12192000"/>
                  <a:gd name="connsiteY2" fmla="*/ 0 h 55383"/>
                  <a:gd name="connsiteX3" fmla="*/ 0 w 12192000"/>
                  <a:gd name="connsiteY3" fmla="*/ 0 h 55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55383">
                    <a:moveTo>
                      <a:pt x="0" y="55383"/>
                    </a:moveTo>
                    <a:lnTo>
                      <a:pt x="12192000" y="55383"/>
                    </a:lnTo>
                    <a:lnTo>
                      <a:pt x="1219200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16000">
                    <a:schemeClr val="accent2">
                      <a:lumMod val="75000"/>
                    </a:schemeClr>
                  </a:gs>
                  <a:gs pos="100000">
                    <a:schemeClr val="accent2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279400" dist="203200" dir="3600000" sx="88000" sy="88000" algn="t" rotWithShape="0">
                  <a:schemeClr val="accent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grpSp>
            <p:nvGrpSpPr>
              <p:cNvPr id="29" name="Group 1120+"/>
              <p:cNvGrpSpPr/>
              <p:nvPr/>
            </p:nvGrpSpPr>
            <p:grpSpPr>
              <a:xfrm>
                <a:off x="4454" y="919"/>
                <a:ext cx="406" cy="516"/>
                <a:chOff x="981945" y="2960072"/>
                <a:chExt cx="257801" cy="327873"/>
              </a:xfrm>
            </p:grpSpPr>
            <p:sp>
              <p:nvSpPr>
                <p:cNvPr id="34" name="PA-矩形 114"/>
                <p:cNvSpPr/>
                <p:nvPr>
                  <p:custDataLst>
                    <p:tags r:id="rId8"/>
                  </p:custDataLst>
                </p:nvPr>
              </p:nvSpPr>
              <p:spPr>
                <a:xfrm rot="18900000">
                  <a:off x="981945" y="3061492"/>
                  <a:ext cx="125035" cy="125035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54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</a:endParaRPr>
                </a:p>
              </p:txBody>
            </p:sp>
            <p:sp>
              <p:nvSpPr>
                <p:cNvPr id="35" name="PA-任意多边形 121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075810" y="2960072"/>
                  <a:ext cx="163936" cy="32787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5824" h="551647">
                      <a:moveTo>
                        <a:pt x="0" y="551646"/>
                      </a:moveTo>
                      <a:lnTo>
                        <a:pt x="275823" y="27582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gradFill>
                    <a:gsLst>
                      <a:gs pos="8000">
                        <a:schemeClr val="accent1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70000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</a:endParaRPr>
                </a:p>
              </p:txBody>
            </p:sp>
          </p:grpSp>
        </p:grpSp>
        <p:sp>
          <p:nvSpPr>
            <p:cNvPr id="42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227" y="174"/>
              <a:ext cx="5349" cy="963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algn="ctr">
                <a:defRPr/>
              </a:pPr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汉仪颜楷简" panose="00020600040101010101" charset="-122"/>
                  <a:ea typeface="汉仪颜楷简" panose="00020600040101010101" charset="-122"/>
                  <a:cs typeface="The best part" panose="00000500000000000000" charset="0"/>
                </a:rPr>
                <a:t>“</a:t>
              </a:r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汉仪颜楷简" panose="00020600040101010101" charset="-122"/>
                  <a:ea typeface="汉仪颜楷简" panose="00020600040101010101" charset="-122"/>
                  <a:cs typeface="The best part" panose="00000500000000000000" charset="0"/>
                </a:rPr>
                <a:t>凌波驭算</a:t>
              </a:r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汉仪颜楷简" panose="00020600040101010101" charset="-122"/>
                  <a:ea typeface="汉仪颜楷简" panose="00020600040101010101" charset="-122"/>
                  <a:cs typeface="The best part" panose="00000500000000000000" charset="0"/>
                </a:rPr>
                <a:t>”</a:t>
              </a:r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汉仪颜楷简" panose="00020600040101010101" charset="-122"/>
                  <a:ea typeface="汉仪颜楷简" panose="00020600040101010101" charset="-122"/>
                  <a:cs typeface="The best part" panose="00000500000000000000" charset="0"/>
                  <a:sym typeface="思源黑体 CN Bold" panose="020B0800000000000000" pitchFamily="34" charset="-122"/>
                </a:rPr>
                <a:t>团队介绍</a:t>
              </a:r>
            </a:p>
          </p:txBody>
        </p:sp>
        <p:pic>
          <p:nvPicPr>
            <p:cNvPr id="8" name="图片 7" descr="边框向右双箭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591" y="107"/>
              <a:ext cx="1037" cy="1037"/>
            </a:xfrm>
            <a:prstGeom prst="rect">
              <a:avLst/>
            </a:prstGeom>
          </p:spPr>
        </p:pic>
        <p:pic>
          <p:nvPicPr>
            <p:cNvPr id="27" name="图片 26" descr="边框向右双箭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85" y="100"/>
              <a:ext cx="1037" cy="1037"/>
            </a:xfrm>
            <a:prstGeom prst="rect">
              <a:avLst/>
            </a:prstGeom>
          </p:spPr>
        </p:pic>
        <p:pic>
          <p:nvPicPr>
            <p:cNvPr id="37" name="图片 36" descr="边框向右双箭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H="1">
              <a:off x="13774" y="100"/>
              <a:ext cx="1037" cy="1037"/>
            </a:xfrm>
            <a:prstGeom prst="rect">
              <a:avLst/>
            </a:prstGeom>
          </p:spPr>
        </p:pic>
        <p:pic>
          <p:nvPicPr>
            <p:cNvPr id="38" name="图片 37" descr="边框向右双箭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flipH="1">
              <a:off x="14647" y="107"/>
              <a:ext cx="1037" cy="1037"/>
            </a:xfrm>
            <a:prstGeom prst="rect">
              <a:avLst/>
            </a:prstGeom>
          </p:spPr>
        </p:pic>
        <p:pic>
          <p:nvPicPr>
            <p:cNvPr id="6" name="图片 5" descr="湖工横版logo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5388887" y="3504970"/>
            <a:ext cx="1397621" cy="33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ym typeface="+mn-ea"/>
              </a:rPr>
              <a:t>总体规划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66230" y="892042"/>
            <a:ext cx="12070080" cy="550545"/>
            <a:chOff x="-2515521" y="1179390"/>
            <a:chExt cx="16860720" cy="556260"/>
          </a:xfrm>
        </p:grpSpPr>
        <p:sp>
          <p:nvSpPr>
            <p:cNvPr id="49" name="矩形 48"/>
            <p:cNvSpPr/>
            <p:nvPr/>
          </p:nvSpPr>
          <p:spPr>
            <a:xfrm rot="5400000">
              <a:off x="5636709" y="-6972840"/>
              <a:ext cx="556260" cy="16860720"/>
            </a:xfrm>
            <a:prstGeom prst="rect">
              <a:avLst/>
            </a:prstGeom>
            <a:gradFill flip="none" rotWithShape="1">
              <a:gsLst>
                <a:gs pos="74000">
                  <a:schemeClr val="accent2">
                    <a:lumMod val="75000"/>
                  </a:schemeClr>
                </a:gs>
                <a:gs pos="28000">
                  <a:schemeClr val="accent2">
                    <a:lumMod val="75000"/>
                  </a:schemeClr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22225" cap="flat" cmpd="sng" algn="ctr">
              <a:gradFill>
                <a:gsLst>
                  <a:gs pos="52300">
                    <a:srgbClr val="FFFFFF"/>
                  </a:gs>
                  <a:gs pos="26000">
                    <a:srgbClr val="FFFFFF">
                      <a:alpha val="0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50" name="TextBox 5"/>
            <p:cNvSpPr txBox="1"/>
            <p:nvPr/>
          </p:nvSpPr>
          <p:spPr>
            <a:xfrm>
              <a:off x="2350244" y="1228809"/>
              <a:ext cx="7554410" cy="453390"/>
            </a:xfrm>
            <a:prstGeom prst="rect">
              <a:avLst/>
            </a:prstGeom>
            <a:noFill/>
          </p:spPr>
          <p:txBody>
            <a:bodyPr wrap="none" lIns="216000" tIns="0" rIns="0" bIns="0" anchor="ctr">
              <a:noAutofit/>
            </a:bodyPr>
            <a:lstStyle/>
            <a:p>
              <a:pPr algn="ctr">
                <a:defRPr/>
              </a:pPr>
              <a:r>
                <a:rPr lang="zh-CN" altLang="en-US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团队核心成员来自首批国家级</a:t>
              </a:r>
              <a:r>
                <a:rPr lang="zh-CN" altLang="en-US" sz="24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芯片</a:t>
              </a:r>
              <a:r>
                <a:rPr lang="zh-CN" altLang="en-US" sz="2400" b="1" kern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产业学院</a:t>
              </a:r>
              <a:endParaRPr kumimoji="0" lang="zh-CN" altLang="en-US" sz="2800" b="1" i="0" u="none" strike="noStrike" kern="0" cap="none" spc="0" normalizeH="0" baseline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微软雅黑" panose="020B0503020204020204" charset="-122"/>
              </a:endParaRPr>
            </a:p>
          </p:txBody>
        </p:sp>
      </p:grpSp>
      <p:sp>
        <p:nvSpPr>
          <p:cNvPr id="85" name="矩形: 剪去左右顶角 84"/>
          <p:cNvSpPr/>
          <p:nvPr/>
        </p:nvSpPr>
        <p:spPr>
          <a:xfrm>
            <a:off x="442913" y="1814610"/>
            <a:ext cx="4857349" cy="1957290"/>
          </a:xfrm>
          <a:prstGeom prst="snip2SameRect">
            <a:avLst>
              <a:gd name="adj1" fmla="val 2092"/>
              <a:gd name="adj2" fmla="val 0"/>
            </a:avLst>
          </a:prstGeom>
          <a:solidFill>
            <a:schemeClr val="bg1"/>
          </a:solidFill>
          <a:ln w="2540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endParaRPr lang="zh-CN" altLang="en-US" sz="1600" kern="0" dirty="0">
              <a:noFill/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182991" y="1560971"/>
            <a:ext cx="3377192" cy="454978"/>
            <a:chOff x="3380070" y="508463"/>
            <a:chExt cx="2701695" cy="476736"/>
          </a:xfrm>
        </p:grpSpPr>
        <p:sp>
          <p:nvSpPr>
            <p:cNvPr id="87" name="PA-圆角矩形 11"/>
            <p:cNvSpPr/>
            <p:nvPr>
              <p:custDataLst>
                <p:tags r:id="rId4"/>
              </p:custDataLst>
            </p:nvPr>
          </p:nvSpPr>
          <p:spPr>
            <a:xfrm>
              <a:off x="3380070" y="508463"/>
              <a:ext cx="2701695" cy="476736"/>
            </a:xfrm>
            <a:prstGeom prst="hexagon">
              <a:avLst>
                <a:gd name="adj" fmla="val 29370"/>
                <a:gd name="vf" fmla="val 115470"/>
              </a:avLst>
            </a:prstGeom>
            <a:gradFill flip="none" rotWithShape="1">
              <a:gsLst>
                <a:gs pos="0">
                  <a:srgbClr val="05A4E9"/>
                </a:gs>
                <a:gs pos="53000">
                  <a:srgbClr val="105CC7"/>
                </a:gs>
              </a:gsLst>
              <a:lin ang="2700000" scaled="1"/>
              <a:tileRect/>
            </a:gradFill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100" dirty="0">
                <a:solidFill>
                  <a:schemeClr val="lt1"/>
                </a:solidFill>
                <a:sym typeface="Roboto" panose="02000000000000000000" pitchFamily="2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508902" y="535874"/>
              <a:ext cx="2444032" cy="44227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+mj-ea"/>
                  <a:ea typeface="+mj-ea"/>
                  <a:cs typeface="演示古风宋 Heavy" panose="02000600000000000000" pitchFamily="2" charset="-122"/>
                  <a:sym typeface="微软雅黑" panose="020B0503020204020204" charset="-122"/>
                </a:rPr>
                <a:t>指导老师</a:t>
              </a:r>
            </a:p>
          </p:txBody>
        </p:sp>
      </p:grpSp>
      <p:sp>
        <p:nvSpPr>
          <p:cNvPr id="90" name="椭圆 89"/>
          <p:cNvSpPr>
            <a:spLocks noChangeAspect="1"/>
          </p:cNvSpPr>
          <p:nvPr/>
        </p:nvSpPr>
        <p:spPr>
          <a:xfrm>
            <a:off x="614464" y="2165892"/>
            <a:ext cx="1398100" cy="1408296"/>
          </a:xfrm>
          <a:prstGeom prst="ellipse">
            <a:avLst/>
          </a:prstGeom>
          <a:noFill/>
          <a:ln w="952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  <a:sym typeface="+mn-ea"/>
            </a:endParaRPr>
          </a:p>
        </p:txBody>
      </p:sp>
      <p:pic>
        <p:nvPicPr>
          <p:cNvPr id="25" name="图片 24" descr="IMG_SEGMENT_SEND(1)"/>
          <p:cNvPicPr>
            <a:picLocks noChangeAspect="1"/>
          </p:cNvPicPr>
          <p:nvPr/>
        </p:nvPicPr>
        <p:blipFill>
          <a:blip r:embed="rId19"/>
          <a:srcRect b="27735"/>
          <a:stretch>
            <a:fillRect/>
          </a:stretch>
        </p:blipFill>
        <p:spPr>
          <a:xfrm>
            <a:off x="675976" y="2043387"/>
            <a:ext cx="1275080" cy="1193800"/>
          </a:xfrm>
          <a:prstGeom prst="rect">
            <a:avLst/>
          </a:prstGeom>
        </p:spPr>
      </p:pic>
      <p:sp>
        <p:nvSpPr>
          <p:cNvPr id="96" name="同侧圆角矩形 54"/>
          <p:cNvSpPr/>
          <p:nvPr/>
        </p:nvSpPr>
        <p:spPr>
          <a:xfrm>
            <a:off x="520459" y="3228422"/>
            <a:ext cx="1574990" cy="382212"/>
          </a:xfrm>
          <a:prstGeom prst="round2SameRect">
            <a:avLst/>
          </a:prstGeom>
          <a:gradFill>
            <a:gsLst>
              <a:gs pos="59000">
                <a:schemeClr val="accent1"/>
              </a:gs>
              <a:gs pos="0">
                <a:schemeClr val="accent1">
                  <a:lumMod val="96000"/>
                  <a:lumOff val="4000"/>
                </a:schemeClr>
              </a:gs>
            </a:gsLst>
            <a:lin ang="27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陈本源  </a:t>
            </a: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讲师</a:t>
            </a:r>
          </a:p>
        </p:txBody>
      </p:sp>
      <p:sp>
        <p:nvSpPr>
          <p:cNvPr id="97" name="椭圆 96"/>
          <p:cNvSpPr>
            <a:spLocks noChangeAspect="1"/>
          </p:cNvSpPr>
          <p:nvPr/>
        </p:nvSpPr>
        <p:spPr>
          <a:xfrm>
            <a:off x="2157812" y="2165892"/>
            <a:ext cx="1398100" cy="1408296"/>
          </a:xfrm>
          <a:prstGeom prst="ellipse">
            <a:avLst/>
          </a:prstGeom>
          <a:noFill/>
          <a:ln w="952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  <a:sym typeface="+mn-ea"/>
            </a:endParaRPr>
          </a:p>
        </p:txBody>
      </p:sp>
      <p:pic>
        <p:nvPicPr>
          <p:cNvPr id="23" name="图片 22" descr="IMG_SEGMENT_SEND"/>
          <p:cNvPicPr>
            <a:picLocks noChangeAspect="1"/>
          </p:cNvPicPr>
          <p:nvPr/>
        </p:nvPicPr>
        <p:blipFill rotWithShape="1">
          <a:blip r:embed="rId20"/>
          <a:srcRect t="1" b="8593"/>
          <a:stretch>
            <a:fillRect/>
          </a:stretch>
        </p:blipFill>
        <p:spPr>
          <a:xfrm>
            <a:off x="2379979" y="2228499"/>
            <a:ext cx="953770" cy="1210091"/>
          </a:xfrm>
          <a:prstGeom prst="rect">
            <a:avLst/>
          </a:prstGeom>
        </p:spPr>
      </p:pic>
      <p:sp>
        <p:nvSpPr>
          <p:cNvPr id="99" name="同侧圆角矩形 54"/>
          <p:cNvSpPr/>
          <p:nvPr/>
        </p:nvSpPr>
        <p:spPr>
          <a:xfrm>
            <a:off x="2209146" y="3228422"/>
            <a:ext cx="1284312" cy="382212"/>
          </a:xfrm>
          <a:prstGeom prst="round2SameRect">
            <a:avLst/>
          </a:prstGeom>
          <a:gradFill>
            <a:gsLst>
              <a:gs pos="59000">
                <a:schemeClr val="accent1"/>
              </a:gs>
              <a:gs pos="0">
                <a:schemeClr val="accent1">
                  <a:lumMod val="96000"/>
                  <a:lumOff val="4000"/>
                </a:schemeClr>
              </a:gs>
            </a:gsLst>
            <a:lin ang="27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吕辉  </a:t>
            </a: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教授</a:t>
            </a:r>
          </a:p>
        </p:txBody>
      </p:sp>
      <p:sp>
        <p:nvSpPr>
          <p:cNvPr id="101" name="椭圆 100"/>
          <p:cNvSpPr>
            <a:spLocks noChangeAspect="1"/>
          </p:cNvSpPr>
          <p:nvPr/>
        </p:nvSpPr>
        <p:spPr>
          <a:xfrm>
            <a:off x="3712280" y="2165892"/>
            <a:ext cx="1398100" cy="1408296"/>
          </a:xfrm>
          <a:prstGeom prst="ellipse">
            <a:avLst/>
          </a:prstGeom>
          <a:noFill/>
          <a:ln w="952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  <a:sym typeface="+mn-ea"/>
            </a:endParaRPr>
          </a:p>
        </p:txBody>
      </p:sp>
      <p:pic>
        <p:nvPicPr>
          <p:cNvPr id="32" name="图片 31" descr="IMG_SEGMENT_SEND(2)"/>
          <p:cNvPicPr>
            <a:picLocks noChangeAspect="1"/>
          </p:cNvPicPr>
          <p:nvPr/>
        </p:nvPicPr>
        <p:blipFill>
          <a:blip r:embed="rId21"/>
          <a:srcRect b="29072"/>
          <a:stretch>
            <a:fillRect/>
          </a:stretch>
        </p:blipFill>
        <p:spPr>
          <a:xfrm>
            <a:off x="3873945" y="2173251"/>
            <a:ext cx="1183005" cy="1086485"/>
          </a:xfrm>
          <a:prstGeom prst="rect">
            <a:avLst/>
          </a:prstGeom>
        </p:spPr>
      </p:pic>
      <p:sp>
        <p:nvSpPr>
          <p:cNvPr id="104" name="同侧圆角矩形 54"/>
          <p:cNvSpPr/>
          <p:nvPr/>
        </p:nvSpPr>
        <p:spPr>
          <a:xfrm>
            <a:off x="3618275" y="3228422"/>
            <a:ext cx="1574990" cy="382212"/>
          </a:xfrm>
          <a:prstGeom prst="round2SameRect">
            <a:avLst/>
          </a:prstGeom>
          <a:gradFill>
            <a:gsLst>
              <a:gs pos="59000">
                <a:schemeClr val="accent1"/>
              </a:gs>
              <a:gs pos="0">
                <a:schemeClr val="accent1">
                  <a:lumMod val="96000"/>
                  <a:lumOff val="4000"/>
                </a:schemeClr>
              </a:gs>
            </a:gsLst>
            <a:lin ang="2700000" scaled="1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陈彦君  </a:t>
            </a: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副教授</a:t>
            </a:r>
          </a:p>
        </p:txBody>
      </p:sp>
      <p:sp>
        <p:nvSpPr>
          <p:cNvPr id="105" name="矩形: 剪去左右顶角 104"/>
          <p:cNvSpPr/>
          <p:nvPr/>
        </p:nvSpPr>
        <p:spPr>
          <a:xfrm>
            <a:off x="6831621" y="1814610"/>
            <a:ext cx="5153903" cy="1957290"/>
          </a:xfrm>
          <a:prstGeom prst="snip2SameRect">
            <a:avLst>
              <a:gd name="adj1" fmla="val 2092"/>
              <a:gd name="adj2" fmla="val 0"/>
            </a:avLst>
          </a:prstGeom>
          <a:solidFill>
            <a:schemeClr val="bg1"/>
          </a:solidFill>
          <a:ln w="2540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endParaRPr lang="zh-CN" altLang="en-US" sz="1600" kern="0" dirty="0">
              <a:noFill/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7719976" y="1560971"/>
            <a:ext cx="3377192" cy="454978"/>
            <a:chOff x="3380070" y="508463"/>
            <a:chExt cx="2701695" cy="476736"/>
          </a:xfrm>
        </p:grpSpPr>
        <p:sp>
          <p:nvSpPr>
            <p:cNvPr id="107" name="PA-圆角矩形 11"/>
            <p:cNvSpPr/>
            <p:nvPr>
              <p:custDataLst>
                <p:tags r:id="rId3"/>
              </p:custDataLst>
            </p:nvPr>
          </p:nvSpPr>
          <p:spPr>
            <a:xfrm>
              <a:off x="3380070" y="508463"/>
              <a:ext cx="2701695" cy="476736"/>
            </a:xfrm>
            <a:prstGeom prst="hexagon">
              <a:avLst>
                <a:gd name="adj" fmla="val 29370"/>
                <a:gd name="vf" fmla="val 115470"/>
              </a:avLst>
            </a:prstGeom>
            <a:gradFill flip="none" rotWithShape="1">
              <a:gsLst>
                <a:gs pos="0">
                  <a:srgbClr val="05A4E9"/>
                </a:gs>
                <a:gs pos="53000">
                  <a:srgbClr val="105CC7"/>
                </a:gs>
              </a:gsLst>
              <a:lin ang="2700000" scaled="1"/>
              <a:tileRect/>
            </a:gradFill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100" dirty="0">
                <a:solidFill>
                  <a:schemeClr val="lt1"/>
                </a:solidFill>
                <a:sym typeface="Roboto" panose="02000000000000000000" pitchFamily="2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3508902" y="535874"/>
              <a:ext cx="2444032" cy="44227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+mj-ea"/>
                  <a:ea typeface="+mj-ea"/>
                  <a:cs typeface="演示古风宋 Heavy" panose="02000600000000000000" pitchFamily="2" charset="-122"/>
                  <a:sym typeface="微软雅黑" panose="020B0503020204020204" charset="-122"/>
                </a:rPr>
                <a:t>一流科研平台</a:t>
              </a:r>
            </a:p>
          </p:txBody>
        </p:sp>
      </p:grpSp>
      <p:pic>
        <p:nvPicPr>
          <p:cNvPr id="109" name="图片 108" descr="51f889a4d2a7d4d8ffe63f7eed93946f"/>
          <p:cNvPicPr>
            <a:picLocks noChangeAspect="1"/>
          </p:cNvPicPr>
          <p:nvPr/>
        </p:nvPicPr>
        <p:blipFill rotWithShape="1">
          <a:blip r:embed="rId22"/>
          <a:srcRect l="10042" t="17057" r="3562" b="19090"/>
          <a:stretch>
            <a:fillRect/>
          </a:stretch>
        </p:blipFill>
        <p:spPr>
          <a:xfrm>
            <a:off x="9706962" y="2514350"/>
            <a:ext cx="2162532" cy="1194049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3" name="矩形: 剪去左右顶角 112"/>
          <p:cNvSpPr/>
          <p:nvPr/>
        </p:nvSpPr>
        <p:spPr>
          <a:xfrm>
            <a:off x="442913" y="4222537"/>
            <a:ext cx="11296381" cy="1957290"/>
          </a:xfrm>
          <a:prstGeom prst="snip2SameRect">
            <a:avLst>
              <a:gd name="adj1" fmla="val 2092"/>
              <a:gd name="adj2" fmla="val 0"/>
            </a:avLst>
          </a:prstGeom>
          <a:solidFill>
            <a:schemeClr val="bg1"/>
          </a:solidFill>
          <a:ln w="2540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endParaRPr lang="zh-CN" altLang="en-US" sz="1600" kern="0" dirty="0">
              <a:noFill/>
              <a:latin typeface="等线" panose="02010600030101010101" charset="-122"/>
              <a:ea typeface="等线" panose="02010600030101010101" charset="-122"/>
              <a:sym typeface="+mn-lt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2675629" y="3864376"/>
            <a:ext cx="6840742" cy="523220"/>
            <a:chOff x="3380070" y="506390"/>
            <a:chExt cx="2701695" cy="501242"/>
          </a:xfrm>
        </p:grpSpPr>
        <p:sp>
          <p:nvSpPr>
            <p:cNvPr id="115" name="PA-圆角矩形 11"/>
            <p:cNvSpPr/>
            <p:nvPr>
              <p:custDataLst>
                <p:tags r:id="rId2"/>
              </p:custDataLst>
            </p:nvPr>
          </p:nvSpPr>
          <p:spPr>
            <a:xfrm>
              <a:off x="3380070" y="508463"/>
              <a:ext cx="2701695" cy="476736"/>
            </a:xfrm>
            <a:prstGeom prst="hexagon">
              <a:avLst>
                <a:gd name="adj" fmla="val 29370"/>
                <a:gd name="vf" fmla="val 115470"/>
              </a:avLst>
            </a:prstGeom>
            <a:gradFill flip="none" rotWithShape="1">
              <a:gsLst>
                <a:gs pos="0">
                  <a:srgbClr val="05A4E9"/>
                </a:gs>
                <a:gs pos="53000">
                  <a:srgbClr val="105CC7"/>
                </a:gs>
              </a:gsLst>
              <a:lin ang="2700000" scaled="1"/>
              <a:tileRect/>
            </a:gradFill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solidFill>
                  <a:schemeClr val="lt1"/>
                </a:solidFill>
                <a:sym typeface="Roboto" panose="02000000000000000000" pitchFamily="2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3508902" y="506390"/>
              <a:ext cx="2444032" cy="50124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+mj-ea"/>
                  <a:ea typeface="+mj-ea"/>
                  <a:cs typeface="演示古风宋 Heavy" panose="02000600000000000000" pitchFamily="2" charset="-122"/>
                  <a:sym typeface="微软雅黑" panose="020B0503020204020204" charset="-122"/>
                </a:rPr>
                <a:t>团队成员</a:t>
              </a: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433976" y="5825653"/>
            <a:ext cx="1633246" cy="370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  <a:sym typeface="+mn-ea"/>
              </a:rPr>
              <a:t>MVDR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  <a:sym typeface="+mn-ea"/>
              </a:rPr>
              <a:t>算法实现</a:t>
            </a:r>
          </a:p>
        </p:txBody>
      </p:sp>
      <p:sp>
        <p:nvSpPr>
          <p:cNvPr id="121" name="任意多边形: 形状 120"/>
          <p:cNvSpPr/>
          <p:nvPr/>
        </p:nvSpPr>
        <p:spPr>
          <a:xfrm rot="16200000">
            <a:off x="877994" y="4678542"/>
            <a:ext cx="745210" cy="1101201"/>
          </a:xfrm>
          <a:custGeom>
            <a:avLst/>
            <a:gdLst>
              <a:gd name="connsiteX0" fmla="*/ 1071020 w 1071020"/>
              <a:gd name="connsiteY0" fmla="*/ 594153 h 1188306"/>
              <a:gd name="connsiteX1" fmla="*/ 731081 w 1071020"/>
              <a:gd name="connsiteY1" fmla="*/ 1188306 h 1188306"/>
              <a:gd name="connsiteX2" fmla="*/ 10635 w 1071020"/>
              <a:gd name="connsiteY2" fmla="*/ 1188306 h 1188306"/>
              <a:gd name="connsiteX3" fmla="*/ 0 w 1071020"/>
              <a:gd name="connsiteY3" fmla="*/ 1169718 h 1188306"/>
              <a:gd name="connsiteX4" fmla="*/ 0 w 1071020"/>
              <a:gd name="connsiteY4" fmla="*/ 18588 h 1188306"/>
              <a:gd name="connsiteX5" fmla="*/ 10635 w 1071020"/>
              <a:gd name="connsiteY5" fmla="*/ 0 h 1188306"/>
              <a:gd name="connsiteX6" fmla="*/ 731081 w 1071020"/>
              <a:gd name="connsiteY6" fmla="*/ 0 h 118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020" h="1188306">
                <a:moveTo>
                  <a:pt x="1071020" y="594153"/>
                </a:moveTo>
                <a:lnTo>
                  <a:pt x="731081" y="1188306"/>
                </a:lnTo>
                <a:lnTo>
                  <a:pt x="10635" y="1188306"/>
                </a:lnTo>
                <a:lnTo>
                  <a:pt x="0" y="1169718"/>
                </a:lnTo>
                <a:lnTo>
                  <a:pt x="0" y="18588"/>
                </a:lnTo>
                <a:lnTo>
                  <a:pt x="10635" y="0"/>
                </a:lnTo>
                <a:lnTo>
                  <a:pt x="73108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alpha val="34000"/>
                </a:schemeClr>
              </a:gs>
              <a:gs pos="100000">
                <a:schemeClr val="accent1">
                  <a:alpha val="34000"/>
                </a:schemeClr>
              </a:gs>
            </a:gsLst>
            <a:lin ang="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9845" b="97755" l="0" r="98063">
                        <a14:foregroundMark x1="25424" y1="78584" x2="15981" y2="84283"/>
                        <a14:foregroundMark x1="15981" y1="84283" x2="20581" y2="94991"/>
                        <a14:foregroundMark x1="20581" y1="94991" x2="48910" y2="96891"/>
                        <a14:foregroundMark x1="48910" y1="96891" x2="79661" y2="96200"/>
                        <a14:foregroundMark x1="79661" y1="96200" x2="72881" y2="95855"/>
                        <a14:foregroundMark x1="78208" y1="79447" x2="79903" y2="96718"/>
                        <a14:foregroundMark x1="79903" y1="96718" x2="74334" y2="97927"/>
                        <a14:foregroundMark x1="88862" y1="78066" x2="88862" y2="97927"/>
                        <a14:foregroundMark x1="88862" y1="97927" x2="88862" y2="97927"/>
                        <a14:foregroundMark x1="94673" y1="86010" x2="93705" y2="98100"/>
                        <a14:foregroundMark x1="2663" y1="83247" x2="0" y2="95164"/>
                        <a14:foregroundMark x1="98063" y1="86010" x2="98063" y2="968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723" y="4134903"/>
            <a:ext cx="1107754" cy="1553000"/>
          </a:xfrm>
          <a:prstGeom prst="rect">
            <a:avLst/>
          </a:prstGeom>
        </p:spPr>
      </p:pic>
      <p:sp>
        <p:nvSpPr>
          <p:cNvPr id="123" name="同侧圆角矩形 54"/>
          <p:cNvSpPr/>
          <p:nvPr/>
        </p:nvSpPr>
        <p:spPr>
          <a:xfrm>
            <a:off x="586962" y="5470586"/>
            <a:ext cx="1336688" cy="382212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董喆</a:t>
            </a:r>
          </a:p>
        </p:txBody>
      </p:sp>
      <p:grpSp>
        <p:nvGrpSpPr>
          <p:cNvPr id="181" name="组合 180"/>
          <p:cNvGrpSpPr/>
          <p:nvPr/>
        </p:nvGrpSpPr>
        <p:grpSpPr>
          <a:xfrm>
            <a:off x="1909849" y="4320184"/>
            <a:ext cx="1633246" cy="1876340"/>
            <a:chOff x="2022109" y="4320184"/>
            <a:chExt cx="1633246" cy="1876340"/>
          </a:xfrm>
        </p:grpSpPr>
        <p:sp>
          <p:nvSpPr>
            <p:cNvPr id="124" name="文本框 123"/>
            <p:cNvSpPr txBox="1"/>
            <p:nvPr/>
          </p:nvSpPr>
          <p:spPr>
            <a:xfrm>
              <a:off x="2022109" y="5825653"/>
              <a:ext cx="1633246" cy="370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  <a:sym typeface="+mn-ea"/>
                </a:rPr>
                <a:t>公共库构建</a:t>
              </a:r>
            </a:p>
          </p:txBody>
        </p:sp>
        <p:sp>
          <p:nvSpPr>
            <p:cNvPr id="125" name="任意多边形: 形状 124"/>
            <p:cNvSpPr/>
            <p:nvPr/>
          </p:nvSpPr>
          <p:spPr>
            <a:xfrm rot="16200000">
              <a:off x="2466127" y="4678542"/>
              <a:ext cx="745210" cy="1101201"/>
            </a:xfrm>
            <a:custGeom>
              <a:avLst/>
              <a:gdLst>
                <a:gd name="connsiteX0" fmla="*/ 1071020 w 1071020"/>
                <a:gd name="connsiteY0" fmla="*/ 594153 h 1188306"/>
                <a:gd name="connsiteX1" fmla="*/ 731081 w 1071020"/>
                <a:gd name="connsiteY1" fmla="*/ 1188306 h 1188306"/>
                <a:gd name="connsiteX2" fmla="*/ 10635 w 1071020"/>
                <a:gd name="connsiteY2" fmla="*/ 1188306 h 1188306"/>
                <a:gd name="connsiteX3" fmla="*/ 0 w 1071020"/>
                <a:gd name="connsiteY3" fmla="*/ 1169718 h 1188306"/>
                <a:gd name="connsiteX4" fmla="*/ 0 w 1071020"/>
                <a:gd name="connsiteY4" fmla="*/ 18588 h 1188306"/>
                <a:gd name="connsiteX5" fmla="*/ 10635 w 1071020"/>
                <a:gd name="connsiteY5" fmla="*/ 0 h 1188306"/>
                <a:gd name="connsiteX6" fmla="*/ 731081 w 1071020"/>
                <a:gd name="connsiteY6" fmla="*/ 0 h 118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020" h="1188306">
                  <a:moveTo>
                    <a:pt x="1071020" y="594153"/>
                  </a:moveTo>
                  <a:lnTo>
                    <a:pt x="731081" y="1188306"/>
                  </a:lnTo>
                  <a:lnTo>
                    <a:pt x="10635" y="1188306"/>
                  </a:lnTo>
                  <a:lnTo>
                    <a:pt x="0" y="1169718"/>
                  </a:lnTo>
                  <a:lnTo>
                    <a:pt x="0" y="18588"/>
                  </a:lnTo>
                  <a:lnTo>
                    <a:pt x="10635" y="0"/>
                  </a:lnTo>
                  <a:lnTo>
                    <a:pt x="73108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  <a:alpha val="34000"/>
                  </a:schemeClr>
                </a:gs>
                <a:gs pos="100000">
                  <a:schemeClr val="accent1">
                    <a:alpha val="34000"/>
                  </a:schemeClr>
                </a:gs>
              </a:gsLst>
              <a:lin ang="0" scaled="1"/>
              <a:tileRect/>
            </a:gra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OPPOSans M" panose="00020600040101010101" pitchFamily="18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2209146" y="4320184"/>
              <a:ext cx="1175247" cy="1372186"/>
              <a:chOff x="12698" y="1543"/>
              <a:chExt cx="2497" cy="2912"/>
            </a:xfrm>
          </p:grpSpPr>
          <p:pic>
            <p:nvPicPr>
              <p:cNvPr id="172" name="图片 171"/>
              <p:cNvPicPr/>
              <p:nvPr/>
            </p:nvPicPr>
            <p:blipFill>
              <a:blip r:embed="rId25"/>
              <a:srcRect l="-7765" t="9298" r="488" b="1683"/>
              <a:stretch>
                <a:fillRect/>
              </a:stretch>
            </p:blipFill>
            <p:spPr>
              <a:xfrm>
                <a:off x="12698" y="1791"/>
                <a:ext cx="2488" cy="2664"/>
              </a:xfrm>
              <a:prstGeom prst="rect">
                <a:avLst/>
              </a:prstGeom>
            </p:spPr>
          </p:pic>
          <p:pic>
            <p:nvPicPr>
              <p:cNvPr id="171" name="图片 170"/>
              <p:cNvPicPr/>
              <p:nvPr/>
            </p:nvPicPr>
            <p:blipFill>
              <a:blip r:embed="rId25"/>
              <a:srcRect b="22194"/>
              <a:stretch>
                <a:fillRect/>
              </a:stretch>
            </p:blipFill>
            <p:spPr>
              <a:xfrm>
                <a:off x="12876" y="1543"/>
                <a:ext cx="2319" cy="2346"/>
              </a:xfrm>
              <a:prstGeom prst="rect">
                <a:avLst/>
              </a:prstGeom>
            </p:spPr>
          </p:pic>
        </p:grpSp>
        <p:sp>
          <p:nvSpPr>
            <p:cNvPr id="127" name="同侧圆角矩形 54"/>
            <p:cNvSpPr/>
            <p:nvPr/>
          </p:nvSpPr>
          <p:spPr>
            <a:xfrm>
              <a:off x="2175095" y="5470586"/>
              <a:ext cx="1336688" cy="382212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+mn-ea"/>
                </a:rPr>
                <a:t>罗恩琪</a:t>
              </a: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3385722" y="5825653"/>
            <a:ext cx="1633246" cy="370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  <a:sym typeface="+mn-ea"/>
              </a:rPr>
              <a:t>CFAR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  <a:sym typeface="+mn-ea"/>
              </a:rPr>
              <a:t>算法实现</a:t>
            </a:r>
          </a:p>
        </p:txBody>
      </p:sp>
      <p:sp>
        <p:nvSpPr>
          <p:cNvPr id="129" name="任意多边形: 形状 128"/>
          <p:cNvSpPr/>
          <p:nvPr/>
        </p:nvSpPr>
        <p:spPr>
          <a:xfrm rot="16200000">
            <a:off x="3829740" y="4678542"/>
            <a:ext cx="745210" cy="1101201"/>
          </a:xfrm>
          <a:custGeom>
            <a:avLst/>
            <a:gdLst>
              <a:gd name="connsiteX0" fmla="*/ 1071020 w 1071020"/>
              <a:gd name="connsiteY0" fmla="*/ 594153 h 1188306"/>
              <a:gd name="connsiteX1" fmla="*/ 731081 w 1071020"/>
              <a:gd name="connsiteY1" fmla="*/ 1188306 h 1188306"/>
              <a:gd name="connsiteX2" fmla="*/ 10635 w 1071020"/>
              <a:gd name="connsiteY2" fmla="*/ 1188306 h 1188306"/>
              <a:gd name="connsiteX3" fmla="*/ 0 w 1071020"/>
              <a:gd name="connsiteY3" fmla="*/ 1169718 h 1188306"/>
              <a:gd name="connsiteX4" fmla="*/ 0 w 1071020"/>
              <a:gd name="connsiteY4" fmla="*/ 18588 h 1188306"/>
              <a:gd name="connsiteX5" fmla="*/ 10635 w 1071020"/>
              <a:gd name="connsiteY5" fmla="*/ 0 h 1188306"/>
              <a:gd name="connsiteX6" fmla="*/ 731081 w 1071020"/>
              <a:gd name="connsiteY6" fmla="*/ 0 h 118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020" h="1188306">
                <a:moveTo>
                  <a:pt x="1071020" y="594153"/>
                </a:moveTo>
                <a:lnTo>
                  <a:pt x="731081" y="1188306"/>
                </a:lnTo>
                <a:lnTo>
                  <a:pt x="10635" y="1188306"/>
                </a:lnTo>
                <a:lnTo>
                  <a:pt x="0" y="1169718"/>
                </a:lnTo>
                <a:lnTo>
                  <a:pt x="0" y="18588"/>
                </a:lnTo>
                <a:lnTo>
                  <a:pt x="10635" y="0"/>
                </a:lnTo>
                <a:lnTo>
                  <a:pt x="73108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alpha val="34000"/>
                </a:schemeClr>
              </a:gs>
              <a:gs pos="100000">
                <a:schemeClr val="accent1">
                  <a:alpha val="34000"/>
                </a:schemeClr>
              </a:gs>
            </a:gsLst>
            <a:lin ang="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942" b="98839" l="2846" r="95732">
                        <a14:foregroundMark x1="25305" y1="71480" x2="11992" y2="81277"/>
                        <a14:foregroundMark x1="11992" y1="81277" x2="36890" y2="92598"/>
                        <a14:foregroundMark x1="36890" y1="92598" x2="84350" y2="92525"/>
                        <a14:foregroundMark x1="84350" y1="92525" x2="85467" y2="77504"/>
                        <a14:foregroundMark x1="85467" y1="77504" x2="65955" y2="75544"/>
                        <a14:foregroundMark x1="65955" y1="75544" x2="65142" y2="76052"/>
                        <a14:foregroundMark x1="85264" y1="71843" x2="91159" y2="79245"/>
                        <a14:foregroundMark x1="91159" y1="79245" x2="84959" y2="95428"/>
                        <a14:foregroundMark x1="84959" y1="95428" x2="79980" y2="98984"/>
                        <a14:foregroundMark x1="93496" y1="84398" x2="82927" y2="96662"/>
                        <a14:foregroundMark x1="82927" y1="96662" x2="81606" y2="97025"/>
                        <a14:foregroundMark x1="95732" y1="94993" x2="14024" y2="95646"/>
                        <a14:foregroundMark x1="13211" y1="92235" x2="32114" y2="94340"/>
                        <a14:foregroundMark x1="32114" y1="94340" x2="72866" y2="93977"/>
                        <a14:foregroundMark x1="4878" y1="71843" x2="2846" y2="84035"/>
                        <a14:foregroundMark x1="13415" y1="83599" x2="13415" y2="83599"/>
                        <a14:foregroundMark x1="69919" y1="59289" x2="73069" y2="63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405" y="4212369"/>
            <a:ext cx="1103296" cy="1545062"/>
          </a:xfrm>
          <a:prstGeom prst="rect">
            <a:avLst/>
          </a:prstGeom>
        </p:spPr>
      </p:pic>
      <p:sp>
        <p:nvSpPr>
          <p:cNvPr id="131" name="同侧圆角矩形 54"/>
          <p:cNvSpPr/>
          <p:nvPr/>
        </p:nvSpPr>
        <p:spPr>
          <a:xfrm>
            <a:off x="3538708" y="5470586"/>
            <a:ext cx="1336688" cy="382212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杜子坤</a:t>
            </a:r>
          </a:p>
        </p:txBody>
      </p:sp>
      <p:grpSp>
        <p:nvGrpSpPr>
          <p:cNvPr id="182" name="组合 181"/>
          <p:cNvGrpSpPr/>
          <p:nvPr/>
        </p:nvGrpSpPr>
        <p:grpSpPr>
          <a:xfrm>
            <a:off x="4861595" y="4143765"/>
            <a:ext cx="1633246" cy="2052759"/>
            <a:chOff x="5198375" y="4143765"/>
            <a:chExt cx="1633246" cy="2052759"/>
          </a:xfrm>
        </p:grpSpPr>
        <p:sp>
          <p:nvSpPr>
            <p:cNvPr id="132" name="文本框 131"/>
            <p:cNvSpPr txBox="1"/>
            <p:nvPr/>
          </p:nvSpPr>
          <p:spPr>
            <a:xfrm>
              <a:off x="5198375" y="5825653"/>
              <a:ext cx="1633246" cy="370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  <a:sym typeface="+mn-ea"/>
                </a:rPr>
                <a:t>公共库构建</a:t>
              </a:r>
            </a:p>
          </p:txBody>
        </p:sp>
        <p:sp>
          <p:nvSpPr>
            <p:cNvPr id="133" name="任意多边形: 形状 132"/>
            <p:cNvSpPr/>
            <p:nvPr/>
          </p:nvSpPr>
          <p:spPr>
            <a:xfrm rot="16200000">
              <a:off x="5642393" y="4678542"/>
              <a:ext cx="745210" cy="1101201"/>
            </a:xfrm>
            <a:custGeom>
              <a:avLst/>
              <a:gdLst>
                <a:gd name="connsiteX0" fmla="*/ 1071020 w 1071020"/>
                <a:gd name="connsiteY0" fmla="*/ 594153 h 1188306"/>
                <a:gd name="connsiteX1" fmla="*/ 731081 w 1071020"/>
                <a:gd name="connsiteY1" fmla="*/ 1188306 h 1188306"/>
                <a:gd name="connsiteX2" fmla="*/ 10635 w 1071020"/>
                <a:gd name="connsiteY2" fmla="*/ 1188306 h 1188306"/>
                <a:gd name="connsiteX3" fmla="*/ 0 w 1071020"/>
                <a:gd name="connsiteY3" fmla="*/ 1169718 h 1188306"/>
                <a:gd name="connsiteX4" fmla="*/ 0 w 1071020"/>
                <a:gd name="connsiteY4" fmla="*/ 18588 h 1188306"/>
                <a:gd name="connsiteX5" fmla="*/ 10635 w 1071020"/>
                <a:gd name="connsiteY5" fmla="*/ 0 h 1188306"/>
                <a:gd name="connsiteX6" fmla="*/ 731081 w 1071020"/>
                <a:gd name="connsiteY6" fmla="*/ 0 h 118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020" h="1188306">
                  <a:moveTo>
                    <a:pt x="1071020" y="594153"/>
                  </a:moveTo>
                  <a:lnTo>
                    <a:pt x="731081" y="1188306"/>
                  </a:lnTo>
                  <a:lnTo>
                    <a:pt x="10635" y="1188306"/>
                  </a:lnTo>
                  <a:lnTo>
                    <a:pt x="0" y="1169718"/>
                  </a:lnTo>
                  <a:lnTo>
                    <a:pt x="0" y="18588"/>
                  </a:lnTo>
                  <a:lnTo>
                    <a:pt x="10635" y="0"/>
                  </a:lnTo>
                  <a:lnTo>
                    <a:pt x="73108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  <a:alpha val="34000"/>
                  </a:schemeClr>
                </a:gs>
                <a:gs pos="100000">
                  <a:schemeClr val="accent1">
                    <a:alpha val="34000"/>
                  </a:schemeClr>
                </a:gs>
              </a:gsLst>
              <a:lin ang="0" scaled="1"/>
              <a:tileRect/>
            </a:gra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OPPOSans M" panose="00020600040101010101" pitchFamily="18" charset="-122"/>
                <a:cs typeface="+mn-cs"/>
              </a:endParaRPr>
            </a:p>
          </p:txBody>
        </p:sp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28"/>
            <a:srcRect b="18"/>
            <a:stretch>
              <a:fillRect/>
            </a:stretch>
          </p:blipFill>
          <p:spPr>
            <a:xfrm>
              <a:off x="5473811" y="4143765"/>
              <a:ext cx="1091788" cy="1456240"/>
            </a:xfrm>
            <a:prstGeom prst="rect">
              <a:avLst/>
            </a:prstGeom>
          </p:spPr>
        </p:pic>
        <p:sp>
          <p:nvSpPr>
            <p:cNvPr id="135" name="同侧圆角矩形 54"/>
            <p:cNvSpPr/>
            <p:nvPr/>
          </p:nvSpPr>
          <p:spPr>
            <a:xfrm>
              <a:off x="5351361" y="5470586"/>
              <a:ext cx="1336688" cy="382212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+mn-ea"/>
                </a:rPr>
                <a:t>肖柱</a:t>
              </a: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6337468" y="4229161"/>
            <a:ext cx="1633246" cy="1967363"/>
            <a:chOff x="6337468" y="4229161"/>
            <a:chExt cx="1633246" cy="1967363"/>
          </a:xfrm>
        </p:grpSpPr>
        <p:sp>
          <p:nvSpPr>
            <p:cNvPr id="136" name="文本框 135"/>
            <p:cNvSpPr txBox="1"/>
            <p:nvPr/>
          </p:nvSpPr>
          <p:spPr>
            <a:xfrm>
              <a:off x="6337468" y="5825653"/>
              <a:ext cx="1633246" cy="370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公共库构建</a:t>
              </a:r>
            </a:p>
          </p:txBody>
        </p:sp>
        <p:grpSp>
          <p:nvGrpSpPr>
            <p:cNvPr id="183" name="组合 182"/>
            <p:cNvGrpSpPr/>
            <p:nvPr/>
          </p:nvGrpSpPr>
          <p:grpSpPr>
            <a:xfrm>
              <a:off x="6490454" y="4229161"/>
              <a:ext cx="1336688" cy="1623637"/>
              <a:chOff x="6490454" y="4229161"/>
              <a:chExt cx="1336688" cy="1623637"/>
            </a:xfrm>
          </p:grpSpPr>
          <p:sp>
            <p:nvSpPr>
              <p:cNvPr id="137" name="任意多边形: 形状 136"/>
              <p:cNvSpPr/>
              <p:nvPr/>
            </p:nvSpPr>
            <p:spPr>
              <a:xfrm rot="16200000">
                <a:off x="6781486" y="4678542"/>
                <a:ext cx="745210" cy="1101201"/>
              </a:xfrm>
              <a:custGeom>
                <a:avLst/>
                <a:gdLst>
                  <a:gd name="connsiteX0" fmla="*/ 1071020 w 1071020"/>
                  <a:gd name="connsiteY0" fmla="*/ 594153 h 1188306"/>
                  <a:gd name="connsiteX1" fmla="*/ 731081 w 1071020"/>
                  <a:gd name="connsiteY1" fmla="*/ 1188306 h 1188306"/>
                  <a:gd name="connsiteX2" fmla="*/ 10635 w 1071020"/>
                  <a:gd name="connsiteY2" fmla="*/ 1188306 h 1188306"/>
                  <a:gd name="connsiteX3" fmla="*/ 0 w 1071020"/>
                  <a:gd name="connsiteY3" fmla="*/ 1169718 h 1188306"/>
                  <a:gd name="connsiteX4" fmla="*/ 0 w 1071020"/>
                  <a:gd name="connsiteY4" fmla="*/ 18588 h 1188306"/>
                  <a:gd name="connsiteX5" fmla="*/ 10635 w 1071020"/>
                  <a:gd name="connsiteY5" fmla="*/ 0 h 1188306"/>
                  <a:gd name="connsiteX6" fmla="*/ 731081 w 1071020"/>
                  <a:gd name="connsiteY6" fmla="*/ 0 h 118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1020" h="1188306">
                    <a:moveTo>
                      <a:pt x="1071020" y="594153"/>
                    </a:moveTo>
                    <a:lnTo>
                      <a:pt x="731081" y="1188306"/>
                    </a:lnTo>
                    <a:lnTo>
                      <a:pt x="10635" y="1188306"/>
                    </a:lnTo>
                    <a:lnTo>
                      <a:pt x="0" y="1169718"/>
                    </a:lnTo>
                    <a:lnTo>
                      <a:pt x="0" y="18588"/>
                    </a:lnTo>
                    <a:lnTo>
                      <a:pt x="10635" y="0"/>
                    </a:lnTo>
                    <a:lnTo>
                      <a:pt x="73108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  <a:alpha val="34000"/>
                    </a:schemeClr>
                  </a:gs>
                  <a:gs pos="100000">
                    <a:schemeClr val="accent1">
                      <a:alpha val="34000"/>
                    </a:schemeClr>
                  </a:gs>
                </a:gsLst>
                <a:lin ang="0" scaled="1"/>
                <a:tileRect/>
              </a:gradFill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OPPOSans M" panose="00020600040101010101" pitchFamily="18" charset="-122"/>
                  <a:cs typeface="+mn-cs"/>
                </a:endParaRPr>
              </a:p>
            </p:txBody>
          </p:sp>
          <p:grpSp>
            <p:nvGrpSpPr>
              <p:cNvPr id="46" name="组合 45"/>
              <p:cNvGrpSpPr/>
              <p:nvPr/>
            </p:nvGrpSpPr>
            <p:grpSpPr>
              <a:xfrm>
                <a:off x="6598548" y="4229161"/>
                <a:ext cx="1106144" cy="1544738"/>
                <a:chOff x="6746" y="6842"/>
                <a:chExt cx="1873" cy="2663"/>
              </a:xfrm>
            </p:grpSpPr>
            <p:pic>
              <p:nvPicPr>
                <p:cNvPr id="39" name="图片 38"/>
                <p:cNvPicPr/>
                <p:nvPr/>
              </p:nvPicPr>
              <p:blipFill>
                <a:blip r:embed="rId29"/>
                <a:srcRect l="15545" t="18971" r="17410" b="4695"/>
                <a:stretch>
                  <a:fillRect/>
                </a:stretch>
              </p:blipFill>
              <p:spPr>
                <a:xfrm>
                  <a:off x="6746" y="7394"/>
                  <a:ext cx="1861" cy="2111"/>
                </a:xfrm>
                <a:prstGeom prst="rect">
                  <a:avLst/>
                </a:prstGeom>
              </p:spPr>
            </p:pic>
            <p:pic>
              <p:nvPicPr>
                <p:cNvPr id="43" name="图片 42"/>
                <p:cNvPicPr/>
                <p:nvPr/>
              </p:nvPicPr>
              <p:blipFill>
                <a:blip r:embed="rId29"/>
                <a:srcRect l="15905" t="3438" r="16978" b="18984"/>
                <a:stretch>
                  <a:fillRect/>
                </a:stretch>
              </p:blipFill>
              <p:spPr>
                <a:xfrm>
                  <a:off x="6756" y="6842"/>
                  <a:ext cx="1863" cy="2294"/>
                </a:xfrm>
                <a:prstGeom prst="rect">
                  <a:avLst/>
                </a:prstGeom>
              </p:spPr>
            </p:pic>
          </p:grpSp>
          <p:sp>
            <p:nvSpPr>
              <p:cNvPr id="139" name="同侧圆角矩形 54"/>
              <p:cNvSpPr/>
              <p:nvPr/>
            </p:nvSpPr>
            <p:spPr>
              <a:xfrm>
                <a:off x="6490454" y="5470586"/>
                <a:ext cx="1336688" cy="382212"/>
              </a:xfrm>
              <a:prstGeom prst="round2Same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  <a:sym typeface="+mn-ea"/>
                  </a:rPr>
                  <a:t>张佳瑶</a:t>
                </a:r>
              </a:p>
            </p:txBody>
          </p:sp>
        </p:grpSp>
      </p:grpSp>
      <p:pic>
        <p:nvPicPr>
          <p:cNvPr id="149" name="图片 148"/>
          <p:cNvPicPr/>
          <p:nvPr/>
        </p:nvPicPr>
        <p:blipFill>
          <a:blip r:embed="rId30"/>
          <a:stretch>
            <a:fillRect/>
          </a:stretch>
        </p:blipFill>
        <p:spPr>
          <a:xfrm>
            <a:off x="9737085" y="2031900"/>
            <a:ext cx="2338348" cy="546565"/>
          </a:xfrm>
          <a:prstGeom prst="rect">
            <a:avLst/>
          </a:prstGeom>
        </p:spPr>
      </p:pic>
      <p:grpSp>
        <p:nvGrpSpPr>
          <p:cNvPr id="150" name="组合 149"/>
          <p:cNvGrpSpPr/>
          <p:nvPr/>
        </p:nvGrpSpPr>
        <p:grpSpPr>
          <a:xfrm>
            <a:off x="521183" y="6209155"/>
            <a:ext cx="11557623" cy="862698"/>
            <a:chOff x="531660" y="6291983"/>
            <a:chExt cx="11326313" cy="707333"/>
          </a:xfrm>
        </p:grpSpPr>
        <p:sp>
          <p:nvSpPr>
            <p:cNvPr id="151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chemeClr val="bg1"/>
                </a:gs>
                <a:gs pos="85000">
                  <a:schemeClr val="bg1"/>
                </a:gs>
                <a:gs pos="1400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chemeClr val="accent2">
                      <a:alpha val="0"/>
                    </a:schemeClr>
                  </a:gs>
                  <a:gs pos="6000">
                    <a:schemeClr val="accent1"/>
                  </a:gs>
                  <a:gs pos="98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52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53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154" name="文本框 153"/>
          <p:cNvSpPr txBox="1"/>
          <p:nvPr/>
        </p:nvSpPr>
        <p:spPr>
          <a:xfrm>
            <a:off x="1636713" y="6437451"/>
            <a:ext cx="932656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“凌波驭算”团队，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实力强劲，专业对口，分工合理</a:t>
            </a:r>
          </a:p>
        </p:txBody>
      </p:sp>
      <p:pic>
        <p:nvPicPr>
          <p:cNvPr id="12" name="图片 11" descr="title_1"/>
          <p:cNvPicPr>
            <a:picLocks noChangeAspect="1"/>
          </p:cNvPicPr>
          <p:nvPr/>
        </p:nvPicPr>
        <p:blipFill>
          <a:blip r:embed="rId31"/>
          <a:srcRect l="5479" t="31250" r="36158" b="46315"/>
          <a:stretch>
            <a:fillRect/>
          </a:stretch>
        </p:blipFill>
        <p:spPr>
          <a:xfrm>
            <a:off x="6953923" y="2141438"/>
            <a:ext cx="2660201" cy="744856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图片 16" descr="dd726f6fd8a1bce45b7afe88864edbe6"/>
          <p:cNvPicPr>
            <a:picLocks noChangeAspect="1"/>
          </p:cNvPicPr>
          <p:nvPr/>
        </p:nvPicPr>
        <p:blipFill>
          <a:blip r:embed="rId32"/>
          <a:srcRect l="10410" t="16111" r="2715" b="15778"/>
          <a:stretch>
            <a:fillRect/>
          </a:stretch>
        </p:blipFill>
        <p:spPr>
          <a:xfrm>
            <a:off x="6953924" y="2976984"/>
            <a:ext cx="1274445" cy="727710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7" name="图片 46" descr="4DEE687EB82C453EEAE7CFF539C398E7"/>
          <p:cNvPicPr>
            <a:picLocks noChangeAspect="1"/>
          </p:cNvPicPr>
          <p:nvPr/>
        </p:nvPicPr>
        <p:blipFill rotWithShape="1">
          <a:blip r:embed="rId33"/>
          <a:srcRect l="10283" t="21865" r="10544" b="16064"/>
          <a:stretch>
            <a:fillRect/>
          </a:stretch>
        </p:blipFill>
        <p:spPr>
          <a:xfrm>
            <a:off x="8315550" y="2976984"/>
            <a:ext cx="1274445" cy="727710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55" name="组合 154"/>
          <p:cNvGrpSpPr/>
          <p:nvPr/>
        </p:nvGrpSpPr>
        <p:grpSpPr>
          <a:xfrm>
            <a:off x="4524071" y="1560971"/>
            <a:ext cx="3055106" cy="468037"/>
            <a:chOff x="3508902" y="508463"/>
            <a:chExt cx="2444032" cy="490420"/>
          </a:xfrm>
        </p:grpSpPr>
        <p:sp>
          <p:nvSpPr>
            <p:cNvPr id="156" name="PA-圆角矩形 11"/>
            <p:cNvSpPr/>
            <p:nvPr>
              <p:custDataLst>
                <p:tags r:id="rId1"/>
              </p:custDataLst>
            </p:nvPr>
          </p:nvSpPr>
          <p:spPr>
            <a:xfrm>
              <a:off x="4084423" y="508463"/>
              <a:ext cx="1292990" cy="476736"/>
            </a:xfrm>
            <a:prstGeom prst="roundRect">
              <a:avLst>
                <a:gd name="adj" fmla="val 10386"/>
              </a:avLst>
            </a:prstGeom>
            <a:gradFill flip="none" rotWithShape="1">
              <a:gsLst>
                <a:gs pos="0">
                  <a:srgbClr val="05A4E9"/>
                </a:gs>
                <a:gs pos="53000">
                  <a:srgbClr val="105CC7"/>
                </a:gs>
              </a:gsLst>
              <a:lin ang="2700000" scaled="1"/>
              <a:tileRect/>
            </a:gradFill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100" dirty="0">
                <a:solidFill>
                  <a:schemeClr val="lt1"/>
                </a:solidFill>
                <a:sym typeface="Roboto" panose="02000000000000000000" pitchFamily="2" charset="0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3508902" y="515140"/>
              <a:ext cx="2444032" cy="4837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schemeClr val="accent1">
                        <a:lumMod val="50000"/>
                        <a:alpha val="40000"/>
                      </a:schemeClr>
                    </a:outerShdw>
                  </a:effectLst>
                  <a:latin typeface="+mj-ea"/>
                  <a:ea typeface="+mj-ea"/>
                  <a:cs typeface="演示古风宋 Heavy" panose="02000600000000000000" pitchFamily="2" charset="-122"/>
                  <a:sym typeface="微软雅黑" panose="020B0503020204020204" charset="-122"/>
                </a:rPr>
                <a:t>团队负责人</a:t>
              </a:r>
            </a:p>
          </p:txBody>
        </p:sp>
      </p:grpSp>
      <p:sp>
        <p:nvSpPr>
          <p:cNvPr id="158" name="任意多边形: 形状 157"/>
          <p:cNvSpPr/>
          <p:nvPr/>
        </p:nvSpPr>
        <p:spPr>
          <a:xfrm rot="16200000">
            <a:off x="5695467" y="2430182"/>
            <a:ext cx="745210" cy="1101201"/>
          </a:xfrm>
          <a:custGeom>
            <a:avLst/>
            <a:gdLst>
              <a:gd name="connsiteX0" fmla="*/ 1071020 w 1071020"/>
              <a:gd name="connsiteY0" fmla="*/ 594153 h 1188306"/>
              <a:gd name="connsiteX1" fmla="*/ 731081 w 1071020"/>
              <a:gd name="connsiteY1" fmla="*/ 1188306 h 1188306"/>
              <a:gd name="connsiteX2" fmla="*/ 10635 w 1071020"/>
              <a:gd name="connsiteY2" fmla="*/ 1188306 h 1188306"/>
              <a:gd name="connsiteX3" fmla="*/ 0 w 1071020"/>
              <a:gd name="connsiteY3" fmla="*/ 1169718 h 1188306"/>
              <a:gd name="connsiteX4" fmla="*/ 0 w 1071020"/>
              <a:gd name="connsiteY4" fmla="*/ 18588 h 1188306"/>
              <a:gd name="connsiteX5" fmla="*/ 10635 w 1071020"/>
              <a:gd name="connsiteY5" fmla="*/ 0 h 1188306"/>
              <a:gd name="connsiteX6" fmla="*/ 731081 w 1071020"/>
              <a:gd name="connsiteY6" fmla="*/ 0 h 118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020" h="1188306">
                <a:moveTo>
                  <a:pt x="1071020" y="594153"/>
                </a:moveTo>
                <a:lnTo>
                  <a:pt x="731081" y="1188306"/>
                </a:lnTo>
                <a:lnTo>
                  <a:pt x="10635" y="1188306"/>
                </a:lnTo>
                <a:lnTo>
                  <a:pt x="0" y="1169718"/>
                </a:lnTo>
                <a:lnTo>
                  <a:pt x="0" y="18588"/>
                </a:lnTo>
                <a:lnTo>
                  <a:pt x="10635" y="0"/>
                </a:lnTo>
                <a:lnTo>
                  <a:pt x="73108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  <a:alpha val="34000"/>
                </a:schemeClr>
              </a:gs>
              <a:gs pos="100000">
                <a:schemeClr val="accent1">
                  <a:alpha val="34000"/>
                </a:schemeClr>
              </a:gs>
            </a:gsLst>
            <a:lin ang="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OPPOSans M" panose="00020600040101010101" pitchFamily="18" charset="-122"/>
              <a:cs typeface="+mn-cs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8734" b="98535" l="78" r="97420">
                        <a14:foregroundMark x1="43550" y1="9203" x2="52697" y2="8792"/>
                        <a14:foregroundMark x1="52697" y1="8792" x2="61532" y2="10317"/>
                        <a14:foregroundMark x1="61532" y1="10317" x2="62627" y2="11137"/>
                        <a14:foregroundMark x1="31509" y1="73036" x2="20094" y2="77843"/>
                        <a14:foregroundMark x1="20094" y1="77843" x2="21267" y2="91149"/>
                        <a14:foregroundMark x1="21267" y1="91149" x2="79906" y2="97890"/>
                        <a14:foregroundMark x1="79906" y1="97890" x2="88819" y2="84174"/>
                        <a14:foregroundMark x1="88819" y1="84174" x2="63331" y2="76260"/>
                        <a14:foregroundMark x1="63331" y1="76260" x2="59891" y2="79250"/>
                        <a14:foregroundMark x1="97498" y1="77902" x2="94918" y2="98535"/>
                        <a14:foregroundMark x1="4848" y1="80657" x2="7428" y2="95604"/>
                        <a14:foregroundMark x1="7428" y1="95604" x2="7506" y2="95662"/>
                        <a14:foregroundMark x1="78" y1="78664" x2="235" y2="79719"/>
                        <a14:foregroundMark x1="2580" y1="78019" x2="3127" y2="93435"/>
                        <a14:foregroundMark x1="3127" y1="93435" x2="3127" y2="93435"/>
                        <a14:foregroundMark x1="52541" y1="85932" x2="60438" y2="89742"/>
                        <a14:foregroundMark x1="60438" y1="89742" x2="72478" y2="92321"/>
                        <a14:foregroundMark x1="41595" y1="86284" x2="74277" y2="93787"/>
                        <a14:foregroundMark x1="74277" y1="93787" x2="74590" y2="93787"/>
                        <a14:foregroundMark x1="32916" y1="79074" x2="69195" y2="86166"/>
                        <a14:foregroundMark x1="69195" y1="86166" x2="69195" y2="862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7471" y="1961117"/>
            <a:ext cx="1094505" cy="1438765"/>
          </a:xfrm>
          <a:prstGeom prst="rect">
            <a:avLst/>
          </a:prstGeom>
        </p:spPr>
      </p:pic>
      <p:sp>
        <p:nvSpPr>
          <p:cNvPr id="161" name="同侧圆角矩形 54"/>
          <p:cNvSpPr/>
          <p:nvPr/>
        </p:nvSpPr>
        <p:spPr>
          <a:xfrm>
            <a:off x="5404435" y="3222226"/>
            <a:ext cx="1336688" cy="34320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李子恒</a:t>
            </a:r>
          </a:p>
        </p:txBody>
      </p:sp>
      <p:grpSp>
        <p:nvGrpSpPr>
          <p:cNvPr id="57" name="组合 56"/>
          <p:cNvGrpSpPr>
            <a:grpSpLocks noChangeAspect="1"/>
          </p:cNvGrpSpPr>
          <p:nvPr/>
        </p:nvGrpSpPr>
        <p:grpSpPr>
          <a:xfrm>
            <a:off x="7997101" y="4468954"/>
            <a:ext cx="2386134" cy="1596948"/>
            <a:chOff x="13317" y="6510"/>
            <a:chExt cx="3029" cy="1936"/>
          </a:xfrm>
        </p:grpSpPr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3317" y="6510"/>
              <a:ext cx="1408" cy="1929"/>
            </a:xfrm>
            <a:prstGeom prst="rect">
              <a:avLst/>
            </a:prstGeom>
          </p:spPr>
        </p:pic>
        <p:pic>
          <p:nvPicPr>
            <p:cNvPr id="71" name="图片 70"/>
            <p:cNvPicPr/>
            <p:nvPr/>
          </p:nvPicPr>
          <p:blipFill>
            <a:blip r:embed="rId37"/>
            <a:stretch>
              <a:fillRect/>
            </a:stretch>
          </p:blipFill>
          <p:spPr>
            <a:xfrm>
              <a:off x="13936" y="6517"/>
              <a:ext cx="2156" cy="1278"/>
            </a:xfrm>
            <a:prstGeom prst="rect">
              <a:avLst/>
            </a:prstGeom>
          </p:spPr>
        </p:pic>
        <p:pic>
          <p:nvPicPr>
            <p:cNvPr id="72" name="图片 71"/>
            <p:cNvPicPr/>
            <p:nvPr/>
          </p:nvPicPr>
          <p:blipFill>
            <a:blip r:embed="rId38"/>
            <a:stretch>
              <a:fillRect/>
            </a:stretch>
          </p:blipFill>
          <p:spPr>
            <a:xfrm>
              <a:off x="14030" y="6910"/>
              <a:ext cx="2316" cy="1536"/>
            </a:xfrm>
            <a:prstGeom prst="rect">
              <a:avLst/>
            </a:prstGeom>
          </p:spPr>
        </p:pic>
      </p:grpSp>
      <p:sp>
        <p:nvSpPr>
          <p:cNvPr id="185" name="矩形: 圆角 184"/>
          <p:cNvSpPr/>
          <p:nvPr/>
        </p:nvSpPr>
        <p:spPr>
          <a:xfrm>
            <a:off x="9832588" y="4521564"/>
            <a:ext cx="2286169" cy="1457985"/>
          </a:xfrm>
          <a:prstGeom prst="roundRect">
            <a:avLst>
              <a:gd name="adj" fmla="val 2000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9918128" y="4599700"/>
            <a:ext cx="2536190" cy="1732915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buSzPct val="100000"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国家级大创立项</a:t>
            </a:r>
            <a:r>
              <a:rPr lang="zh-CN" altLang="en-US" sz="1400" b="1" kern="0" noProof="0" dirty="0">
                <a:ln>
                  <a:noFill/>
                </a:ln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</a:t>
            </a: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项</a:t>
            </a:r>
          </a:p>
          <a:p>
            <a:pPr algn="l">
              <a:lnSpc>
                <a:spcPct val="120000"/>
              </a:lnSpc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省部级以上竞赛奖项</a:t>
            </a:r>
            <a:r>
              <a:rPr lang="en-US" altLang="zh-CN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38</a:t>
            </a: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项</a:t>
            </a:r>
          </a:p>
          <a:p>
            <a:pPr algn="l">
              <a:lnSpc>
                <a:spcPct val="120000"/>
              </a:lnSpc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已发表2篇SCI论文</a:t>
            </a:r>
          </a:p>
          <a:p>
            <a:pPr algn="l">
              <a:lnSpc>
                <a:spcPct val="120000"/>
              </a:lnSpc>
            </a:pPr>
            <a:r>
              <a:rPr lang="en-US" altLang="zh-CN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6</a:t>
            </a: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篇</a:t>
            </a:r>
            <a:r>
              <a:rPr lang="en-US" altLang="zh-CN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SCI</a:t>
            </a: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论文在投</a:t>
            </a:r>
          </a:p>
          <a:p>
            <a:pPr algn="l">
              <a:lnSpc>
                <a:spcPct val="120000"/>
              </a:lnSpc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已发表1项发明专利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 hidden="1"/>
          <p:cNvSpPr/>
          <p:nvPr/>
        </p:nvSpPr>
        <p:spPr>
          <a:xfrm>
            <a:off x="892340" y="1061905"/>
            <a:ext cx="1806575" cy="448945"/>
          </a:xfrm>
          <a:prstGeom prst="hexagon">
            <a:avLst/>
          </a:prstGeom>
          <a:gradFill>
            <a:gsLst>
              <a:gs pos="48687">
                <a:srgbClr val="7AD9FB"/>
              </a:gs>
              <a:gs pos="3000">
                <a:srgbClr val="2C84BC"/>
              </a:gs>
              <a:gs pos="100000">
                <a:srgbClr val="FCFEFF"/>
              </a:gs>
            </a:gsLst>
            <a:lin ang="18900000" scaled="1"/>
          </a:gradFill>
          <a:ln w="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400000101010101" charset="-122"/>
                <a:ea typeface="汉仪菱心体简" panose="02010400000101010101" charset="-122"/>
                <a:sym typeface="方正公文小标宋" panose="02000500000000000000" charset="-122"/>
              </a:rPr>
              <a:t>科研成果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400000101010101" charset="-122"/>
              <a:ea typeface="汉仪菱心体简" panose="02010400000101010101" charset="-122"/>
              <a:sym typeface="方正公文小标宋" panose="020005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35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alpha val="80000"/>
                  </a:srgbClr>
                </a:gs>
                <a:gs pos="52000">
                  <a:srgbClr val="FFFFFF">
                    <a:alpha val="80000"/>
                  </a:srgbClr>
                </a:gs>
                <a:gs pos="0">
                  <a:srgbClr val="FFFFFF">
                    <a:alpha val="80000"/>
                  </a:srgb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rgbClr val="0068BF">
                <a:shade val="50000"/>
              </a:srgbClr>
            </a:lnRef>
            <a:fillRef idx="1">
              <a:srgbClr val="0068BF"/>
            </a:fillRef>
            <a:effectRef idx="0">
              <a:srgbClr val="0068B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ea"/>
              </a:endParaRPr>
            </a:p>
          </p:txBody>
        </p:sp>
        <p:sp>
          <p:nvSpPr>
            <p:cNvPr id="37" name="PA-文本框 6"/>
            <p:cNvSpPr txBox="1"/>
            <p:nvPr>
              <p:custDataLst>
                <p:tags r:id="rId4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8BFF">
                      <a:lumMod val="75000"/>
                    </a:srgb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40" name="PA-任意多边形 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rgbClr val="008BFF"/>
                  </a:gs>
                  <a:gs pos="50000">
                    <a:srgbClr val="008BFF">
                      <a:lumMod val="75000"/>
                    </a:srgb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rgbClr val="008BFF">
                    <a:lumMod val="50000"/>
                    <a:alpha val="53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41" name="PA-文本框 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42" name="PA-文本框 15"/>
            <p:cNvSpPr txBox="1"/>
            <p:nvPr>
              <p:custDataLst>
                <p:tags r:id="rId5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8BFF">
                      <a:lumMod val="75000"/>
                    </a:srgb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44" name="任意多边形: 形状 14"/>
            <p:cNvSpPr/>
            <p:nvPr>
              <p:custDataLst>
                <p:tags r:id="rId6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rgbClr val="008BFF">
                    <a:lumMod val="75000"/>
                  </a:srgbClr>
                </a:gs>
                <a:gs pos="100000">
                  <a:srgbClr val="008BFF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rgbClr val="0068BF">
                  <a:alpha val="30000"/>
                </a:srgbClr>
              </a:outerShdw>
            </a:effectLst>
          </p:spPr>
          <p:style>
            <a:lnRef idx="2">
              <a:srgbClr val="0068BF">
                <a:shade val="50000"/>
              </a:srgbClr>
            </a:lnRef>
            <a:fillRef idx="1">
              <a:srgbClr val="0068BF"/>
            </a:fillRef>
            <a:effectRef idx="0">
              <a:srgbClr val="0068B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ea"/>
              </a:endParaRPr>
            </a:p>
          </p:txBody>
        </p:sp>
        <p:sp>
          <p:nvSpPr>
            <p:cNvPr id="45" name="PA-文本框 10"/>
            <p:cNvSpPr txBox="1"/>
            <p:nvPr>
              <p:custDataLst>
                <p:tags r:id="rId7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8BFF">
                      <a:lumMod val="75000"/>
                    </a:srgb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47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rgbClr val="008BFF"/>
                  </a:gs>
                  <a:gs pos="87000">
                    <a:srgbClr val="0068BF"/>
                  </a:gs>
                </a:gsLst>
                <a:lin ang="5400000" scaled="1"/>
              </a:gradFill>
            </a:ln>
          </p:spPr>
          <p:style>
            <a:lnRef idx="1">
              <a:srgbClr val="0068BF"/>
            </a:lnRef>
            <a:fillRef idx="0">
              <a:srgbClr val="0068BF"/>
            </a:fillRef>
            <a:effectRef idx="0">
              <a:srgbClr val="0068BF"/>
            </a:effectRef>
            <a:fontRef idx="minor">
              <a:srgbClr val="000000"/>
            </a:fontRef>
          </p:style>
        </p:cxnSp>
        <p:cxnSp>
          <p:nvCxnSpPr>
            <p:cNvPr id="48" name="PA-直接连接符 26"/>
            <p:cNvCxnSpPr/>
            <p:nvPr>
              <p:custDataLst>
                <p:tags r:id="rId9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rgbClr val="008BFF"/>
                  </a:gs>
                  <a:gs pos="87000">
                    <a:srgbClr val="0068BF"/>
                  </a:gs>
                </a:gsLst>
                <a:lin ang="5400000" scaled="1"/>
              </a:gradFill>
            </a:ln>
          </p:spPr>
          <p:style>
            <a:lnRef idx="1">
              <a:srgbClr val="0068BF"/>
            </a:lnRef>
            <a:fillRef idx="0">
              <a:srgbClr val="0068BF"/>
            </a:fillRef>
            <a:effectRef idx="0">
              <a:srgbClr val="0068BF"/>
            </a:effectRef>
            <a:fontRef idx="minor">
              <a:srgbClr val="000000"/>
            </a:fontRef>
          </p:style>
        </p:cxnSp>
        <p:grpSp>
          <p:nvGrpSpPr>
            <p:cNvPr id="49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50" name="PA-矩形 114"/>
              <p:cNvSpPr/>
              <p:nvPr>
                <p:custDataLst>
                  <p:tags r:id="rId11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rgbClr val="0068BF"/>
                  </a:gs>
                  <a:gs pos="99000">
                    <a:srgbClr val="008BFF">
                      <a:lumMod val="75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ea"/>
                </a:endParaRPr>
              </a:p>
            </p:txBody>
          </p:sp>
          <p:sp>
            <p:nvSpPr>
              <p:cNvPr id="51" name="PA-任意多边形 121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rgbClr val="0068BF"/>
                    </a:gs>
                    <a:gs pos="100000">
                      <a:srgbClr val="008BFF">
                        <a:lumMod val="75000"/>
                      </a:srgbClr>
                    </a:gs>
                  </a:gsLst>
                  <a:lin ang="2700000" scaled="0"/>
                </a:gradFill>
              </a:ln>
            </p:spPr>
            <p:style>
              <a:lnRef idx="1">
                <a:srgbClr val="0068BF"/>
              </a:lnRef>
              <a:fillRef idx="0">
                <a:srgbClr val="0068BF"/>
              </a:fillRef>
              <a:effectRef idx="0">
                <a:srgbClr val="0068BF"/>
              </a:effectRef>
              <a:fontRef idx="minor">
                <a:srgbClr val="000000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ea"/>
                </a:endParaRPr>
              </a:p>
            </p:txBody>
          </p:sp>
        </p:grpSp>
        <p:cxnSp>
          <p:nvCxnSpPr>
            <p:cNvPr id="52" name="PA-直接连接符 26"/>
            <p:cNvCxnSpPr/>
            <p:nvPr>
              <p:custDataLst>
                <p:tags r:id="rId10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rgbClr val="008BFF"/>
                  </a:gs>
                  <a:gs pos="87000">
                    <a:srgbClr val="0068BF"/>
                  </a:gs>
                </a:gsLst>
                <a:lin ang="5400000" scaled="1"/>
              </a:gradFill>
            </a:ln>
          </p:spPr>
          <p:style>
            <a:lnRef idx="1">
              <a:srgbClr val="0068BF"/>
            </a:lnRef>
            <a:fillRef idx="0">
              <a:srgbClr val="0068BF"/>
            </a:fillRef>
            <a:effectRef idx="0">
              <a:srgbClr val="0068BF"/>
            </a:effectRef>
            <a:fontRef idx="minor">
              <a:srgbClr val="000000"/>
            </a:fontRef>
          </p:style>
        </p:cxnSp>
        <p:pic>
          <p:nvPicPr>
            <p:cNvPr id="53" name="图片 52" descr="湖工横版logo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sp>
        <p:nvSpPr>
          <p:cNvPr id="55" name="矩形 54"/>
          <p:cNvSpPr/>
          <p:nvPr/>
        </p:nvSpPr>
        <p:spPr>
          <a:xfrm rot="5400000">
            <a:off x="6026315" y="-4754060"/>
            <a:ext cx="550545" cy="12070080"/>
          </a:xfrm>
          <a:prstGeom prst="rect">
            <a:avLst/>
          </a:prstGeom>
          <a:gradFill flip="none" rotWithShape="1">
            <a:gsLst>
              <a:gs pos="74000">
                <a:srgbClr val="008BFF">
                  <a:lumMod val="75000"/>
                </a:srgbClr>
              </a:gs>
              <a:gs pos="28000">
                <a:srgbClr val="008BFF">
                  <a:lumMod val="75000"/>
                </a:srgb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66700" y="923290"/>
            <a:ext cx="12069445" cy="617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kern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                    </a:t>
            </a:r>
            <a:r>
              <a:rPr lang="zh-CN" altLang="en-US" sz="2800" b="1" kern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技术路线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100360" y="874580"/>
            <a:ext cx="21285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“</a:t>
            </a:r>
            <a:r>
              <a:rPr lang="zh-CN" altLang="en-US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3</a:t>
            </a:r>
            <a:r>
              <a:rPr lang="en-US" altLang="zh-CN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+</a:t>
            </a:r>
            <a:r>
              <a:rPr lang="zh-CN" altLang="en-US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2</a:t>
            </a:r>
            <a:r>
              <a:rPr lang="en-US" altLang="zh-CN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+</a:t>
            </a:r>
            <a:r>
              <a:rPr lang="zh-CN" altLang="en-US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5</a:t>
            </a:r>
            <a:r>
              <a:rPr lang="en-US" altLang="zh-CN" sz="3200" b="1" kern="0" dirty="0">
                <a:gradFill>
                  <a:gsLst>
                    <a:gs pos="100000">
                      <a:srgbClr val="FFC000"/>
                    </a:gs>
                    <a:gs pos="0">
                      <a:srgbClr val="FFFFFF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”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57735" y="1650471"/>
            <a:ext cx="4141261" cy="4832295"/>
            <a:chOff x="515939" y="1853065"/>
            <a:chExt cx="3155954" cy="4480110"/>
          </a:xfrm>
        </p:grpSpPr>
        <p:sp>
          <p:nvSpPr>
            <p:cNvPr id="59" name="矩形: 剪去左右顶角 128"/>
            <p:cNvSpPr/>
            <p:nvPr/>
          </p:nvSpPr>
          <p:spPr>
            <a:xfrm>
              <a:off x="515939" y="2113375"/>
              <a:ext cx="3155954" cy="4219800"/>
            </a:xfrm>
            <a:prstGeom prst="snip2SameRect">
              <a:avLst>
                <a:gd name="adj1" fmla="val 2092"/>
                <a:gd name="adj2" fmla="val 0"/>
              </a:avLst>
            </a:prstGeom>
            <a:solidFill>
              <a:srgbClr val="FFFFFF"/>
            </a:solidFill>
            <a:ln w="25400" cap="flat" cmpd="sng" algn="ctr">
              <a:gradFill>
                <a:gsLst>
                  <a:gs pos="0">
                    <a:srgbClr val="0068BF"/>
                  </a:gs>
                  <a:gs pos="100000">
                    <a:srgbClr val="0068B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zh-CN" altLang="en-US" sz="1655" kern="0" dirty="0">
                <a:noFill/>
                <a:latin typeface="等线" panose="02010600030101010101" charset="-122"/>
                <a:ea typeface="等线" panose="02010600030101010101" charset="-122"/>
                <a:sym typeface="Times New Roman" panose="02020603050405020304" charset="0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764016" y="1853065"/>
              <a:ext cx="2659800" cy="515204"/>
              <a:chOff x="3380070" y="499449"/>
              <a:chExt cx="2701695" cy="515124"/>
            </a:xfrm>
          </p:grpSpPr>
          <p:sp>
            <p:nvSpPr>
              <p:cNvPr id="61" name="PA-圆角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3380070" y="508463"/>
                <a:ext cx="2701695" cy="476736"/>
              </a:xfrm>
              <a:prstGeom prst="hexagon">
                <a:avLst>
                  <a:gd name="adj" fmla="val 29370"/>
                  <a:gd name="vf" fmla="val 115470"/>
                </a:avLst>
              </a:prstGeom>
              <a:gradFill flip="none" rotWithShape="1">
                <a:gsLst>
                  <a:gs pos="0">
                    <a:srgbClr val="05A4E9"/>
                  </a:gs>
                  <a:gs pos="53000">
                    <a:srgbClr val="105CC7"/>
                  </a:gs>
                </a:gsLst>
                <a:lin ang="2700000" scaled="1"/>
                <a:tileRect/>
              </a:gradFill>
              <a:ln w="9525">
                <a:solidFill>
                  <a:srgbClr val="FFFFFF"/>
                </a:solidFill>
              </a:ln>
              <a:effectLst>
                <a:outerShdw blurRad="50800" dist="38100" dir="5400000" algn="t" rotWithShape="0">
                  <a:srgbClr val="0068BF">
                    <a:lumMod val="50000"/>
                    <a:alpha val="40000"/>
                  </a:srgbClr>
                </a:outerShdw>
              </a:effectLst>
            </p:spPr>
            <p:style>
              <a:lnRef idx="2">
                <a:srgbClr val="0068BF">
                  <a:shade val="15000"/>
                </a:srgbClr>
              </a:lnRef>
              <a:fillRef idx="1">
                <a:srgbClr val="0068BF"/>
              </a:fillRef>
              <a:effectRef idx="0">
                <a:srgbClr val="0068BF"/>
              </a:effectRef>
              <a:fontRef idx="minor">
                <a:srgbClr val="FFFFFF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40" dirty="0">
                  <a:solidFill>
                    <a:srgbClr val="FFFFFF"/>
                  </a:solidFill>
                  <a:latin typeface="Times New Roman" panose="02020603050405020304" charset="0"/>
                  <a:ea typeface="OPPOSans M" panose="00020600040101010101" pitchFamily="18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3508902" y="499449"/>
                <a:ext cx="2444032" cy="51512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zh-CN" altLang="en-US" sz="2895" dirty="0">
                    <a:ln w="0">
                      <a:noFill/>
                    </a:ln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rgbClr val="0068BF">
                          <a:lumMod val="50000"/>
                          <a:alpha val="40000"/>
                        </a:srgb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演示古风宋 Heavy" panose="02000600000000000000" pitchFamily="2" charset="-122"/>
                    <a:sym typeface="微软雅黑" panose="020B0503020204020204" charset="-122"/>
                  </a:rPr>
                  <a:t>底层公共库优化</a:t>
                </a: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757530" y="4728157"/>
            <a:ext cx="3515938" cy="529590"/>
            <a:chOff x="4550465" y="1855742"/>
            <a:chExt cx="3080004" cy="512442"/>
          </a:xfrm>
        </p:grpSpPr>
        <p:sp>
          <p:nvSpPr>
            <p:cNvPr id="77" name="矩形: 圆角 141"/>
            <p:cNvSpPr/>
            <p:nvPr/>
          </p:nvSpPr>
          <p:spPr>
            <a:xfrm>
              <a:off x="4550465" y="1855742"/>
              <a:ext cx="3080004" cy="496383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1638" cap="flat" cmpd="sng" algn="ctr">
              <a:solidFill>
                <a:srgbClr val="0068BF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102423" dist="55867" dir="5400000" algn="t" rotWithShape="0">
                <a:srgbClr val="0068BF">
                  <a:alpha val="29000"/>
                </a:srgbClr>
              </a:outerShdw>
            </a:effectLst>
          </p:spPr>
          <p:txBody>
            <a:bodyPr lIns="69283" tIns="34642" rIns="69283" bIns="34642" rtlCol="0" anchor="ctr"/>
            <a:lstStyle/>
            <a:p>
              <a:pPr algn="just"/>
              <a:endParaRPr lang="zh-CN" altLang="en-US" sz="1240" kern="0" dirty="0">
                <a:solidFill>
                  <a:srgbClr val="FFFFFF"/>
                </a:solidFill>
                <a:latin typeface="OPPOSans M" panose="00020600040101010101" pitchFamily="18" charset="-122"/>
                <a:ea typeface="OPPOSans M" panose="00020600040101010101" pitchFamily="18" charset="-122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4723464" y="1858814"/>
              <a:ext cx="2759644" cy="50937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2480" b="1" dirty="0">
                  <a:solidFill>
                    <a:srgbClr val="0068BF"/>
                  </a:solidFill>
                  <a:latin typeface="OPPOSans M" panose="00020600040101010101" pitchFamily="18" charset="-122"/>
                </a:rPr>
                <a:t>融合内核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544939" y="5364853"/>
            <a:ext cx="3983480" cy="896488"/>
            <a:chOff x="1051920" y="1083945"/>
            <a:chExt cx="1758860" cy="867460"/>
          </a:xfrm>
        </p:grpSpPr>
        <p:grpSp>
          <p:nvGrpSpPr>
            <p:cNvPr id="193" name="组合 192"/>
            <p:cNvGrpSpPr/>
            <p:nvPr/>
          </p:nvGrpSpPr>
          <p:grpSpPr>
            <a:xfrm>
              <a:off x="1051920" y="1615036"/>
              <a:ext cx="1758860" cy="336369"/>
              <a:chOff x="5242452" y="3179800"/>
              <a:chExt cx="2892716" cy="464296"/>
            </a:xfrm>
          </p:grpSpPr>
          <p:sp>
            <p:nvSpPr>
              <p:cNvPr id="194" name="椭圆 193"/>
              <p:cNvSpPr/>
              <p:nvPr/>
            </p:nvSpPr>
            <p:spPr>
              <a:xfrm>
                <a:off x="5481734" y="3227346"/>
                <a:ext cx="2414154" cy="387484"/>
              </a:xfrm>
              <a:prstGeom prst="ellipse">
                <a:avLst/>
              </a:prstGeom>
              <a:gradFill>
                <a:gsLst>
                  <a:gs pos="0">
                    <a:srgbClr val="0068BF">
                      <a:alpha val="76000"/>
                    </a:srgbClr>
                  </a:gs>
                  <a:gs pos="100000">
                    <a:srgbClr val="0068BF">
                      <a:lumMod val="20000"/>
                      <a:lumOff val="80000"/>
                      <a:alpha val="0"/>
                    </a:srgbClr>
                  </a:gs>
                </a:gsLst>
                <a:lin ang="162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5050" tIns="42525" rIns="85050" bIns="42525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9pPr>
              </a:lstStyle>
              <a:p>
                <a:pPr algn="ctr" defTabSz="472440">
                  <a:defRPr/>
                </a:pPr>
                <a:endParaRPr lang="zh-CN" altLang="en-US" sz="1675" kern="0">
                  <a:latin typeface="DIN"/>
                  <a:ea typeface="微软雅黑 Light" panose="020B0502040204020203" charset="-122"/>
                </a:endParaRPr>
              </a:p>
            </p:txBody>
          </p:sp>
          <p:sp>
            <p:nvSpPr>
              <p:cNvPr id="198" name="椭圆 197"/>
              <p:cNvSpPr/>
              <p:nvPr/>
            </p:nvSpPr>
            <p:spPr>
              <a:xfrm>
                <a:off x="5242452" y="3179800"/>
                <a:ext cx="2892716" cy="464296"/>
              </a:xfrm>
              <a:prstGeom prst="ellipse">
                <a:avLst/>
              </a:prstGeom>
              <a:noFill/>
              <a:ln w="11430" cap="flat" cmpd="sng" algn="ctr">
                <a:gradFill flip="none" rotWithShape="1">
                  <a:gsLst>
                    <a:gs pos="0">
                      <a:srgbClr val="0068BF">
                        <a:alpha val="0"/>
                      </a:srgbClr>
                    </a:gs>
                    <a:gs pos="66000">
                      <a:srgbClr val="0068BF">
                        <a:alpha val="0"/>
                      </a:srgbClr>
                    </a:gs>
                    <a:gs pos="100000">
                      <a:srgbClr val="0068B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/>
            </p:spPr>
            <p:txBody>
              <a:bodyPr lIns="85050" tIns="42525" rIns="85050" bIns="42525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Times New Roman" panose="02020603050405020304" charset="0"/>
                    <a:ea typeface="OPPOSans M" panose="00020600040101010101" pitchFamily="18" charset="-122"/>
                    <a:cs typeface="+mn-ea"/>
                  </a:defRPr>
                </a:lvl9pPr>
              </a:lstStyle>
              <a:p>
                <a:pPr algn="ctr" defTabSz="472440">
                  <a:defRPr/>
                </a:pPr>
                <a:endParaRPr lang="zh-CN" altLang="en-US" sz="1675" kern="0">
                  <a:latin typeface="DIN"/>
                  <a:ea typeface="微软雅黑 Light" panose="020B0502040204020203" charset="-122"/>
                </a:endParaRPr>
              </a:p>
            </p:txBody>
          </p:sp>
        </p:grpSp>
        <p:sp>
          <p:nvSpPr>
            <p:cNvPr id="199" name="文本框 5241"/>
            <p:cNvSpPr txBox="1"/>
            <p:nvPr/>
          </p:nvSpPr>
          <p:spPr>
            <a:xfrm>
              <a:off x="1109697" y="1083945"/>
              <a:ext cx="1643306" cy="821670"/>
            </a:xfrm>
            <a:prstGeom prst="rect">
              <a:avLst/>
            </a:prstGeom>
            <a:noFill/>
            <a:effectLst/>
          </p:spPr>
          <p:txBody>
            <a:bodyPr wrap="none" lIns="85050" tIns="42525" rIns="85050" bIns="42525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Times New Roman" panose="02020603050405020304" charset="0"/>
                  <a:ea typeface="OPPOSans M" panose="00020600040101010101" pitchFamily="18" charset="-122"/>
                  <a:cs typeface="+mn-ea"/>
                </a:defRPr>
              </a:lvl9pPr>
            </a:lstStyle>
            <a:p>
              <a:pPr algn="ctr"/>
              <a:r>
                <a:rPr lang="zh-CN" altLang="en-US" sz="2480" dirty="0"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适配</a:t>
              </a:r>
              <a:r>
                <a:rPr lang="en-US" altLang="zh-CN" sz="2480" dirty="0"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GP201/GP200s</a:t>
              </a:r>
              <a:r>
                <a:rPr lang="zh-CN" altLang="en-US" sz="2480" dirty="0"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平台</a:t>
              </a:r>
            </a:p>
            <a:p>
              <a:pPr algn="ctr"/>
              <a:r>
                <a:rPr lang="zh-CN" altLang="en-US" sz="2480" dirty="0"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最高提速</a:t>
              </a:r>
              <a:r>
                <a:rPr lang="en-US" altLang="zh-CN" sz="2480" dirty="0">
                  <a:solidFill>
                    <a:srgbClr val="F78021"/>
                  </a:solidFill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2.86</a:t>
              </a:r>
              <a:r>
                <a:rPr lang="zh-CN" altLang="en-US" sz="2480" dirty="0">
                  <a:solidFill>
                    <a:srgbClr val="F78021"/>
                  </a:solidFill>
                  <a:effectLst>
                    <a:glow rad="101600">
                      <a:srgbClr val="FFFFFF"/>
                    </a:glo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演示古风宋 Heavy" panose="02000600000000000000" pitchFamily="2" charset="-122"/>
                </a:rPr>
                <a:t>倍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80890" y="1650471"/>
            <a:ext cx="7174818" cy="4832295"/>
            <a:chOff x="515939" y="1853065"/>
            <a:chExt cx="3155954" cy="4480110"/>
          </a:xfrm>
        </p:grpSpPr>
        <p:sp>
          <p:nvSpPr>
            <p:cNvPr id="6" name="矩形: 剪去左右顶角 165"/>
            <p:cNvSpPr/>
            <p:nvPr/>
          </p:nvSpPr>
          <p:spPr>
            <a:xfrm>
              <a:off x="515939" y="2113375"/>
              <a:ext cx="3155954" cy="4219800"/>
            </a:xfrm>
            <a:prstGeom prst="snip2SameRect">
              <a:avLst>
                <a:gd name="adj1" fmla="val 2092"/>
                <a:gd name="adj2" fmla="val 0"/>
              </a:avLst>
            </a:prstGeom>
            <a:solidFill>
              <a:srgbClr val="FFFFFF"/>
            </a:solidFill>
            <a:ln w="25400" cap="flat" cmpd="sng" algn="ctr">
              <a:gradFill>
                <a:gsLst>
                  <a:gs pos="0">
                    <a:srgbClr val="0068BF"/>
                  </a:gs>
                  <a:gs pos="100000">
                    <a:srgbClr val="0068B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zh-CN" altLang="en-US" sz="1655" kern="0" dirty="0">
                <a:noFill/>
                <a:latin typeface="等线" panose="02010600030101010101" charset="-122"/>
                <a:ea typeface="等线" panose="02010600030101010101" charset="-122"/>
                <a:sym typeface="Times New Roman" panose="02020603050405020304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764016" y="1853065"/>
              <a:ext cx="2659800" cy="515204"/>
              <a:chOff x="3380070" y="499449"/>
              <a:chExt cx="2701695" cy="515124"/>
            </a:xfrm>
          </p:grpSpPr>
          <p:sp>
            <p:nvSpPr>
              <p:cNvPr id="8" name="PA-圆角矩形 11"/>
              <p:cNvSpPr/>
              <p:nvPr>
                <p:custDataLst>
                  <p:tags r:id="rId1"/>
                </p:custDataLst>
              </p:nvPr>
            </p:nvSpPr>
            <p:spPr>
              <a:xfrm>
                <a:off x="3380070" y="508463"/>
                <a:ext cx="2701695" cy="476736"/>
              </a:xfrm>
              <a:prstGeom prst="hexagon">
                <a:avLst>
                  <a:gd name="adj" fmla="val 29370"/>
                  <a:gd name="vf" fmla="val 115470"/>
                </a:avLst>
              </a:prstGeom>
              <a:gradFill flip="none" rotWithShape="1">
                <a:gsLst>
                  <a:gs pos="0">
                    <a:srgbClr val="05A4E9"/>
                  </a:gs>
                  <a:gs pos="53000">
                    <a:srgbClr val="105CC7"/>
                  </a:gs>
                </a:gsLst>
                <a:lin ang="2700000" scaled="1"/>
                <a:tileRect/>
              </a:gradFill>
              <a:ln w="9525">
                <a:solidFill>
                  <a:srgbClr val="FFFFFF"/>
                </a:solidFill>
              </a:ln>
              <a:effectLst>
                <a:outerShdw blurRad="50800" dist="38100" dir="5400000" algn="t" rotWithShape="0">
                  <a:srgbClr val="0068BF">
                    <a:lumMod val="50000"/>
                    <a:alpha val="40000"/>
                  </a:srgbClr>
                </a:outerShdw>
              </a:effectLst>
            </p:spPr>
            <p:style>
              <a:lnRef idx="2">
                <a:srgbClr val="0068BF">
                  <a:shade val="15000"/>
                </a:srgbClr>
              </a:lnRef>
              <a:fillRef idx="1">
                <a:srgbClr val="0068BF"/>
              </a:fillRef>
              <a:effectRef idx="0">
                <a:srgbClr val="0068BF"/>
              </a:effectRef>
              <a:fontRef idx="minor">
                <a:srgbClr val="FFFFFF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40" dirty="0">
                  <a:solidFill>
                    <a:srgbClr val="FFFFFF"/>
                  </a:solidFill>
                  <a:latin typeface="Times New Roman" panose="02020603050405020304" charset="0"/>
                  <a:ea typeface="OPPOSans M" panose="00020600040101010101" pitchFamily="18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508902" y="499449"/>
                <a:ext cx="2444032" cy="51512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zh-CN" altLang="en-US" sz="2895" dirty="0">
                    <a:ln w="0">
                      <a:noFill/>
                    </a:ln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rgbClr val="0068BF">
                          <a:lumMod val="50000"/>
                          <a:alpha val="40000"/>
                        </a:srgb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演示古风宋 Heavy" panose="02000600000000000000" pitchFamily="2" charset="-122"/>
                    <a:sym typeface="微软雅黑" panose="020B0503020204020204" charset="-122"/>
                  </a:rPr>
                  <a:t>应用级算法构建</a:t>
                </a:r>
              </a:p>
            </p:txBody>
          </p:sp>
        </p:grpSp>
      </p:grpSp>
      <p:sp>
        <p:nvSpPr>
          <p:cNvPr id="11" name="矩形: 圆角 183"/>
          <p:cNvSpPr/>
          <p:nvPr/>
        </p:nvSpPr>
        <p:spPr>
          <a:xfrm>
            <a:off x="5241475" y="3772328"/>
            <a:ext cx="2560393" cy="84094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>
                <a:lumMod val="40000"/>
                <a:lumOff val="60000"/>
              </a:srgbClr>
            </a:solidFill>
            <a:prstDash val="solid"/>
            <a:miter lim="800000"/>
          </a:ln>
          <a:effectLst>
            <a:outerShdw blurRad="102423" dist="55867" dir="5400000" algn="t" rotWithShape="0">
              <a:srgbClr val="0068BF">
                <a:alpha val="29000"/>
              </a:srgbClr>
            </a:outerShdw>
          </a:effectLst>
        </p:spPr>
        <p:txBody>
          <a:bodyPr lIns="69283" tIns="34642" rIns="69283" bIns="34642" rtlCol="0" anchor="ctr"/>
          <a:lstStyle/>
          <a:p>
            <a:pPr algn="just"/>
            <a:endParaRPr lang="zh-CN" altLang="en-US" sz="1240" kern="0" dirty="0">
              <a:solidFill>
                <a:srgbClr val="FFFFFF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29" name="矩形: 圆角 184"/>
          <p:cNvSpPr/>
          <p:nvPr/>
        </p:nvSpPr>
        <p:spPr>
          <a:xfrm>
            <a:off x="5241475" y="3529084"/>
            <a:ext cx="2560393" cy="50651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9283" tIns="34642" rIns="69283" bIns="34642" rtlCol="0" anchor="ctr"/>
          <a:lstStyle/>
          <a:p>
            <a:pPr algn="ctr"/>
            <a:r>
              <a:rPr lang="en-US" altLang="zh-CN" sz="3200" b="1" dirty="0">
                <a:solidFill>
                  <a:srgbClr val="105CC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Heavy" panose="02020900000000000000" pitchFamily="18" charset="-122"/>
              </a:rPr>
              <a:t>MVDR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58024" y="4047260"/>
            <a:ext cx="26418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80" dirty="0">
                <a:effectLst>
                  <a:glow rad="101600">
                    <a:srgbClr val="FFFFFF"/>
                  </a:glow>
                </a:effectLst>
                <a:latin typeface="OPPOSans M" panose="00020600040101010101" pitchFamily="18" charset="-122"/>
                <a:ea typeface="OPPOSans M" panose="00020600040101010101" pitchFamily="18" charset="-122"/>
                <a:cs typeface="演示古风宋 Heavy" panose="02000600000000000000" pitchFamily="2" charset="-122"/>
              </a:rPr>
              <a:t>提速</a:t>
            </a:r>
            <a:r>
              <a:rPr lang="en-US" altLang="zh-CN" sz="3200" dirty="0">
                <a:solidFill>
                  <a:srgbClr val="F7802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演示古风宋 Heavy" panose="02000600000000000000" pitchFamily="2" charset="-122"/>
              </a:rPr>
              <a:t>18.9</a:t>
            </a:r>
            <a:r>
              <a:rPr lang="zh-CN" altLang="en-US" sz="3200" dirty="0">
                <a:solidFill>
                  <a:srgbClr val="F7802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演示古风宋 Heavy" panose="02000600000000000000" pitchFamily="2" charset="-122"/>
              </a:rPr>
              <a:t>倍</a:t>
            </a:r>
          </a:p>
        </p:txBody>
      </p:sp>
      <p:grpSp>
        <p:nvGrpSpPr>
          <p:cNvPr id="13" name="组合 12"/>
          <p:cNvGrpSpPr/>
          <p:nvPr/>
        </p:nvGrpSpPr>
        <p:grpSpPr>
          <a:xfrm rot="5400000" flipV="1">
            <a:off x="7749563" y="3503810"/>
            <a:ext cx="1099824" cy="1150282"/>
            <a:chOff x="9297779" y="4712531"/>
            <a:chExt cx="1392936" cy="501434"/>
          </a:xfrm>
        </p:grpSpPr>
        <p:sp>
          <p:nvSpPr>
            <p:cNvPr id="16" name="菱形 15"/>
            <p:cNvSpPr/>
            <p:nvPr/>
          </p:nvSpPr>
          <p:spPr>
            <a:xfrm rot="5400000" flipH="1">
              <a:off x="9792654" y="4217665"/>
              <a:ext cx="403196" cy="1392927"/>
            </a:xfrm>
            <a:prstGeom prst="diamond">
              <a:avLst/>
            </a:prstGeom>
            <a:gradFill flip="none" rotWithShape="1">
              <a:gsLst>
                <a:gs pos="0">
                  <a:srgbClr val="0068BF">
                    <a:alpha val="70000"/>
                    <a:lumMod val="50000"/>
                    <a:lumOff val="50000"/>
                  </a:srgbClr>
                </a:gs>
                <a:gs pos="50000">
                  <a:srgbClr val="0068BF">
                    <a:alpha val="0"/>
                    <a:lumMod val="50000"/>
                    <a:lumOff val="50000"/>
                  </a:srgb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 dirty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  <p:sp>
          <p:nvSpPr>
            <p:cNvPr id="17" name="菱形 16"/>
            <p:cNvSpPr/>
            <p:nvPr/>
          </p:nvSpPr>
          <p:spPr>
            <a:xfrm rot="5400000" flipH="1">
              <a:off x="9792644" y="4315904"/>
              <a:ext cx="403196" cy="1392926"/>
            </a:xfrm>
            <a:prstGeom prst="diamond">
              <a:avLst/>
            </a:prstGeom>
            <a:gradFill flip="none" rotWithShape="1">
              <a:gsLst>
                <a:gs pos="0">
                  <a:srgbClr val="0068BF"/>
                </a:gs>
                <a:gs pos="50000">
                  <a:srgbClr val="0068BF">
                    <a:alpha val="0"/>
                    <a:lumMod val="50000"/>
                    <a:lumOff val="50000"/>
                  </a:srgb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 dirty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</p:grpSp>
      <p:sp>
        <p:nvSpPr>
          <p:cNvPr id="18" name="矩形: 圆角 272"/>
          <p:cNvSpPr/>
          <p:nvPr/>
        </p:nvSpPr>
        <p:spPr>
          <a:xfrm>
            <a:off x="5204010" y="5442431"/>
            <a:ext cx="2560393" cy="84094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>
                <a:lumMod val="40000"/>
                <a:lumOff val="60000"/>
              </a:srgbClr>
            </a:solidFill>
            <a:prstDash val="solid"/>
            <a:miter lim="800000"/>
          </a:ln>
          <a:effectLst>
            <a:outerShdw blurRad="102423" dist="55867" dir="5400000" algn="t" rotWithShape="0">
              <a:srgbClr val="0068BF">
                <a:alpha val="29000"/>
              </a:srgbClr>
            </a:outerShdw>
          </a:effectLst>
        </p:spPr>
        <p:txBody>
          <a:bodyPr lIns="69283" tIns="34642" rIns="69283" bIns="34642" rtlCol="0" anchor="ctr"/>
          <a:lstStyle/>
          <a:p>
            <a:pPr algn="just"/>
            <a:endParaRPr lang="zh-CN" altLang="en-US" sz="1240" kern="0" dirty="0">
              <a:solidFill>
                <a:srgbClr val="FFFFFF"/>
              </a:solidFill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19" name="矩形: 圆角 273"/>
          <p:cNvSpPr/>
          <p:nvPr/>
        </p:nvSpPr>
        <p:spPr>
          <a:xfrm>
            <a:off x="5204010" y="5199187"/>
            <a:ext cx="2560393" cy="50651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9283" tIns="34642" rIns="69283" bIns="34642" rtlCol="0" anchor="ctr"/>
          <a:lstStyle/>
          <a:p>
            <a:pPr algn="ctr"/>
            <a:r>
              <a:rPr lang="en-US" altLang="zh-CN" sz="3200" b="1" dirty="0">
                <a:solidFill>
                  <a:srgbClr val="105CC7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Heavy" panose="02020900000000000000" pitchFamily="18" charset="-122"/>
              </a:rPr>
              <a:t>CFAR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200549" y="5694899"/>
            <a:ext cx="2641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80" dirty="0">
                <a:effectLst>
                  <a:glow rad="101600">
                    <a:srgbClr val="FFFFFF"/>
                  </a:glow>
                </a:effectLst>
                <a:latin typeface="OPPOSans M" panose="00020600040101010101" pitchFamily="18" charset="-122"/>
                <a:ea typeface="OPPOSans M" panose="00020600040101010101" pitchFamily="18" charset="-122"/>
                <a:cs typeface="演示古风宋 Heavy" panose="02000600000000000000" pitchFamily="2" charset="-122"/>
              </a:rPr>
              <a:t>提速</a:t>
            </a:r>
            <a:r>
              <a:rPr lang="en-US" altLang="zh-CN" sz="3200" dirty="0">
                <a:solidFill>
                  <a:srgbClr val="F7802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演示古风宋 Heavy" panose="02000600000000000000" pitchFamily="2" charset="-122"/>
              </a:rPr>
              <a:t>70.5</a:t>
            </a:r>
            <a:r>
              <a:rPr lang="zh-CN" altLang="en-US" sz="3200" dirty="0">
                <a:solidFill>
                  <a:srgbClr val="F78021"/>
                </a:solidFill>
                <a:effectLst>
                  <a:glow rad="101600">
                    <a:srgbClr val="FFFFFF"/>
                  </a:glo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演示古风宋 Heavy" panose="02000600000000000000" pitchFamily="2" charset="-122"/>
              </a:rPr>
              <a:t>倍</a:t>
            </a:r>
            <a:endParaRPr lang="zh-CN" altLang="en-US" sz="2480" dirty="0">
              <a:solidFill>
                <a:srgbClr val="F78021"/>
              </a:solidFill>
              <a:effectLst>
                <a:glow rad="101600">
                  <a:srgbClr val="FFFFFF"/>
                </a:glo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演示古风宋 Heavy" panose="02000600000000000000" pitchFamily="2" charset="-122"/>
            </a:endParaRPr>
          </a:p>
        </p:txBody>
      </p:sp>
      <p:sp>
        <p:nvSpPr>
          <p:cNvPr id="21" name="矩形: 圆角 275"/>
          <p:cNvSpPr/>
          <p:nvPr/>
        </p:nvSpPr>
        <p:spPr>
          <a:xfrm>
            <a:off x="9159240" y="3302000"/>
            <a:ext cx="2483485" cy="50990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7040" tIns="33520" rIns="67040" bIns="33520" rtlCol="0" anchor="ctr"/>
          <a:lstStyle/>
          <a:p>
            <a:pPr algn="ctr"/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ea"/>
              </a:rPr>
              <a:t>预计算相位</a:t>
            </a:r>
          </a:p>
        </p:txBody>
      </p:sp>
      <p:sp>
        <p:nvSpPr>
          <p:cNvPr id="22" name="矩形: 圆角 276"/>
          <p:cNvSpPr/>
          <p:nvPr/>
        </p:nvSpPr>
        <p:spPr>
          <a:xfrm>
            <a:off x="9170035" y="3889375"/>
            <a:ext cx="2472690" cy="50990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7040" tIns="33520" rIns="67040" bIns="33520" rtlCol="0" anchor="ctr"/>
          <a:lstStyle/>
          <a:p>
            <a:pPr algn="ctr"/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ea"/>
              </a:rPr>
              <a:t>分块批处理</a:t>
            </a:r>
          </a:p>
        </p:txBody>
      </p:sp>
      <p:sp>
        <p:nvSpPr>
          <p:cNvPr id="23" name="矩形: 圆角 277"/>
          <p:cNvSpPr/>
          <p:nvPr/>
        </p:nvSpPr>
        <p:spPr>
          <a:xfrm>
            <a:off x="9170035" y="4450715"/>
            <a:ext cx="2472055" cy="46672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7040" tIns="33520" rIns="67040" bIns="33520" rtlCol="0" anchor="ctr"/>
          <a:lstStyle/>
          <a:p>
            <a:pPr algn="ctr"/>
            <a:r>
              <a:rPr lang="zh-CN" altLang="en-US" sz="2000" dirty="0">
                <a:latin typeface="OPPOSans M" panose="00020600040101010101" pitchFamily="18" charset="-122"/>
                <a:ea typeface="OPPOSans M" panose="00020600040101010101" pitchFamily="18" charset="-122"/>
              </a:rPr>
              <a:t>非显式求逆</a:t>
            </a:r>
          </a:p>
        </p:txBody>
      </p:sp>
      <p:grpSp>
        <p:nvGrpSpPr>
          <p:cNvPr id="24" name="组合 23"/>
          <p:cNvGrpSpPr/>
          <p:nvPr/>
        </p:nvGrpSpPr>
        <p:grpSpPr>
          <a:xfrm rot="5400000" flipV="1">
            <a:off x="7678443" y="5216087"/>
            <a:ext cx="1099824" cy="1150282"/>
            <a:chOff x="9297779" y="4712531"/>
            <a:chExt cx="1392936" cy="501434"/>
          </a:xfrm>
        </p:grpSpPr>
        <p:sp>
          <p:nvSpPr>
            <p:cNvPr id="25" name="菱形 24"/>
            <p:cNvSpPr/>
            <p:nvPr/>
          </p:nvSpPr>
          <p:spPr>
            <a:xfrm rot="5400000" flipH="1">
              <a:off x="9792654" y="4217665"/>
              <a:ext cx="403196" cy="1392927"/>
            </a:xfrm>
            <a:prstGeom prst="diamond">
              <a:avLst/>
            </a:prstGeom>
            <a:gradFill flip="none" rotWithShape="1">
              <a:gsLst>
                <a:gs pos="0">
                  <a:srgbClr val="0068BF">
                    <a:alpha val="70000"/>
                    <a:lumMod val="50000"/>
                    <a:lumOff val="50000"/>
                  </a:srgbClr>
                </a:gs>
                <a:gs pos="50000">
                  <a:srgbClr val="0068BF">
                    <a:alpha val="0"/>
                    <a:lumMod val="50000"/>
                    <a:lumOff val="50000"/>
                  </a:srgb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 dirty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  <p:sp>
          <p:nvSpPr>
            <p:cNvPr id="26" name="菱形 25"/>
            <p:cNvSpPr/>
            <p:nvPr/>
          </p:nvSpPr>
          <p:spPr>
            <a:xfrm rot="5400000" flipH="1">
              <a:off x="9792644" y="4315904"/>
              <a:ext cx="403196" cy="1392926"/>
            </a:xfrm>
            <a:prstGeom prst="diamond">
              <a:avLst/>
            </a:prstGeom>
            <a:gradFill flip="none" rotWithShape="1">
              <a:gsLst>
                <a:gs pos="0">
                  <a:srgbClr val="0068BF"/>
                </a:gs>
                <a:gs pos="50000">
                  <a:srgbClr val="0068BF">
                    <a:alpha val="0"/>
                    <a:lumMod val="50000"/>
                    <a:lumOff val="50000"/>
                  </a:srgb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 dirty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</p:grpSp>
      <p:sp>
        <p:nvSpPr>
          <p:cNvPr id="27" name="矩形: 圆角 284"/>
          <p:cNvSpPr/>
          <p:nvPr/>
        </p:nvSpPr>
        <p:spPr>
          <a:xfrm>
            <a:off x="9159452" y="5257744"/>
            <a:ext cx="2472069" cy="510020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7040" tIns="33520" rIns="67040" bIns="33520" rtlCol="0" anchor="ctr"/>
          <a:lstStyle/>
          <a:p>
            <a:pPr algn="ctr"/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ea"/>
              </a:rPr>
              <a:t>滑动平均窗</a:t>
            </a:r>
          </a:p>
        </p:txBody>
      </p:sp>
      <p:sp>
        <p:nvSpPr>
          <p:cNvPr id="28" name="矩形: 圆角 283"/>
          <p:cNvSpPr/>
          <p:nvPr/>
        </p:nvSpPr>
        <p:spPr>
          <a:xfrm>
            <a:off x="9170883" y="5850891"/>
            <a:ext cx="2472069" cy="466658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 w="11638" cap="flat" cmpd="sng" algn="ctr">
            <a:solidFill>
              <a:srgbClr val="0068BF"/>
            </a:solidFill>
            <a:prstDash val="solid"/>
            <a:miter lim="800000"/>
          </a:ln>
          <a:effectLst/>
        </p:spPr>
        <p:txBody>
          <a:bodyPr lIns="67040" tIns="33520" rIns="67040" bIns="33520" rtlCol="0" anchor="ctr"/>
          <a:lstStyle/>
          <a:p>
            <a:pPr algn="ctr"/>
            <a:r>
              <a:rPr lang="zh-CN" altLang="en-US" sz="2000" dirty="0">
                <a:latin typeface="OPPOSans M" panose="00020600040101010101" pitchFamily="18" charset="-122"/>
                <a:ea typeface="OPPOSans M" panose="00020600040101010101" pitchFamily="18" charset="-122"/>
              </a:rPr>
              <a:t>自适应卷积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521183" y="6317402"/>
            <a:ext cx="11557623" cy="862698"/>
            <a:chOff x="531660" y="6291983"/>
            <a:chExt cx="11326313" cy="707333"/>
          </a:xfrm>
        </p:grpSpPr>
        <p:sp>
          <p:nvSpPr>
            <p:cNvPr id="30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31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32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1636713" y="6545698"/>
            <a:ext cx="9326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系统性构建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“</a:t>
            </a:r>
            <a:r>
              <a:rPr kumimoji="1" lang="en-US" altLang="zh-CN" sz="280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3+2+5”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08BFF">
                    <a:lumMod val="75000"/>
                  </a:srgb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创新体系，实现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算子算法双线提速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488315" y="2201545"/>
            <a:ext cx="4056380" cy="920750"/>
            <a:chOff x="1130" y="2258"/>
            <a:chExt cx="7749" cy="1509"/>
          </a:xfrm>
        </p:grpSpPr>
        <p:grpSp>
          <p:nvGrpSpPr>
            <p:cNvPr id="39" name="组合 38"/>
            <p:cNvGrpSpPr/>
            <p:nvPr/>
          </p:nvGrpSpPr>
          <p:grpSpPr>
            <a:xfrm>
              <a:off x="1130" y="2541"/>
              <a:ext cx="7749" cy="1226"/>
              <a:chOff x="1924" y="1894"/>
              <a:chExt cx="7749" cy="1226"/>
            </a:xfrm>
          </p:grpSpPr>
          <p:sp>
            <p:nvSpPr>
              <p:cNvPr id="43" name="流程图: 准备 42"/>
              <p:cNvSpPr/>
              <p:nvPr/>
            </p:nvSpPr>
            <p:spPr>
              <a:xfrm>
                <a:off x="2498" y="1894"/>
                <a:ext cx="7175" cy="1226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流程图: 准备 45"/>
              <p:cNvSpPr/>
              <p:nvPr/>
            </p:nvSpPr>
            <p:spPr>
              <a:xfrm>
                <a:off x="1924" y="1894"/>
                <a:ext cx="7175" cy="1214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流程图: 准备 61"/>
              <p:cNvSpPr/>
              <p:nvPr/>
            </p:nvSpPr>
            <p:spPr>
              <a:xfrm>
                <a:off x="2184" y="1894"/>
                <a:ext cx="7175" cy="1214"/>
              </a:xfrm>
              <a:prstGeom prst="flowChartPreparation">
                <a:avLst/>
              </a:prstGeom>
              <a:gradFill>
                <a:gsLst>
                  <a:gs pos="0">
                    <a:schemeClr val="accent4">
                      <a:lumMod val="7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0"/>
              </a:gradFill>
              <a:ln>
                <a:solidFill>
                  <a:srgbClr val="FFFF0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4000" dirty="0">
                    <a:ln>
                      <a:solidFill>
                        <a:schemeClr val="tx1"/>
                      </a:solidFill>
                    </a:ln>
                    <a:solidFill>
                      <a:schemeClr val="bg1"/>
                    </a:solidFill>
                    <a:latin typeface="汉仪菱心体简" panose="02010400000101010101" charset="-122"/>
                    <a:ea typeface="汉仪菱心体简" panose="02010400000101010101" charset="-122"/>
                    <a:cs typeface="汉仪菱心体简" panose="02010400000101010101" charset="-122"/>
                  </a:rPr>
                  <a:t>  </a:t>
                </a:r>
                <a:r>
                  <a:rPr lang="zh-CN" altLang="en-US" sz="2895" dirty="0">
                    <a:ln w="0">
                      <a:noFill/>
                    </a:ln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rgbClr val="0068BF">
                          <a:lumMod val="50000"/>
                          <a:alpha val="40000"/>
                        </a:srgb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演示古风宋 Heavy" panose="02000600000000000000" pitchFamily="2" charset="-122"/>
                  </a:rPr>
                  <a:t>优化</a:t>
                </a:r>
              </a:p>
            </p:txBody>
          </p:sp>
        </p:grpSp>
        <p:sp>
          <p:nvSpPr>
            <p:cNvPr id="63" name="文本框 62"/>
            <p:cNvSpPr txBox="1"/>
            <p:nvPr/>
          </p:nvSpPr>
          <p:spPr>
            <a:xfrm>
              <a:off x="3650" y="2258"/>
              <a:ext cx="948" cy="12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48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3</a:t>
              </a:r>
              <a:r>
                <a:rPr lang="zh-CN" altLang="en-US" sz="44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 </a:t>
              </a:r>
              <a:endParaRPr lang="zh-CN" altLang="en-US" sz="2895" dirty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5400000" algn="t" rotWithShape="0">
                    <a:srgbClr val="0068BF">
                      <a:lumMod val="50000"/>
                      <a:alpha val="40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演示古风宋 Heavy" panose="02000600000000000000" pitchFamily="2" charset="-122"/>
                <a:sym typeface="+mn-ea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146040" y="2125345"/>
            <a:ext cx="2872740" cy="977265"/>
            <a:chOff x="11550" y="3234"/>
            <a:chExt cx="5035" cy="1591"/>
          </a:xfrm>
        </p:grpSpPr>
        <p:grpSp>
          <p:nvGrpSpPr>
            <p:cNvPr id="66" name="组合 65"/>
            <p:cNvGrpSpPr/>
            <p:nvPr/>
          </p:nvGrpSpPr>
          <p:grpSpPr>
            <a:xfrm>
              <a:off x="11550" y="3547"/>
              <a:ext cx="5035" cy="1240"/>
              <a:chOff x="3025" y="1887"/>
              <a:chExt cx="5035" cy="1240"/>
            </a:xfrm>
          </p:grpSpPr>
          <p:sp>
            <p:nvSpPr>
              <p:cNvPr id="67" name="流程图: 准备 66"/>
              <p:cNvSpPr/>
              <p:nvPr/>
            </p:nvSpPr>
            <p:spPr>
              <a:xfrm>
                <a:off x="3737" y="1887"/>
                <a:ext cx="4323" cy="1240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68" name="流程图: 准备 67"/>
              <p:cNvSpPr/>
              <p:nvPr/>
            </p:nvSpPr>
            <p:spPr>
              <a:xfrm>
                <a:off x="3025" y="1887"/>
                <a:ext cx="4684" cy="1228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69" name="流程图: 准备 68"/>
              <p:cNvSpPr/>
              <p:nvPr/>
            </p:nvSpPr>
            <p:spPr>
              <a:xfrm>
                <a:off x="3229" y="1887"/>
                <a:ext cx="4653" cy="1213"/>
              </a:xfrm>
              <a:prstGeom prst="flowChartPreparation">
                <a:avLst/>
              </a:prstGeom>
              <a:gradFill>
                <a:gsLst>
                  <a:gs pos="0">
                    <a:schemeClr val="accent4">
                      <a:lumMod val="7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0"/>
              </a:gradFill>
              <a:ln>
                <a:solidFill>
                  <a:srgbClr val="FFFF0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4000" dirty="0">
                    <a:ln>
                      <a:solidFill>
                        <a:schemeClr val="tx1"/>
                      </a:solidFill>
                    </a:ln>
                    <a:solidFill>
                      <a:schemeClr val="bg1"/>
                    </a:solidFill>
                    <a:latin typeface="汉仪菱心体简" panose="02010400000101010101" charset="-122"/>
                    <a:ea typeface="汉仪菱心体简" panose="02010400000101010101" charset="-122"/>
                    <a:cs typeface="汉仪菱心体简" panose="02010400000101010101" charset="-122"/>
                  </a:rPr>
                  <a:t>  </a:t>
                </a:r>
                <a:r>
                  <a:rPr lang="zh-CN" altLang="en-US" sz="2895" dirty="0">
                    <a:ln w="0">
                      <a:noFill/>
                    </a:ln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rgbClr val="0068BF">
                          <a:lumMod val="50000"/>
                          <a:alpha val="40000"/>
                        </a:srgb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演示古风宋 Heavy" panose="02000600000000000000" pitchFamily="2" charset="-122"/>
                  </a:rPr>
                  <a:t>构建</a:t>
                </a: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12796" y="3234"/>
              <a:ext cx="1582" cy="15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48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2 </a:t>
              </a:r>
              <a:endParaRPr lang="en-US" altLang="zh-CN" sz="7200" b="1" dirty="0">
                <a:solidFill>
                  <a:schemeClr val="bg1"/>
                </a:solidFill>
                <a:latin typeface="汉仪力量黑简" panose="00020600040101010101" charset="-122"/>
                <a:ea typeface="汉仪力量黑简" panose="00020600040101010101" charset="-122"/>
                <a:cs typeface="汉仪菱心体简" panose="02010400000101010101" charset="-122"/>
                <a:sym typeface="+mn-ea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803640" y="2127250"/>
            <a:ext cx="3216275" cy="977265"/>
            <a:chOff x="11550" y="3237"/>
            <a:chExt cx="5035" cy="1591"/>
          </a:xfrm>
        </p:grpSpPr>
        <p:grpSp>
          <p:nvGrpSpPr>
            <p:cNvPr id="271" name="组合 270"/>
            <p:cNvGrpSpPr/>
            <p:nvPr/>
          </p:nvGrpSpPr>
          <p:grpSpPr>
            <a:xfrm>
              <a:off x="11550" y="3547"/>
              <a:ext cx="5035" cy="1240"/>
              <a:chOff x="3025" y="1887"/>
              <a:chExt cx="5035" cy="1240"/>
            </a:xfrm>
          </p:grpSpPr>
          <p:sp>
            <p:nvSpPr>
              <p:cNvPr id="272" name="流程图: 准备 271"/>
              <p:cNvSpPr/>
              <p:nvPr/>
            </p:nvSpPr>
            <p:spPr>
              <a:xfrm>
                <a:off x="3737" y="1887"/>
                <a:ext cx="4323" cy="1240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82" name="流程图: 准备 281"/>
              <p:cNvSpPr/>
              <p:nvPr/>
            </p:nvSpPr>
            <p:spPr>
              <a:xfrm>
                <a:off x="3025" y="1887"/>
                <a:ext cx="4684" cy="1228"/>
              </a:xfrm>
              <a:prstGeom prst="flowChartPreparat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283" name="流程图: 准备 282"/>
              <p:cNvSpPr/>
              <p:nvPr/>
            </p:nvSpPr>
            <p:spPr>
              <a:xfrm>
                <a:off x="3229" y="1887"/>
                <a:ext cx="4653" cy="1213"/>
              </a:xfrm>
              <a:prstGeom prst="flowChartPreparation">
                <a:avLst/>
              </a:prstGeom>
              <a:gradFill>
                <a:gsLst>
                  <a:gs pos="0">
                    <a:schemeClr val="accent4">
                      <a:lumMod val="7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0"/>
              </a:gradFill>
              <a:ln>
                <a:solidFill>
                  <a:srgbClr val="FFFF00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buClrTx/>
                  <a:buSzTx/>
                  <a:buFontTx/>
                </a:pPr>
                <a:r>
                  <a:rPr lang="en-US" altLang="zh-CN" sz="4000" dirty="0">
                    <a:ln>
                      <a:solidFill>
                        <a:schemeClr val="tx1"/>
                      </a:solidFill>
                    </a:ln>
                    <a:solidFill>
                      <a:schemeClr val="bg1"/>
                    </a:solidFill>
                    <a:latin typeface="汉仪菱心体简" panose="02010400000101010101" charset="-122"/>
                    <a:ea typeface="汉仪菱心体简" panose="02010400000101010101" charset="-122"/>
                    <a:cs typeface="汉仪菱心体简" panose="02010400000101010101" charset="-122"/>
                  </a:rPr>
                  <a:t>  </a:t>
                </a:r>
                <a:r>
                  <a:rPr lang="zh-CN" altLang="en-US" sz="2895" dirty="0">
                    <a:ln w="0">
                      <a:noFill/>
                    </a:ln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rgbClr val="0068BF">
                          <a:lumMod val="50000"/>
                          <a:alpha val="40000"/>
                        </a:srgbClr>
                      </a:outerShdw>
                    </a:effectLst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演示古风宋 Heavy" panose="02000600000000000000" pitchFamily="2" charset="-122"/>
                  </a:rPr>
                  <a:t>途径</a:t>
                </a:r>
              </a:p>
            </p:txBody>
          </p:sp>
        </p:grpSp>
        <p:sp>
          <p:nvSpPr>
            <p:cNvPr id="292" name="文本框 291"/>
            <p:cNvSpPr txBox="1"/>
            <p:nvPr/>
          </p:nvSpPr>
          <p:spPr>
            <a:xfrm>
              <a:off x="13017" y="3237"/>
              <a:ext cx="1582" cy="15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48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5 </a:t>
              </a:r>
              <a:endParaRPr lang="en-US" altLang="zh-CN" sz="7200" b="1" dirty="0">
                <a:solidFill>
                  <a:schemeClr val="bg1"/>
                </a:solidFill>
                <a:latin typeface="汉仪力量黑简" panose="00020600040101010101" charset="-122"/>
                <a:ea typeface="汉仪力量黑简" panose="00020600040101010101" charset="-122"/>
                <a:cs typeface="汉仪菱心体简" panose="02010400000101010101" charset="-122"/>
                <a:sym typeface="+mn-ea"/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757530" y="4102682"/>
            <a:ext cx="3515938" cy="529590"/>
            <a:chOff x="4550465" y="1855742"/>
            <a:chExt cx="3080004" cy="512442"/>
          </a:xfrm>
        </p:grpSpPr>
        <p:sp>
          <p:nvSpPr>
            <p:cNvPr id="294" name="矩形: 圆角 141"/>
            <p:cNvSpPr/>
            <p:nvPr/>
          </p:nvSpPr>
          <p:spPr>
            <a:xfrm>
              <a:off x="4550465" y="1855742"/>
              <a:ext cx="3080004" cy="496383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1638" cap="flat" cmpd="sng" algn="ctr">
              <a:solidFill>
                <a:srgbClr val="0068BF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102423" dist="55867" dir="5400000" algn="t" rotWithShape="0">
                <a:srgbClr val="0068BF">
                  <a:alpha val="29000"/>
                </a:srgbClr>
              </a:outerShdw>
            </a:effectLst>
          </p:spPr>
          <p:txBody>
            <a:bodyPr lIns="69283" tIns="34642" rIns="69283" bIns="34642" rtlCol="0" anchor="ctr"/>
            <a:lstStyle/>
            <a:p>
              <a:pPr algn="just"/>
              <a:endParaRPr lang="zh-CN" altLang="en-US" sz="1240" kern="0" dirty="0">
                <a:solidFill>
                  <a:srgbClr val="FFFFFF"/>
                </a:solidFill>
                <a:latin typeface="OPPOSans M" panose="00020600040101010101" pitchFamily="18" charset="-122"/>
                <a:ea typeface="OPPOSans M" panose="00020600040101010101" pitchFamily="18" charset="-122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4723464" y="1858814"/>
              <a:ext cx="2759644" cy="50937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2480" b="1" dirty="0">
                  <a:solidFill>
                    <a:srgbClr val="0068BF"/>
                  </a:solidFill>
                  <a:latin typeface="OPPOSans M" panose="00020600040101010101" pitchFamily="18" charset="-122"/>
                </a:rPr>
                <a:t>缓冲区池机制</a:t>
              </a:r>
            </a:p>
          </p:txBody>
        </p:sp>
      </p:grpSp>
      <p:grpSp>
        <p:nvGrpSpPr>
          <p:cNvPr id="296" name="组合 295"/>
          <p:cNvGrpSpPr/>
          <p:nvPr/>
        </p:nvGrpSpPr>
        <p:grpSpPr>
          <a:xfrm>
            <a:off x="752450" y="3449902"/>
            <a:ext cx="3515938" cy="529590"/>
            <a:chOff x="4550465" y="1855742"/>
            <a:chExt cx="3080004" cy="512442"/>
          </a:xfrm>
        </p:grpSpPr>
        <p:sp>
          <p:nvSpPr>
            <p:cNvPr id="297" name="矩形: 圆角 141"/>
            <p:cNvSpPr/>
            <p:nvPr/>
          </p:nvSpPr>
          <p:spPr>
            <a:xfrm>
              <a:off x="4550465" y="1855742"/>
              <a:ext cx="3080004" cy="496383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1638" cap="flat" cmpd="sng" algn="ctr">
              <a:solidFill>
                <a:srgbClr val="0068BF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102423" dist="55867" dir="5400000" algn="t" rotWithShape="0">
                <a:srgbClr val="0068BF">
                  <a:alpha val="29000"/>
                </a:srgbClr>
              </a:outerShdw>
            </a:effectLst>
          </p:spPr>
          <p:txBody>
            <a:bodyPr lIns="69283" tIns="34642" rIns="69283" bIns="34642" rtlCol="0" anchor="ctr"/>
            <a:lstStyle/>
            <a:p>
              <a:pPr algn="just"/>
              <a:endParaRPr lang="zh-CN" altLang="en-US" sz="1240" kern="0" dirty="0">
                <a:solidFill>
                  <a:srgbClr val="FFFFFF"/>
                </a:solidFill>
                <a:latin typeface="OPPOSans M" panose="00020600040101010101" pitchFamily="18" charset="-122"/>
                <a:ea typeface="OPPOSans M" panose="00020600040101010101" pitchFamily="18" charset="-122"/>
              </a:endParaRPr>
            </a:p>
          </p:txBody>
        </p:sp>
        <p:sp>
          <p:nvSpPr>
            <p:cNvPr id="298" name="文本框 297"/>
            <p:cNvSpPr txBox="1"/>
            <p:nvPr/>
          </p:nvSpPr>
          <p:spPr>
            <a:xfrm>
              <a:off x="4723464" y="1858814"/>
              <a:ext cx="2759644" cy="50937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2480" b="1" dirty="0">
                  <a:solidFill>
                    <a:srgbClr val="0068BF"/>
                  </a:solidFill>
                  <a:latin typeface="OPPOSans M" panose="00020600040101010101" pitchFamily="18" charset="-122"/>
                </a:rPr>
                <a:t>全自动参数优化框架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/>
          <p:cNvSpPr/>
          <p:nvPr/>
        </p:nvSpPr>
        <p:spPr>
          <a:xfrm rot="5400000">
            <a:off x="6041555" y="-4900279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204000" y="903741"/>
            <a:ext cx="1219073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底层算子优化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1 | 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全自动调优框架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176645" y="1606550"/>
            <a:ext cx="6009640" cy="3019431"/>
            <a:chOff x="9663" y="2575"/>
            <a:chExt cx="9528" cy="4710"/>
          </a:xfrm>
        </p:grpSpPr>
        <p:sp>
          <p:nvSpPr>
            <p:cNvPr id="59" name="矩形 58"/>
            <p:cNvSpPr/>
            <p:nvPr>
              <p:custDataLst>
                <p:tags r:id="rId14"/>
              </p:custDataLst>
            </p:nvPr>
          </p:nvSpPr>
          <p:spPr>
            <a:xfrm>
              <a:off x="9663" y="2575"/>
              <a:ext cx="9528" cy="4564"/>
            </a:xfrm>
            <a:prstGeom prst="rect">
              <a:avLst/>
            </a:prstGeom>
            <a:solidFill>
              <a:schemeClr val="accent1">
                <a:lumMod val="781"/>
                <a:lumOff val="99219"/>
              </a:schemeClr>
            </a:solidFill>
            <a:ln w="12700" cap="flat" cmpd="sng" algn="ctr">
              <a:solidFill>
                <a:schemeClr val="accent1">
                  <a:lumMod val="92969"/>
                  <a:alpha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76200" dist="38100" sx="101000" sy="101000" algn="tr" rotWithShape="0">
                <a:schemeClr val="accent1">
                  <a:lumMod val="92969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sym typeface="MiSans Normal" panose="00000500000000000000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0253" y="2703"/>
              <a:ext cx="2526" cy="1965"/>
              <a:chOff x="1913" y="8011"/>
              <a:chExt cx="3372" cy="2522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2083" y="8753"/>
                <a:ext cx="3202" cy="1780"/>
              </a:xfrm>
              <a:prstGeom prst="roundRect">
                <a:avLst>
                  <a:gd name="adj" fmla="val 2383"/>
                </a:avLst>
              </a:prstGeom>
              <a:solidFill>
                <a:schemeClr val="accent1">
                  <a:lumMod val="20000"/>
                  <a:lumOff val="80000"/>
                  <a:alpha val="68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 algn="ctr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kumimoji="1" lang="zh-CN" altLang="en-US" sz="14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</a:rPr>
                  <a:t>全局工作组</a:t>
                </a:r>
              </a:p>
              <a:p>
                <a:pPr marL="171450" indent="-171450" algn="ctr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kumimoji="1" lang="zh-CN" altLang="en-US" sz="14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  <a:sym typeface="+mn-ea"/>
                  </a:rPr>
                  <a:t>局部内存</a:t>
                </a:r>
                <a:r>
                  <a:rPr kumimoji="1" lang="zh-CN" altLang="en-US" sz="1400" noProof="0" dirty="0">
                    <a:ln>
                      <a:noFill/>
                    </a:ln>
                    <a:solidFill>
                      <a:srgbClr val="D3EBFF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  <a:sym typeface="+mn-ea"/>
                  </a:rPr>
                  <a:t>阿</a:t>
                </a:r>
                <a:endParaRPr kumimoji="1" lang="zh-CN" altLang="en-US" sz="1400" noProof="0" dirty="0">
                  <a:ln>
                    <a:noFill/>
                  </a:ln>
                  <a:solidFill>
                    <a:srgbClr val="D3EBFF"/>
                  </a:solidFill>
                  <a:effectLst/>
                  <a:uLnTx/>
                  <a:uFillTx/>
                  <a:latin typeface="+mn-ea"/>
                  <a:cs typeface="OPPOSans M" panose="00020600040101010101" pitchFamily="18" charset="-122"/>
                </a:endParaRPr>
              </a:p>
              <a:p>
                <a:pPr marL="171450" indent="-171450" algn="ctr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kumimoji="1" lang="zh-CN" altLang="en-US" sz="14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</a:rPr>
                  <a:t>矩阵分块</a:t>
                </a:r>
                <a:r>
                  <a:rPr kumimoji="1" lang="zh-CN" altLang="en-US" sz="1200" noProof="0" dirty="0">
                    <a:ln>
                      <a:noFill/>
                    </a:ln>
                    <a:solidFill>
                      <a:srgbClr val="D3EBFF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</a:rPr>
                  <a:t>阿</a:t>
                </a:r>
                <a:r>
                  <a:rPr kumimoji="1" lang="en-US" altLang="zh-CN" sz="1200" noProof="0" dirty="0">
                    <a:ln>
                      <a:noFill/>
                    </a:ln>
                    <a:solidFill>
                      <a:srgbClr val="D3EBFF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</a:rPr>
                  <a:t> </a:t>
                </a:r>
                <a:r>
                  <a:rPr kumimoji="1" lang="en-US" altLang="zh-CN" sz="12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</a:rPr>
                  <a:t>    </a:t>
                </a:r>
                <a:endParaRPr kumimoji="1" lang="en-US" altLang="zh-CN" sz="16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OPPOSans M" panose="00020600040101010101" pitchFamily="18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913" y="8011"/>
                <a:ext cx="3201" cy="658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  <a:effectLst>
                <a:softEdge rad="254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60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定义优化参数</a:t>
                </a: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8" y="4480"/>
              <a:ext cx="766" cy="280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indent="0" algn="ctr" fontAlgn="auto">
                <a:lnSpc>
                  <a:spcPct val="170000"/>
                </a:lnSpc>
              </a:pPr>
              <a:r>
                <a:rPr kumimoji="1" lang="zh-CN" altLang="en-US" sz="24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思源宋体 CN Heavy" panose="02020900000000000000" pitchFamily="18" charset="-122"/>
                </a:rPr>
                <a:t>搜索空间</a:t>
              </a: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13236" y="3324"/>
              <a:ext cx="2439" cy="642"/>
              <a:chOff x="2926" y="9224"/>
              <a:chExt cx="5396" cy="1258"/>
            </a:xfrm>
          </p:grpSpPr>
          <p:sp>
            <p:nvSpPr>
              <p:cNvPr id="170" name="流程图: 准备 169"/>
              <p:cNvSpPr/>
              <p:nvPr/>
            </p:nvSpPr>
            <p:spPr>
              <a:xfrm>
                <a:off x="3050" y="9290"/>
                <a:ext cx="5272" cy="1192"/>
              </a:xfrm>
              <a:prstGeom prst="flowChartPreparation">
                <a:avLst/>
              </a:prstGeom>
              <a:solidFill>
                <a:schemeClr val="accent1">
                  <a:lumMod val="50000"/>
                  <a:alpha val="2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41" name="流程图: 准备 140"/>
              <p:cNvSpPr/>
              <p:nvPr/>
            </p:nvSpPr>
            <p:spPr>
              <a:xfrm>
                <a:off x="2926" y="9224"/>
                <a:ext cx="5272" cy="1192"/>
              </a:xfrm>
              <a:prstGeom prst="flowChartPreparation">
                <a:avLst/>
              </a:prstGeom>
              <a:solidFill>
                <a:srgbClr val="0068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zh-CN" altLang="en-US" sz="200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  <a:sym typeface="思源宋体 CN Heavy" panose="02020900000000000000" pitchFamily="18" charset="-122"/>
                  </a:rPr>
                  <a:t>评估器</a:t>
                </a:r>
              </a:p>
            </p:txBody>
          </p:sp>
        </p:grpSp>
        <p:sp>
          <p:nvSpPr>
            <p:cNvPr id="103" name="矩形 102"/>
            <p:cNvSpPr/>
            <p:nvPr/>
          </p:nvSpPr>
          <p:spPr>
            <a:xfrm>
              <a:off x="16296" y="2715"/>
              <a:ext cx="2866" cy="4216"/>
            </a:xfrm>
            <a:prstGeom prst="rect">
              <a:avLst/>
            </a:prstGeom>
            <a:noFill/>
            <a:ln w="1905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16337" y="3146"/>
              <a:ext cx="2733" cy="3444"/>
              <a:chOff x="4851" y="7620"/>
              <a:chExt cx="2762" cy="3032"/>
            </a:xfrm>
          </p:grpSpPr>
          <p:cxnSp>
            <p:nvCxnSpPr>
              <p:cNvPr id="149" name="直接箭头连接符 148"/>
              <p:cNvCxnSpPr/>
              <p:nvPr/>
            </p:nvCxnSpPr>
            <p:spPr>
              <a:xfrm>
                <a:off x="7343" y="8135"/>
                <a:ext cx="10" cy="1995"/>
              </a:xfrm>
              <a:prstGeom prst="straightConnector1">
                <a:avLst/>
              </a:prstGeom>
              <a:ln w="19050">
                <a:gradFill>
                  <a:gsLst>
                    <a:gs pos="0">
                      <a:srgbClr val="4398D6"/>
                    </a:gs>
                    <a:gs pos="100000">
                      <a:srgbClr val="4398D6"/>
                    </a:gs>
                    <a:gs pos="66000">
                      <a:srgbClr val="FFFFFF"/>
                    </a:gs>
                    <a:gs pos="38000">
                      <a:srgbClr val="FFFFFF"/>
                    </a:gs>
                  </a:gsLst>
                  <a:lin ang="5400000" scaled="0"/>
                </a:gra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/>
              <p:cNvCxnSpPr/>
              <p:nvPr/>
            </p:nvCxnSpPr>
            <p:spPr>
              <a:xfrm>
                <a:off x="6921" y="8132"/>
                <a:ext cx="10" cy="1995"/>
              </a:xfrm>
              <a:prstGeom prst="straightConnector1">
                <a:avLst/>
              </a:prstGeom>
              <a:ln w="19050">
                <a:gradFill>
                  <a:gsLst>
                    <a:gs pos="0">
                      <a:srgbClr val="4398D6"/>
                    </a:gs>
                    <a:gs pos="100000">
                      <a:srgbClr val="4398D6"/>
                    </a:gs>
                    <a:gs pos="66000">
                      <a:srgbClr val="FFFFFF"/>
                    </a:gs>
                    <a:gs pos="38000">
                      <a:srgbClr val="FFFFFF"/>
                    </a:gs>
                  </a:gsLst>
                  <a:lin ang="5400000" scaled="0"/>
                </a:gra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箭头连接符 146"/>
              <p:cNvCxnSpPr/>
              <p:nvPr/>
            </p:nvCxnSpPr>
            <p:spPr>
              <a:xfrm>
                <a:off x="6485" y="8139"/>
                <a:ext cx="10" cy="1995"/>
              </a:xfrm>
              <a:prstGeom prst="straightConnector1">
                <a:avLst/>
              </a:prstGeom>
              <a:ln w="19050">
                <a:gradFill>
                  <a:gsLst>
                    <a:gs pos="0">
                      <a:srgbClr val="4398D6"/>
                    </a:gs>
                    <a:gs pos="100000">
                      <a:srgbClr val="4398D6"/>
                    </a:gs>
                    <a:gs pos="66000">
                      <a:srgbClr val="FFFFFF"/>
                    </a:gs>
                    <a:gs pos="38000">
                      <a:srgbClr val="FFFFFF"/>
                    </a:gs>
                  </a:gsLst>
                  <a:lin ang="5400000" scaled="0"/>
                </a:gra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/>
            </p:nvCxnSpPr>
            <p:spPr>
              <a:xfrm>
                <a:off x="6064" y="8148"/>
                <a:ext cx="10" cy="1995"/>
              </a:xfrm>
              <a:prstGeom prst="straightConnector1">
                <a:avLst/>
              </a:prstGeom>
              <a:ln w="19050">
                <a:gradFill>
                  <a:gsLst>
                    <a:gs pos="0">
                      <a:srgbClr val="4398D6"/>
                    </a:gs>
                    <a:gs pos="100000">
                      <a:srgbClr val="4398D6"/>
                    </a:gs>
                    <a:gs pos="66000">
                      <a:srgbClr val="FFFFFF"/>
                    </a:gs>
                    <a:gs pos="38000">
                      <a:srgbClr val="FFFFFF"/>
                    </a:gs>
                  </a:gsLst>
                  <a:lin ang="5400000" scaled="0"/>
                </a:gra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矩形 35"/>
              <p:cNvSpPr/>
              <p:nvPr/>
            </p:nvSpPr>
            <p:spPr>
              <a:xfrm>
                <a:off x="5518" y="7630"/>
                <a:ext cx="2095" cy="510"/>
              </a:xfrm>
              <a:prstGeom prst="rect">
                <a:avLst/>
              </a:prstGeom>
              <a:solidFill>
                <a:srgbClr val="0068B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en-US" altLang="zh-CN"/>
              </a:p>
            </p:txBody>
          </p:sp>
          <p:graphicFrame>
            <p:nvGraphicFramePr>
              <p:cNvPr id="41" name="对象 4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858" y="7642"/>
              <a:ext cx="641" cy="4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304800" imgH="190500" progId="Equation.KSEE3">
                      <p:embed/>
                    </p:oleObj>
                  </mc:Choice>
                  <mc:Fallback>
                    <p:oleObj r:id="rId20" imgW="304800" imgH="1905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858" y="7642"/>
                            <a:ext cx="641" cy="43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3" name="直接连接符 42"/>
              <p:cNvCxnSpPr/>
              <p:nvPr/>
            </p:nvCxnSpPr>
            <p:spPr>
              <a:xfrm>
                <a:off x="5892" y="762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6292" y="7633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6707" y="762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7155" y="7633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51" name="对象 5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551" y="7642"/>
              <a:ext cx="321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52400" imgH="215900" progId="Equation.KSEE3">
                      <p:embed/>
                    </p:oleObj>
                  </mc:Choice>
                  <mc:Fallback>
                    <p:oleObj r:id="rId22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551" y="7642"/>
                            <a:ext cx="321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对象 52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914" y="7642"/>
              <a:ext cx="348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4" imgW="165100" imgH="215900" progId="Equation.KSEE3">
                      <p:embed/>
                    </p:oleObj>
                  </mc:Choice>
                  <mc:Fallback>
                    <p:oleObj r:id="rId24" imgW="1651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5914" y="7642"/>
                            <a:ext cx="348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对象 5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321" y="7636"/>
              <a:ext cx="348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6" imgW="165100" imgH="228600" progId="Equation.KSEE3">
                      <p:embed/>
                    </p:oleObj>
                  </mc:Choice>
                  <mc:Fallback>
                    <p:oleObj r:id="rId26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6321" y="7636"/>
                            <a:ext cx="348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对象 6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773" y="7642"/>
              <a:ext cx="348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8" imgW="165100" imgH="215900" progId="Equation.KSEE3">
                      <p:embed/>
                    </p:oleObj>
                  </mc:Choice>
                  <mc:Fallback>
                    <p:oleObj r:id="rId28" imgW="1651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6773" y="7642"/>
                            <a:ext cx="348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对象 6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216" y="7632"/>
              <a:ext cx="348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0" imgW="165100" imgH="228600" progId="Equation.KSEE3">
                      <p:embed/>
                    </p:oleObj>
                  </mc:Choice>
                  <mc:Fallback>
                    <p:oleObj r:id="rId30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7216" y="7632"/>
                            <a:ext cx="348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0" name="直接箭头连接符 69"/>
              <p:cNvCxnSpPr>
                <a:stCxn id="51" idx="2"/>
              </p:cNvCxnSpPr>
              <p:nvPr/>
            </p:nvCxnSpPr>
            <p:spPr>
              <a:xfrm>
                <a:off x="5711" y="8137"/>
                <a:ext cx="10" cy="1995"/>
              </a:xfrm>
              <a:prstGeom prst="straightConnector1">
                <a:avLst/>
              </a:prstGeom>
              <a:ln w="19050">
                <a:gradFill>
                  <a:gsLst>
                    <a:gs pos="0">
                      <a:srgbClr val="4398D6"/>
                    </a:gs>
                    <a:gs pos="100000">
                      <a:srgbClr val="4398D6"/>
                    </a:gs>
                    <a:gs pos="66000">
                      <a:srgbClr val="FFFFFF"/>
                    </a:gs>
                    <a:gs pos="38000">
                      <a:srgbClr val="FFFFFF"/>
                    </a:gs>
                  </a:gsLst>
                  <a:lin ang="5400000" scaled="0"/>
                </a:gra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1" name="矩形 70"/>
              <p:cNvSpPr/>
              <p:nvPr/>
            </p:nvSpPr>
            <p:spPr>
              <a:xfrm>
                <a:off x="5518" y="8930"/>
                <a:ext cx="2095" cy="510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en-US" altLang="zh-CN"/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>
                <a:off x="5892" y="892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6292" y="8933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6707" y="892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7155" y="8933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82" name="对象 81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534" y="8935"/>
              <a:ext cx="348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2" imgW="165100" imgH="215900" progId="Equation.KSEE3">
                      <p:embed/>
                    </p:oleObj>
                  </mc:Choice>
                  <mc:Fallback>
                    <p:oleObj r:id="rId32" imgW="1651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5534" y="8935"/>
                            <a:ext cx="348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" name="对象 83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851" y="8959"/>
              <a:ext cx="615" cy="4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4" imgW="292100" imgH="203200" progId="Equation.KSEE3">
                      <p:embed/>
                    </p:oleObj>
                  </mc:Choice>
                  <mc:Fallback>
                    <p:oleObj r:id="rId34" imgW="292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4851" y="8959"/>
                            <a:ext cx="615" cy="46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" name="对象 8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890" y="8930"/>
              <a:ext cx="402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6" imgW="190500" imgH="215900" progId="Equation.KSEE3">
                      <p:embed/>
                    </p:oleObj>
                  </mc:Choice>
                  <mc:Fallback>
                    <p:oleObj r:id="rId36" imgW="1905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7"/>
                          <a:stretch>
                            <a:fillRect/>
                          </a:stretch>
                        </p:blipFill>
                        <p:spPr>
                          <a:xfrm>
                            <a:off x="5890" y="8930"/>
                            <a:ext cx="402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对象 8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308" y="8930"/>
              <a:ext cx="374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8" imgW="177165" imgH="228600" progId="Equation.KSEE3">
                      <p:embed/>
                    </p:oleObj>
                  </mc:Choice>
                  <mc:Fallback>
                    <p:oleObj r:id="rId38" imgW="177165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9"/>
                          <a:stretch>
                            <a:fillRect/>
                          </a:stretch>
                        </p:blipFill>
                        <p:spPr>
                          <a:xfrm>
                            <a:off x="6308" y="8930"/>
                            <a:ext cx="374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0" name="对象 8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746" y="8935"/>
              <a:ext cx="402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0" imgW="190500" imgH="215900" progId="Equation.KSEE3">
                      <p:embed/>
                    </p:oleObj>
                  </mc:Choice>
                  <mc:Fallback>
                    <p:oleObj r:id="rId40" imgW="1905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1"/>
                          <a:stretch>
                            <a:fillRect/>
                          </a:stretch>
                        </p:blipFill>
                        <p:spPr>
                          <a:xfrm>
                            <a:off x="6746" y="8935"/>
                            <a:ext cx="402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对象 91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203" y="8930"/>
              <a:ext cx="374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2" imgW="177165" imgH="228600" progId="Equation.KSEE3">
                      <p:embed/>
                    </p:oleObj>
                  </mc:Choice>
                  <mc:Fallback>
                    <p:oleObj r:id="rId42" imgW="177165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3"/>
                          <a:stretch>
                            <a:fillRect/>
                          </a:stretch>
                        </p:blipFill>
                        <p:spPr>
                          <a:xfrm>
                            <a:off x="7203" y="8930"/>
                            <a:ext cx="374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" name="矩形 122"/>
              <p:cNvSpPr/>
              <p:nvPr/>
            </p:nvSpPr>
            <p:spPr>
              <a:xfrm>
                <a:off x="5499" y="10127"/>
                <a:ext cx="2095" cy="510"/>
              </a:xfrm>
              <a:prstGeom prst="rect">
                <a:avLst/>
              </a:prstGeom>
              <a:solidFill>
                <a:srgbClr val="0068B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en-US" altLang="zh-CN"/>
              </a:p>
            </p:txBody>
          </p:sp>
          <p:cxnSp>
            <p:nvCxnSpPr>
              <p:cNvPr id="124" name="直接连接符 123"/>
              <p:cNvCxnSpPr/>
              <p:nvPr/>
            </p:nvCxnSpPr>
            <p:spPr>
              <a:xfrm>
                <a:off x="5873" y="10117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6273" y="1013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6688" y="10117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7136" y="10130"/>
                <a:ext cx="5" cy="507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28" name="对象 12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531" y="10142"/>
              <a:ext cx="322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4" imgW="152400" imgH="215900" progId="Equation.KSEE3">
                      <p:embed/>
                    </p:oleObj>
                  </mc:Choice>
                  <mc:Fallback>
                    <p:oleObj r:id="rId44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5"/>
                          <a:stretch>
                            <a:fillRect/>
                          </a:stretch>
                        </p:blipFill>
                        <p:spPr>
                          <a:xfrm>
                            <a:off x="5531" y="10142"/>
                            <a:ext cx="322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0" name="对象 12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882" y="10132"/>
              <a:ext cx="374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6" imgW="177165" imgH="215900" progId="Equation.KSEE3">
                      <p:embed/>
                    </p:oleObj>
                  </mc:Choice>
                  <mc:Fallback>
                    <p:oleObj r:id="rId46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7"/>
                          <a:stretch>
                            <a:fillRect/>
                          </a:stretch>
                        </p:blipFill>
                        <p:spPr>
                          <a:xfrm>
                            <a:off x="5882" y="10132"/>
                            <a:ext cx="374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2" name="对象 131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302" y="10127"/>
              <a:ext cx="349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8" imgW="165100" imgH="228600" progId="Equation.KSEE3">
                      <p:embed/>
                    </p:oleObj>
                  </mc:Choice>
                  <mc:Fallback>
                    <p:oleObj r:id="rId48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9"/>
                          <a:stretch>
                            <a:fillRect/>
                          </a:stretch>
                        </p:blipFill>
                        <p:spPr>
                          <a:xfrm>
                            <a:off x="6302" y="10127"/>
                            <a:ext cx="349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4" name="对象 133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741" y="10132"/>
              <a:ext cx="374" cy="4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0" imgW="177165" imgH="215900" progId="Equation.KSEE3">
                      <p:embed/>
                    </p:oleObj>
                  </mc:Choice>
                  <mc:Fallback>
                    <p:oleObj r:id="rId50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1"/>
                          <a:stretch>
                            <a:fillRect/>
                          </a:stretch>
                        </p:blipFill>
                        <p:spPr>
                          <a:xfrm>
                            <a:off x="6741" y="10132"/>
                            <a:ext cx="374" cy="49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6" name="对象 13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197" y="10127"/>
              <a:ext cx="349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2" imgW="165100" imgH="228600" progId="Equation.KSEE3">
                      <p:embed/>
                    </p:oleObj>
                  </mc:Choice>
                  <mc:Fallback>
                    <p:oleObj r:id="rId52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3"/>
                          <a:stretch>
                            <a:fillRect/>
                          </a:stretch>
                        </p:blipFill>
                        <p:spPr>
                          <a:xfrm>
                            <a:off x="7197" y="10127"/>
                            <a:ext cx="349" cy="5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8" name="对象 13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931" y="10149"/>
              <a:ext cx="535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4" imgW="254000" imgH="190500" progId="Equation.KSEE3">
                      <p:embed/>
                    </p:oleObj>
                  </mc:Choice>
                  <mc:Fallback>
                    <p:oleObj r:id="rId54" imgW="254000" imgH="1905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5"/>
                          <a:stretch>
                            <a:fillRect/>
                          </a:stretch>
                        </p:blipFill>
                        <p:spPr>
                          <a:xfrm>
                            <a:off x="4931" y="10149"/>
                            <a:ext cx="535" cy="4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4" name="肘形连接符 103"/>
            <p:cNvCxnSpPr/>
            <p:nvPr/>
          </p:nvCxnSpPr>
          <p:spPr>
            <a:xfrm flipV="1">
              <a:off x="12108" y="6335"/>
              <a:ext cx="4167" cy="5"/>
            </a:xfrm>
            <a:prstGeom prst="bentConnector3">
              <a:avLst>
                <a:gd name="adj1" fmla="val 50358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肘形连接符 117"/>
            <p:cNvCxnSpPr>
              <a:endCxn id="4" idx="6"/>
            </p:cNvCxnSpPr>
            <p:nvPr/>
          </p:nvCxnSpPr>
          <p:spPr>
            <a:xfrm rot="5400000">
              <a:off x="11676" y="4315"/>
              <a:ext cx="2234" cy="875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组合 121"/>
            <p:cNvGrpSpPr/>
            <p:nvPr/>
          </p:nvGrpSpPr>
          <p:grpSpPr>
            <a:xfrm>
              <a:off x="10585" y="5006"/>
              <a:ext cx="1771" cy="1727"/>
              <a:chOff x="9251" y="4195"/>
              <a:chExt cx="2084" cy="1834"/>
            </a:xfrm>
          </p:grpSpPr>
          <p:grpSp>
            <p:nvGrpSpPr>
              <p:cNvPr id="96" name="组合 95"/>
              <p:cNvGrpSpPr/>
              <p:nvPr/>
            </p:nvGrpSpPr>
            <p:grpSpPr>
              <a:xfrm>
                <a:off x="9251" y="4195"/>
                <a:ext cx="2084" cy="1835"/>
                <a:chOff x="15819" y="2306"/>
                <a:chExt cx="2450" cy="2188"/>
              </a:xfrm>
            </p:grpSpPr>
            <p:sp>
              <p:nvSpPr>
                <p:cNvPr id="4" name="椭圆 3"/>
                <p:cNvSpPr/>
                <p:nvPr/>
              </p:nvSpPr>
              <p:spPr>
                <a:xfrm>
                  <a:off x="15819" y="2306"/>
                  <a:ext cx="2451" cy="2189"/>
                </a:xfrm>
                <a:prstGeom prst="ellipse">
                  <a:avLst/>
                </a:prstGeom>
                <a:solidFill>
                  <a:srgbClr val="0068BF"/>
                </a:solidFill>
                <a:ln w="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0" name="直接连接符 9"/>
                <p:cNvCxnSpPr>
                  <a:stCxn id="4" idx="1"/>
                  <a:endCxn id="4" idx="7"/>
                </p:cNvCxnSpPr>
                <p:nvPr/>
              </p:nvCxnSpPr>
              <p:spPr>
                <a:xfrm>
                  <a:off x="16178" y="2627"/>
                  <a:ext cx="1733" cy="0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>
                  <a:stCxn id="4" idx="1"/>
                  <a:endCxn id="4" idx="3"/>
                </p:cNvCxnSpPr>
                <p:nvPr/>
              </p:nvCxnSpPr>
              <p:spPr>
                <a:xfrm>
                  <a:off x="16178" y="2627"/>
                  <a:ext cx="0" cy="1547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>
                  <a:stCxn id="4" idx="5"/>
                  <a:endCxn id="4" idx="3"/>
                </p:cNvCxnSpPr>
                <p:nvPr/>
              </p:nvCxnSpPr>
              <p:spPr>
                <a:xfrm flipH="1">
                  <a:off x="16178" y="4174"/>
                  <a:ext cx="1733" cy="0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>
                  <a:endCxn id="4" idx="5"/>
                </p:cNvCxnSpPr>
                <p:nvPr/>
              </p:nvCxnSpPr>
              <p:spPr>
                <a:xfrm>
                  <a:off x="17905" y="2614"/>
                  <a:ext cx="6" cy="1560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4" idx="6"/>
                  <a:endCxn id="4" idx="2"/>
                </p:cNvCxnSpPr>
                <p:nvPr/>
              </p:nvCxnSpPr>
              <p:spPr>
                <a:xfrm flipH="1">
                  <a:off x="15819" y="3401"/>
                  <a:ext cx="2451" cy="0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>
                  <a:stCxn id="4" idx="0"/>
                  <a:endCxn id="4" idx="4"/>
                </p:cNvCxnSpPr>
                <p:nvPr/>
              </p:nvCxnSpPr>
              <p:spPr>
                <a:xfrm>
                  <a:off x="17045" y="2306"/>
                  <a:ext cx="0" cy="2189"/>
                </a:xfrm>
                <a:prstGeom prst="line">
                  <a:avLst/>
                </a:prstGeom>
                <a:ln>
                  <a:solidFill>
                    <a:srgbClr val="2BCC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>
                  <a:endCxn id="4" idx="7"/>
                </p:cNvCxnSpPr>
                <p:nvPr/>
              </p:nvCxnSpPr>
              <p:spPr>
                <a:xfrm>
                  <a:off x="17031" y="2619"/>
                  <a:ext cx="880" cy="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17039" y="2624"/>
                  <a:ext cx="0" cy="80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17034" y="3399"/>
                  <a:ext cx="855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17909" y="2619"/>
                  <a:ext cx="0" cy="77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7" name="对象 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6306" y="2788"/>
                <a:ext cx="615" cy="4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56" imgW="292100" imgH="190500" progId="Equation.KSEE3">
                        <p:embed/>
                      </p:oleObj>
                    </mc:Choice>
                    <mc:Fallback>
                      <p:oleObj r:id="rId56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5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306" y="2788"/>
                              <a:ext cx="615" cy="43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对象 28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7150" y="2788"/>
                <a:ext cx="642" cy="4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58" imgW="304800" imgH="190500" progId="Equation.KSEE3">
                        <p:embed/>
                      </p:oleObj>
                    </mc:Choice>
                    <mc:Fallback>
                      <p:oleObj r:id="rId58" imgW="3048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5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7150" y="2788"/>
                              <a:ext cx="642" cy="43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1" name="对象 30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7150" y="3588"/>
                <a:ext cx="642" cy="4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0" imgW="304800" imgH="190500" progId="Equation.KSEE3">
                        <p:embed/>
                      </p:oleObj>
                    </mc:Choice>
                    <mc:Fallback>
                      <p:oleObj r:id="rId60" imgW="3048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6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7150" y="3588"/>
                              <a:ext cx="642" cy="43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" name="对象 32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6279" y="3588"/>
                <a:ext cx="642" cy="4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2" imgW="304800" imgH="190500" progId="Equation.KSEE3">
                        <p:embed/>
                      </p:oleObj>
                    </mc:Choice>
                    <mc:Fallback>
                      <p:oleObj r:id="rId62" imgW="3048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6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279" y="3588"/>
                              <a:ext cx="642" cy="43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21" name="直接箭头连接符 120"/>
              <p:cNvCxnSpPr>
                <a:stCxn id="29" idx="2"/>
                <a:endCxn id="31" idx="0"/>
              </p:cNvCxnSpPr>
              <p:nvPr/>
            </p:nvCxnSpPr>
            <p:spPr>
              <a:xfrm>
                <a:off x="10656" y="4965"/>
                <a:ext cx="0" cy="305"/>
              </a:xfrm>
              <a:prstGeom prst="straightConnector1">
                <a:avLst/>
              </a:prstGeom>
              <a:ln>
                <a:solidFill>
                  <a:srgbClr val="FFF4D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9" name="肘形连接符 128"/>
            <p:cNvCxnSpPr/>
            <p:nvPr/>
          </p:nvCxnSpPr>
          <p:spPr>
            <a:xfrm rot="10800000" flipV="1">
              <a:off x="15675" y="3656"/>
              <a:ext cx="626" cy="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组合 180"/>
            <p:cNvGrpSpPr/>
            <p:nvPr/>
          </p:nvGrpSpPr>
          <p:grpSpPr>
            <a:xfrm>
              <a:off x="13136" y="3961"/>
              <a:ext cx="3208" cy="2106"/>
              <a:chOff x="962" y="8014"/>
              <a:chExt cx="3320" cy="2233"/>
            </a:xfrm>
          </p:grpSpPr>
          <p:sp>
            <p:nvSpPr>
              <p:cNvPr id="180" name="等腰三角形 179"/>
              <p:cNvSpPr/>
              <p:nvPr/>
            </p:nvSpPr>
            <p:spPr>
              <a:xfrm>
                <a:off x="1889" y="8756"/>
                <a:ext cx="1154" cy="713"/>
              </a:xfrm>
              <a:prstGeom prst="triangle">
                <a:avLst>
                  <a:gd name="adj" fmla="val 51327"/>
                </a:avLst>
              </a:prstGeom>
              <a:solidFill>
                <a:schemeClr val="accent1">
                  <a:lumMod val="40000"/>
                  <a:lumOff val="60000"/>
                  <a:alpha val="29000"/>
                </a:schemeClr>
              </a:solidFill>
              <a:ln w="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glow rad="381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9" name="组合 178"/>
              <p:cNvGrpSpPr/>
              <p:nvPr/>
            </p:nvGrpSpPr>
            <p:grpSpPr>
              <a:xfrm>
                <a:off x="962" y="8014"/>
                <a:ext cx="3320" cy="2233"/>
                <a:chOff x="515" y="8286"/>
                <a:chExt cx="3320" cy="2233"/>
              </a:xfrm>
            </p:grpSpPr>
            <p:sp>
              <p:nvSpPr>
                <p:cNvPr id="165" name="PA-文本框 8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281" y="8286"/>
                  <a:ext cx="1660" cy="837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/>
                <a:p>
                  <a:pPr marL="0" marR="0" lvl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i="0" u="none" strike="noStrike" kern="0" cap="none" spc="0" normalizeH="0" baseline="0" dirty="0">
                      <a:solidFill>
                        <a:schemeClr val="accent3"/>
                      </a:solidFill>
                      <a:latin typeface="OPPOSans B" panose="00020600040101010101" pitchFamily="18" charset="-122"/>
                      <a:ea typeface="OPPOSans B" panose="00020600040101010101" pitchFamily="18" charset="-122"/>
                      <a:cs typeface="OPPOSans M" panose="00020600040101010101" pitchFamily="18" charset="-122"/>
                      <a:sym typeface="汉仪雅酷黑简" panose="00020600040101010101" charset="-122"/>
                    </a:rPr>
                    <a:t>高性能</a:t>
                  </a:r>
                </a:p>
              </p:txBody>
            </p:sp>
            <p:sp>
              <p:nvSpPr>
                <p:cNvPr id="175" name="PA-文本框 8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515" y="9682"/>
                  <a:ext cx="1660" cy="837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/>
                <a:p>
                  <a:pPr indent="0" algn="ctr">
                    <a:defRPr/>
                  </a:pPr>
                  <a:r>
                    <a:rPr lang="zh-CN" altLang="en-US" sz="2000" kern="0" dirty="0">
                      <a:solidFill>
                        <a:schemeClr val="accent3"/>
                      </a:solidFill>
                      <a:latin typeface="OPPOSans B" panose="00020600040101010101" pitchFamily="18" charset="-122"/>
                      <a:ea typeface="OPPOSans B" panose="00020600040101010101" pitchFamily="18" charset="-122"/>
                      <a:cs typeface="OPPOSans M" panose="00020600040101010101" pitchFamily="18" charset="-122"/>
                      <a:sym typeface="汉仪雅酷黑简" panose="00020600040101010101" charset="-122"/>
                    </a:rPr>
                    <a:t>全自动</a:t>
                  </a:r>
                </a:p>
              </p:txBody>
            </p:sp>
            <p:sp>
              <p:nvSpPr>
                <p:cNvPr id="178" name="PA-文本框 8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2175" y="9682"/>
                  <a:ext cx="1660" cy="837"/>
                </a:xfrm>
                <a:prstGeom prst="rect">
                  <a:avLst/>
                </a:prstGeom>
                <a:noFill/>
              </p:spPr>
              <p:txBody>
                <a:bodyPr vert="horz" wrap="square" rtlCol="0" anchor="ctr">
                  <a:noAutofit/>
                </a:bodyPr>
                <a:lstStyle/>
                <a:p>
                  <a:pPr algn="ctr">
                    <a:defRPr/>
                  </a:pPr>
                  <a:r>
                    <a:rPr lang="zh-CN" altLang="en-US" sz="2000" kern="0" dirty="0">
                      <a:solidFill>
                        <a:schemeClr val="accent3"/>
                      </a:solidFill>
                      <a:latin typeface="OPPOSans B" panose="00020600040101010101" pitchFamily="18" charset="-122"/>
                      <a:ea typeface="OPPOSans B" panose="00020600040101010101" pitchFamily="18" charset="-122"/>
                      <a:cs typeface="OPPOSans M" panose="00020600040101010101" pitchFamily="18" charset="-122"/>
                      <a:sym typeface="汉仪雅酷黑简" panose="00020600040101010101" charset="-122"/>
                    </a:rPr>
                    <a:t>高适配</a:t>
                  </a:r>
                </a:p>
              </p:txBody>
            </p:sp>
          </p:grpSp>
        </p:grpSp>
      </p:grpSp>
      <p:sp>
        <p:nvSpPr>
          <p:cNvPr id="37" name="任意多边形 36"/>
          <p:cNvSpPr/>
          <p:nvPr/>
        </p:nvSpPr>
        <p:spPr>
          <a:xfrm rot="5400000">
            <a:off x="5266690" y="2794635"/>
            <a:ext cx="1136015" cy="556260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448310" y="1625600"/>
            <a:ext cx="5175760" cy="3000238"/>
            <a:chOff x="615" y="2560"/>
            <a:chExt cx="8243" cy="4903"/>
          </a:xfrm>
        </p:grpSpPr>
        <p:sp>
          <p:nvSpPr>
            <p:cNvPr id="98" name="矩形 97"/>
            <p:cNvSpPr/>
            <p:nvPr>
              <p:custDataLst>
                <p:tags r:id="rId13"/>
              </p:custDataLst>
            </p:nvPr>
          </p:nvSpPr>
          <p:spPr>
            <a:xfrm>
              <a:off x="615" y="2560"/>
              <a:ext cx="8243" cy="4903"/>
            </a:xfrm>
            <a:prstGeom prst="rect">
              <a:avLst/>
            </a:prstGeom>
            <a:solidFill>
              <a:schemeClr val="accent1">
                <a:lumMod val="781"/>
                <a:lumOff val="99219"/>
              </a:schemeClr>
            </a:solidFill>
            <a:ln w="12700" cap="flat" cmpd="sng" algn="ctr">
              <a:solidFill>
                <a:schemeClr val="accent1">
                  <a:lumMod val="92969"/>
                  <a:alpha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76200" dist="38100" sx="101000" sy="101000" algn="tr" rotWithShape="0">
                <a:schemeClr val="accent1">
                  <a:lumMod val="92969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sym typeface="MiSans Normal" panose="00000500000000000000" charset="-122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3526" y="2580"/>
              <a:ext cx="5125" cy="4653"/>
              <a:chOff x="1646" y="2101"/>
              <a:chExt cx="5303" cy="4932"/>
            </a:xfrm>
          </p:grpSpPr>
          <p:sp>
            <p:nvSpPr>
              <p:cNvPr id="139" name="圆角矩形 138"/>
              <p:cNvSpPr/>
              <p:nvPr/>
            </p:nvSpPr>
            <p:spPr>
              <a:xfrm>
                <a:off x="4207" y="2376"/>
                <a:ext cx="2742" cy="78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kern="0" dirty="0">
                    <a:solidFill>
                      <a:srgbClr val="F78021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M" panose="00020600040101010101" pitchFamily="18" charset="-122"/>
                    <a:sym typeface="+mn-ea"/>
                  </a:rPr>
                  <a:t>2</a:t>
                </a:r>
                <a:r>
                  <a:rPr kumimoji="1" lang="zh-CN" altLang="en-US" sz="160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  <a:sym typeface="+mn-ea"/>
                  </a:rPr>
                  <a:t>个平台</a:t>
                </a:r>
              </a:p>
            </p:txBody>
          </p:sp>
          <p:sp>
            <p:nvSpPr>
              <p:cNvPr id="140" name="圆角矩形 139"/>
              <p:cNvSpPr/>
              <p:nvPr/>
            </p:nvSpPr>
            <p:spPr>
              <a:xfrm>
                <a:off x="4199" y="4196"/>
                <a:ext cx="2750" cy="78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kern="0" dirty="0">
                    <a:solidFill>
                      <a:srgbClr val="F78021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M" panose="00020600040101010101" pitchFamily="18" charset="-122"/>
                    <a:sym typeface="+mn-ea"/>
                  </a:rPr>
                  <a:t>21</a:t>
                </a:r>
                <a:r>
                  <a:rPr kumimoji="1" lang="zh-CN" altLang="en-US" sz="160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  <a:sym typeface="+mn-ea"/>
                  </a:rPr>
                  <a:t>类算子</a:t>
                </a:r>
              </a:p>
            </p:txBody>
          </p:sp>
          <p:sp>
            <p:nvSpPr>
              <p:cNvPr id="142" name="圆角矩形 141"/>
              <p:cNvSpPr/>
              <p:nvPr/>
            </p:nvSpPr>
            <p:spPr>
              <a:xfrm>
                <a:off x="4208" y="6016"/>
                <a:ext cx="2740" cy="78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kern="0" dirty="0">
                    <a:solidFill>
                      <a:srgbClr val="F78021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M" panose="00020600040101010101" pitchFamily="18" charset="-122"/>
                    <a:sym typeface="+mn-ea"/>
                  </a:rPr>
                  <a:t>1000+</a:t>
                </a:r>
                <a:r>
                  <a:rPr kumimoji="1" lang="zh-CN" altLang="en-US" sz="1600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+mn-ea"/>
                    <a:cs typeface="OPPOSans M" panose="00020600040101010101" pitchFamily="18" charset="-122"/>
                    <a:sym typeface="+mn-ea"/>
                  </a:rPr>
                  <a:t>种规模</a:t>
                </a:r>
              </a:p>
            </p:txBody>
          </p:sp>
          <p:sp>
            <p:nvSpPr>
              <p:cNvPr id="143" name="任意多边形 142"/>
              <p:cNvSpPr/>
              <p:nvPr/>
            </p:nvSpPr>
            <p:spPr>
              <a:xfrm rot="10800000">
                <a:off x="4707" y="3156"/>
                <a:ext cx="1448" cy="1040"/>
              </a:xfrm>
              <a:custGeom>
                <a:avLst/>
                <a:gdLst>
                  <a:gd name="connsiteX0" fmla="*/ 2736 w 5707"/>
                  <a:gd name="connsiteY0" fmla="*/ 0 h 4890"/>
                  <a:gd name="connsiteX1" fmla="*/ 4774 w 5707"/>
                  <a:gd name="connsiteY1" fmla="*/ 1776 h 4890"/>
                  <a:gd name="connsiteX2" fmla="*/ 3927 w 5707"/>
                  <a:gd name="connsiteY2" fmla="*/ 1776 h 4890"/>
                  <a:gd name="connsiteX3" fmla="*/ 5707 w 5707"/>
                  <a:gd name="connsiteY3" fmla="*/ 4890 h 4890"/>
                  <a:gd name="connsiteX4" fmla="*/ 0 w 5707"/>
                  <a:gd name="connsiteY4" fmla="*/ 4890 h 4890"/>
                  <a:gd name="connsiteX5" fmla="*/ 1780 w 5707"/>
                  <a:gd name="connsiteY5" fmla="*/ 1776 h 4890"/>
                  <a:gd name="connsiteX6" fmla="*/ 934 w 5707"/>
                  <a:gd name="connsiteY6" fmla="*/ 1776 h 4890"/>
                  <a:gd name="connsiteX7" fmla="*/ 2736 w 5707"/>
                  <a:gd name="connsiteY7" fmla="*/ 0 h 4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07" h="4890">
                    <a:moveTo>
                      <a:pt x="2736" y="0"/>
                    </a:moveTo>
                    <a:lnTo>
                      <a:pt x="4774" y="1776"/>
                    </a:lnTo>
                    <a:lnTo>
                      <a:pt x="3927" y="1776"/>
                    </a:lnTo>
                    <a:cubicBezTo>
                      <a:pt x="4107" y="3789"/>
                      <a:pt x="5114" y="3852"/>
                      <a:pt x="5707" y="4890"/>
                    </a:cubicBezTo>
                    <a:lnTo>
                      <a:pt x="0" y="4890"/>
                    </a:lnTo>
                    <a:cubicBezTo>
                      <a:pt x="593" y="3852"/>
                      <a:pt x="1827" y="3603"/>
                      <a:pt x="1780" y="1776"/>
                    </a:cubicBezTo>
                    <a:lnTo>
                      <a:pt x="934" y="1776"/>
                    </a:lnTo>
                    <a:lnTo>
                      <a:pt x="2736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0070C0"/>
                  </a:gs>
                  <a:gs pos="0">
                    <a:schemeClr val="accent1">
                      <a:alpha val="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任意多边形 143"/>
              <p:cNvSpPr/>
              <p:nvPr/>
            </p:nvSpPr>
            <p:spPr>
              <a:xfrm rot="10800000">
                <a:off x="4699" y="4955"/>
                <a:ext cx="1448" cy="1017"/>
              </a:xfrm>
              <a:custGeom>
                <a:avLst/>
                <a:gdLst>
                  <a:gd name="connsiteX0" fmla="*/ 2736 w 5707"/>
                  <a:gd name="connsiteY0" fmla="*/ 0 h 4890"/>
                  <a:gd name="connsiteX1" fmla="*/ 4774 w 5707"/>
                  <a:gd name="connsiteY1" fmla="*/ 1776 h 4890"/>
                  <a:gd name="connsiteX2" fmla="*/ 3927 w 5707"/>
                  <a:gd name="connsiteY2" fmla="*/ 1776 h 4890"/>
                  <a:gd name="connsiteX3" fmla="*/ 5707 w 5707"/>
                  <a:gd name="connsiteY3" fmla="*/ 4890 h 4890"/>
                  <a:gd name="connsiteX4" fmla="*/ 0 w 5707"/>
                  <a:gd name="connsiteY4" fmla="*/ 4890 h 4890"/>
                  <a:gd name="connsiteX5" fmla="*/ 1780 w 5707"/>
                  <a:gd name="connsiteY5" fmla="*/ 1776 h 4890"/>
                  <a:gd name="connsiteX6" fmla="*/ 934 w 5707"/>
                  <a:gd name="connsiteY6" fmla="*/ 1776 h 4890"/>
                  <a:gd name="connsiteX7" fmla="*/ 2736 w 5707"/>
                  <a:gd name="connsiteY7" fmla="*/ 0 h 4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07" h="4890">
                    <a:moveTo>
                      <a:pt x="2736" y="0"/>
                    </a:moveTo>
                    <a:lnTo>
                      <a:pt x="4774" y="1776"/>
                    </a:lnTo>
                    <a:lnTo>
                      <a:pt x="3927" y="1776"/>
                    </a:lnTo>
                    <a:cubicBezTo>
                      <a:pt x="4107" y="3789"/>
                      <a:pt x="5114" y="3852"/>
                      <a:pt x="5707" y="4890"/>
                    </a:cubicBezTo>
                    <a:lnTo>
                      <a:pt x="0" y="4890"/>
                    </a:lnTo>
                    <a:cubicBezTo>
                      <a:pt x="593" y="3852"/>
                      <a:pt x="1827" y="3603"/>
                      <a:pt x="1780" y="1776"/>
                    </a:cubicBezTo>
                    <a:lnTo>
                      <a:pt x="934" y="1776"/>
                    </a:lnTo>
                    <a:lnTo>
                      <a:pt x="2736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0070C0"/>
                  </a:gs>
                  <a:gs pos="0">
                    <a:schemeClr val="accent1">
                      <a:alpha val="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等腰三角形 149"/>
              <p:cNvSpPr/>
              <p:nvPr/>
            </p:nvSpPr>
            <p:spPr>
              <a:xfrm rot="5400000">
                <a:off x="3318" y="2494"/>
                <a:ext cx="1283" cy="496"/>
              </a:xfrm>
              <a:prstGeom prst="triangle">
                <a:avLst>
                  <a:gd name="adj" fmla="val 50159"/>
                </a:avLst>
              </a:prstGeom>
              <a:gradFill>
                <a:gsLst>
                  <a:gs pos="100000">
                    <a:srgbClr val="2BCCFF"/>
                  </a:gs>
                  <a:gs pos="0">
                    <a:schemeClr val="accent1">
                      <a:alpha val="0"/>
                    </a:schemeClr>
                  </a:gs>
                </a:gsLst>
                <a:lin ang="16200000" scaled="0"/>
              </a:gradFill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矩形 150"/>
              <p:cNvSpPr/>
              <p:nvPr/>
            </p:nvSpPr>
            <p:spPr>
              <a:xfrm>
                <a:off x="1646" y="2145"/>
                <a:ext cx="1992" cy="123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GP201</a:t>
                </a:r>
              </a:p>
              <a:p>
                <a:pPr algn="ctr"/>
                <a:r>
                  <a:rPr kumimoji="1" lang="zh-CN" altLang="en-US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GP200s</a:t>
                </a:r>
              </a:p>
            </p:txBody>
          </p:sp>
          <p:sp>
            <p:nvSpPr>
              <p:cNvPr id="158" name="等腰三角形 157"/>
              <p:cNvSpPr/>
              <p:nvPr/>
            </p:nvSpPr>
            <p:spPr>
              <a:xfrm rot="5400000">
                <a:off x="3320" y="4344"/>
                <a:ext cx="1282" cy="496"/>
              </a:xfrm>
              <a:prstGeom prst="triangle">
                <a:avLst>
                  <a:gd name="adj" fmla="val 50159"/>
                </a:avLst>
              </a:prstGeom>
              <a:gradFill>
                <a:gsLst>
                  <a:gs pos="100000">
                    <a:srgbClr val="2BCCFF"/>
                  </a:gs>
                  <a:gs pos="0">
                    <a:schemeClr val="accent1">
                      <a:alpha val="0"/>
                    </a:schemeClr>
                  </a:gs>
                </a:gsLst>
                <a:lin ang="16200000" scaled="0"/>
              </a:gradFill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1646" y="3846"/>
                <a:ext cx="1992" cy="156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GEMM</a:t>
                </a:r>
              </a:p>
              <a:p>
                <a:pPr algn="ctr"/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HER</a:t>
                </a:r>
              </a:p>
              <a:p>
                <a:pPr algn="ctr"/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......</a:t>
                </a:r>
              </a:p>
            </p:txBody>
          </p:sp>
          <p:sp>
            <p:nvSpPr>
              <p:cNvPr id="160" name="等腰三角形 159"/>
              <p:cNvSpPr/>
              <p:nvPr/>
            </p:nvSpPr>
            <p:spPr>
              <a:xfrm rot="5400000">
                <a:off x="3318" y="6143"/>
                <a:ext cx="1283" cy="496"/>
              </a:xfrm>
              <a:prstGeom prst="triangle">
                <a:avLst>
                  <a:gd name="adj" fmla="val 50159"/>
                </a:avLst>
              </a:prstGeom>
              <a:gradFill>
                <a:gsLst>
                  <a:gs pos="100000">
                    <a:srgbClr val="2BCCFF"/>
                  </a:gs>
                  <a:gs pos="0">
                    <a:schemeClr val="accent1">
                      <a:alpha val="0"/>
                    </a:schemeClr>
                  </a:gs>
                </a:gsLst>
                <a:lin ang="16200000" scaled="0"/>
              </a:gradFill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1646" y="5751"/>
                <a:ext cx="1992" cy="128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68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noProof="0" dirty="0">
                    <a:ln>
                      <a:noFill/>
                    </a:ln>
                    <a:solidFill>
                      <a:schemeClr val="accent2">
                        <a:lumMod val="7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OPPOSans M" panose="00020600040101010101" pitchFamily="18" charset="-122"/>
                  </a:rPr>
                  <a:t>16~4096</a:t>
                </a:r>
              </a:p>
            </p:txBody>
          </p:sp>
        </p:grpSp>
        <p:sp>
          <p:nvSpPr>
            <p:cNvPr id="183" name="剪去同侧角的矩形 182"/>
            <p:cNvSpPr/>
            <p:nvPr/>
          </p:nvSpPr>
          <p:spPr>
            <a:xfrm>
              <a:off x="1067" y="2624"/>
              <a:ext cx="2203" cy="1167"/>
            </a:xfrm>
            <a:prstGeom prst="snip2SameRect">
              <a:avLst>
                <a:gd name="adj1" fmla="val 24926"/>
                <a:gd name="adj2" fmla="val 21764"/>
              </a:avLst>
            </a:prstGeom>
            <a:blipFill rotWithShape="1">
              <a:blip r:embed="rId64"/>
              <a:tile tx="0" ty="0" sx="80000" sy="80000" flip="none" algn="ctr"/>
            </a:blip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7" name="图片 186"/>
            <p:cNvPicPr>
              <a:picLocks noChangeAspect="1"/>
            </p:cNvPicPr>
            <p:nvPr/>
          </p:nvPicPr>
          <p:blipFill>
            <a:blip r:embed="rId65"/>
            <a:srcRect t="23070"/>
            <a:stretch>
              <a:fillRect/>
            </a:stretch>
          </p:blipFill>
          <p:spPr>
            <a:xfrm>
              <a:off x="1185" y="5899"/>
              <a:ext cx="1896" cy="1362"/>
            </a:xfrm>
            <a:prstGeom prst="rect">
              <a:avLst/>
            </a:prstGeom>
          </p:spPr>
        </p:pic>
        <p:graphicFrame>
          <p:nvGraphicFramePr>
            <p:cNvPr id="188" name="对象 -2147482609"/>
            <p:cNvGraphicFramePr>
              <a:graphicFrameLocks noChangeAspect="1"/>
            </p:cNvGraphicFramePr>
            <p:nvPr/>
          </p:nvGraphicFramePr>
          <p:xfrm>
            <a:off x="1035" y="4412"/>
            <a:ext cx="2468" cy="1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6" imgW="952500" imgH="457200" progId="DSEquations">
                    <p:embed/>
                  </p:oleObj>
                </mc:Choice>
                <mc:Fallback>
                  <p:oleObj r:id="rId66" imgW="952500" imgH="457200" progId="DSEquations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7"/>
                        <a:stretch>
                          <a:fillRect/>
                        </a:stretch>
                      </p:blipFill>
                      <p:spPr>
                        <a:xfrm>
                          <a:off x="1035" y="4412"/>
                          <a:ext cx="2468" cy="11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657225" y="4521200"/>
            <a:ext cx="7519035" cy="1857375"/>
            <a:chOff x="3874" y="4465"/>
            <a:chExt cx="12253" cy="2222"/>
          </a:xfrm>
        </p:grpSpPr>
        <p:graphicFrame>
          <p:nvGraphicFramePr>
            <p:cNvPr id="2" name="图表 1" descr="7b0a202020202263686172745265734964223a20223530303533343239220a7d0a"/>
            <p:cNvGraphicFramePr/>
            <p:nvPr/>
          </p:nvGraphicFramePr>
          <p:xfrm>
            <a:off x="3874" y="4465"/>
            <a:ext cx="12253" cy="22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8"/>
            </a:graphicData>
          </a:graphic>
        </p:graphicFrame>
        <p:sp>
          <p:nvSpPr>
            <p:cNvPr id="7" name="文本框 6"/>
            <p:cNvSpPr txBox="1"/>
            <p:nvPr/>
          </p:nvSpPr>
          <p:spPr>
            <a:xfrm>
              <a:off x="13540" y="4832"/>
              <a:ext cx="2009" cy="94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80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平均提速</a:t>
              </a:r>
            </a:p>
            <a:p>
              <a:pPr algn="ctr">
                <a:lnSpc>
                  <a:spcPct val="120000"/>
                </a:lnSpc>
              </a:pPr>
              <a:r>
                <a:rPr kumimoji="1" lang="en-US" altLang="zh-CN" sz="180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98</a:t>
              </a:r>
              <a:r>
                <a:rPr kumimoji="1" lang="zh-CN" altLang="en-US" sz="180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%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44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45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97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3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湖工横版logo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7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155" name="组合 154"/>
          <p:cNvGrpSpPr/>
          <p:nvPr/>
        </p:nvGrpSpPr>
        <p:grpSpPr>
          <a:xfrm>
            <a:off x="8176260" y="5800743"/>
            <a:ext cx="4155795" cy="562588"/>
            <a:chOff x="587739" y="1798770"/>
            <a:chExt cx="3402332" cy="716628"/>
          </a:xfrm>
        </p:grpSpPr>
        <p:sp>
          <p:nvSpPr>
            <p:cNvPr id="173" name="椭圆 172"/>
            <p:cNvSpPr/>
            <p:nvPr/>
          </p:nvSpPr>
          <p:spPr>
            <a:xfrm rot="10800000">
              <a:off x="587739" y="1798770"/>
              <a:ext cx="3402332" cy="600895"/>
            </a:xfrm>
            <a:prstGeom prst="ellipse">
              <a:avLst/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  <a:ln w="6350">
              <a:gradFill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74" name="椭圆 173"/>
            <p:cNvSpPr/>
            <p:nvPr/>
          </p:nvSpPr>
          <p:spPr>
            <a:xfrm rot="10800000">
              <a:off x="881810" y="2133408"/>
              <a:ext cx="2814190" cy="381990"/>
            </a:xfrm>
            <a:prstGeom prst="ellipse">
              <a:avLst/>
            </a:prstGeom>
            <a:noFill/>
            <a:ln w="6350">
              <a:gradFill>
                <a:gsLst>
                  <a:gs pos="0">
                    <a:schemeClr val="accent1">
                      <a:alpha val="44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157" name="箭头: 上 12"/>
          <p:cNvSpPr/>
          <p:nvPr/>
        </p:nvSpPr>
        <p:spPr>
          <a:xfrm flipH="1">
            <a:off x="7851282" y="5140089"/>
            <a:ext cx="567485" cy="706374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alpha val="6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63" name="箭头: 上 13"/>
          <p:cNvSpPr/>
          <p:nvPr/>
        </p:nvSpPr>
        <p:spPr>
          <a:xfrm flipH="1">
            <a:off x="8360890" y="4735507"/>
            <a:ext cx="596799" cy="742862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alpha val="6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64" name="箭头: 上 14"/>
          <p:cNvSpPr/>
          <p:nvPr/>
        </p:nvSpPr>
        <p:spPr>
          <a:xfrm flipH="1">
            <a:off x="11331858" y="4838333"/>
            <a:ext cx="431583" cy="5372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alpha val="6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166" name="直接连接符 15"/>
          <p:cNvCxnSpPr/>
          <p:nvPr/>
        </p:nvCxnSpPr>
        <p:spPr>
          <a:xfrm>
            <a:off x="9150352" y="5007501"/>
            <a:ext cx="0" cy="38100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"/>
          <p:cNvCxnSpPr/>
          <p:nvPr/>
        </p:nvCxnSpPr>
        <p:spPr>
          <a:xfrm>
            <a:off x="8367187" y="4893963"/>
            <a:ext cx="0" cy="38100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7"/>
          <p:cNvCxnSpPr/>
          <p:nvPr/>
        </p:nvCxnSpPr>
        <p:spPr>
          <a:xfrm>
            <a:off x="11862193" y="5097369"/>
            <a:ext cx="0" cy="38100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8"/>
          <p:cNvCxnSpPr/>
          <p:nvPr/>
        </p:nvCxnSpPr>
        <p:spPr>
          <a:xfrm>
            <a:off x="11156620" y="4893963"/>
            <a:ext cx="0" cy="38100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9"/>
          <p:cNvCxnSpPr/>
          <p:nvPr/>
        </p:nvCxnSpPr>
        <p:spPr>
          <a:xfrm>
            <a:off x="8495904" y="5213241"/>
            <a:ext cx="0" cy="37719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箭头: 上 20"/>
          <p:cNvSpPr/>
          <p:nvPr/>
        </p:nvSpPr>
        <p:spPr>
          <a:xfrm flipH="1">
            <a:off x="11862064" y="5299323"/>
            <a:ext cx="462192" cy="575310"/>
          </a:xfrm>
          <a:prstGeom prst="upArrow">
            <a:avLst>
              <a:gd name="adj1" fmla="val 45576"/>
              <a:gd name="adj2" fmla="val 64176"/>
            </a:avLst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6350">
            <a:gradFill>
              <a:gsLst>
                <a:gs pos="0">
                  <a:schemeClr val="accent1">
                    <a:alpha val="1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8660331" y="4701471"/>
            <a:ext cx="2960168" cy="671742"/>
          </a:xfrm>
          <a:prstGeom prst="roundRect">
            <a:avLst>
              <a:gd name="adj" fmla="val 5629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  <a:cs typeface="OPPOSans M" panose="00020600040101010101" pitchFamily="18" charset="-122"/>
                <a:sym typeface="+mn-ea"/>
              </a:rPr>
              <a:t>最高提速</a:t>
            </a:r>
            <a:r>
              <a:rPr lang="en-US" altLang="zh-CN" sz="3200" b="1" kern="0" dirty="0">
                <a:solidFill>
                  <a:srgbClr val="F7802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M" panose="00020600040101010101" pitchFamily="18" charset="-122"/>
                <a:sym typeface="+mn-ea"/>
              </a:rPr>
              <a:t>286</a:t>
            </a:r>
            <a:r>
              <a:rPr lang="zh-CN" altLang="en-US" sz="3200" b="1" kern="0" dirty="0">
                <a:solidFill>
                  <a:srgbClr val="F7802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M" panose="00020600040101010101" pitchFamily="18" charset="-122"/>
                <a:sym typeface="+mn-ea"/>
              </a:rPr>
              <a:t>%</a:t>
            </a:r>
          </a:p>
        </p:txBody>
      </p:sp>
      <p:sp>
        <p:nvSpPr>
          <p:cNvPr id="176" name="圆角矩形 22"/>
          <p:cNvSpPr/>
          <p:nvPr/>
        </p:nvSpPr>
        <p:spPr>
          <a:xfrm>
            <a:off x="8660331" y="5451744"/>
            <a:ext cx="2960168" cy="671742"/>
          </a:xfrm>
          <a:prstGeom prst="roundRect">
            <a:avLst>
              <a:gd name="adj" fmla="val 5629"/>
            </a:avLst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  <a:cs typeface="OPPOSans M" panose="00020600040101010101" pitchFamily="18" charset="-122"/>
                <a:sym typeface="+mn-ea"/>
              </a:rPr>
              <a:t>最高加速比</a:t>
            </a:r>
            <a:r>
              <a:rPr lang="en-US" altLang="zh-CN" sz="3200" b="1" kern="0" dirty="0">
                <a:solidFill>
                  <a:srgbClr val="F7802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M" panose="00020600040101010101" pitchFamily="18" charset="-122"/>
                <a:sym typeface="+mn-ea"/>
              </a:rPr>
              <a:t>283×</a:t>
            </a:r>
          </a:p>
        </p:txBody>
      </p:sp>
      <p:grpSp>
        <p:nvGrpSpPr>
          <p:cNvPr id="177" name="组合 176"/>
          <p:cNvGrpSpPr/>
          <p:nvPr/>
        </p:nvGrpSpPr>
        <p:grpSpPr>
          <a:xfrm>
            <a:off x="521183" y="6268072"/>
            <a:ext cx="11557623" cy="862698"/>
            <a:chOff x="531660" y="6291983"/>
            <a:chExt cx="11326313" cy="707333"/>
          </a:xfrm>
        </p:grpSpPr>
        <p:sp>
          <p:nvSpPr>
            <p:cNvPr id="182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chemeClr val="bg1"/>
                </a:gs>
                <a:gs pos="85000">
                  <a:schemeClr val="bg1"/>
                </a:gs>
                <a:gs pos="1400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chemeClr val="accent2">
                      <a:alpha val="0"/>
                    </a:schemeClr>
                  </a:gs>
                  <a:gs pos="6000">
                    <a:schemeClr val="accent1"/>
                  </a:gs>
                  <a:gs pos="98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84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85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186" name="文本框 185"/>
          <p:cNvSpPr txBox="1"/>
          <p:nvPr/>
        </p:nvSpPr>
        <p:spPr>
          <a:xfrm>
            <a:off x="1636713" y="6496368"/>
            <a:ext cx="9326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全自动搜索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适合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凌久微平台</a:t>
            </a:r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的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最优</a:t>
            </a:r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硬件参数实现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815020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4000" y="997769"/>
            <a:ext cx="1219263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底层算子优化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2 | 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缓冲区池机制</a:t>
            </a: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  <a:p>
            <a:pPr algn="ctr">
              <a:lnSpc>
                <a:spcPct val="110000"/>
              </a:lnSpc>
            </a:pP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970915" y="5368925"/>
            <a:ext cx="1760220" cy="869315"/>
          </a:xfrm>
          <a:prstGeom prst="roundRect">
            <a:avLst>
              <a:gd name="adj" fmla="val 7171"/>
            </a:avLst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8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OPPOSans M" panose="00020600040101010101" pitchFamily="18" charset="-122"/>
              <a:sym typeface="优设标题黑" panose="00000500000000000000" pitchFamily="2" charset="-122"/>
            </a:endParaRPr>
          </a:p>
        </p:txBody>
      </p:sp>
      <p:grpSp>
        <p:nvGrpSpPr>
          <p:cNvPr id="228" name="组合 227"/>
          <p:cNvGrpSpPr/>
          <p:nvPr/>
        </p:nvGrpSpPr>
        <p:grpSpPr>
          <a:xfrm>
            <a:off x="2931325" y="3306630"/>
            <a:ext cx="5399405" cy="2787015"/>
            <a:chOff x="4798" y="4747"/>
            <a:chExt cx="8503" cy="4389"/>
          </a:xfrm>
        </p:grpSpPr>
        <p:sp>
          <p:nvSpPr>
            <p:cNvPr id="227" name="矩形 226"/>
            <p:cNvSpPr/>
            <p:nvPr/>
          </p:nvSpPr>
          <p:spPr>
            <a:xfrm>
              <a:off x="4799" y="4747"/>
              <a:ext cx="8502" cy="438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5" name="组合 184"/>
            <p:cNvGrpSpPr/>
            <p:nvPr/>
          </p:nvGrpSpPr>
          <p:grpSpPr>
            <a:xfrm>
              <a:off x="9399" y="4915"/>
              <a:ext cx="3227" cy="4006"/>
              <a:chOff x="340" y="1859"/>
              <a:chExt cx="3419" cy="4207"/>
            </a:xfrm>
          </p:grpSpPr>
          <p:sp>
            <p:nvSpPr>
              <p:cNvPr id="153" name="椭圆 152"/>
              <p:cNvSpPr/>
              <p:nvPr/>
            </p:nvSpPr>
            <p:spPr>
              <a:xfrm>
                <a:off x="2036" y="4857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>
                <a:off x="2036" y="4593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ym typeface="+mn-ea"/>
                  </a:rPr>
                  <a:t>16</a:t>
                </a:r>
                <a:r>
                  <a:rPr lang="zh-CN" altLang="en-US">
                    <a:sym typeface="+mn-ea"/>
                  </a:rPr>
                  <a:t>×</a:t>
                </a:r>
                <a:r>
                  <a:rPr lang="en-US" altLang="zh-CN">
                    <a:sym typeface="+mn-ea"/>
                  </a:rPr>
                  <a:t>16</a:t>
                </a:r>
                <a:endParaRPr lang="en-US" altLang="zh-CN"/>
              </a:p>
              <a:p>
                <a:pPr algn="ctr"/>
                <a:endParaRPr lang="zh-CN" altLang="en-US"/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2036" y="4337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2036" y="4105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ym typeface="+mn-ea"/>
                  </a:rPr>
                  <a:t>16</a:t>
                </a:r>
                <a:r>
                  <a:rPr lang="zh-CN" altLang="en-US">
                    <a:sym typeface="+mn-ea"/>
                  </a:rPr>
                  <a:t>×</a:t>
                </a:r>
                <a:r>
                  <a:rPr lang="en-US" altLang="zh-CN">
                    <a:sym typeface="+mn-ea"/>
                  </a:rPr>
                  <a:t>16</a:t>
                </a:r>
                <a:endParaRPr lang="en-US" altLang="zh-CN"/>
              </a:p>
              <a:p>
                <a:pPr algn="ctr"/>
                <a:endParaRPr lang="zh-CN" altLang="en-US"/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2036" y="3865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16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16</a:t>
                </a:r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2036" y="3609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8</a:t>
                </a:r>
                <a:r>
                  <a:rPr lang="zh-CN" altLang="en-US"/>
                  <a:t>×</a:t>
                </a:r>
                <a:r>
                  <a:rPr lang="en-US" altLang="zh-CN"/>
                  <a:t>16</a:t>
                </a:r>
              </a:p>
            </p:txBody>
          </p:sp>
          <p:sp>
            <p:nvSpPr>
              <p:cNvPr id="159" name="椭圆 158"/>
              <p:cNvSpPr/>
              <p:nvPr/>
            </p:nvSpPr>
            <p:spPr>
              <a:xfrm>
                <a:off x="2036" y="3345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8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32</a:t>
                </a:r>
              </a:p>
            </p:txBody>
          </p:sp>
          <p:sp>
            <p:nvSpPr>
              <p:cNvPr id="160" name="椭圆 159"/>
              <p:cNvSpPr/>
              <p:nvPr/>
            </p:nvSpPr>
            <p:spPr>
              <a:xfrm>
                <a:off x="2036" y="2168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8</a:t>
                </a:r>
                <a:r>
                  <a:rPr lang="zh-CN" altLang="en-US"/>
                  <a:t>×</a:t>
                </a:r>
                <a:r>
                  <a:rPr lang="en-US" altLang="zh-CN"/>
                  <a:t>32</a:t>
                </a: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553" y="5153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553" y="4889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553" y="4633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553" y="4401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553" y="4161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ym typeface="+mn-ea"/>
                  </a:rPr>
                  <a:t>16</a:t>
                </a:r>
                <a:r>
                  <a:rPr lang="zh-CN" altLang="en-US" dirty="0">
                    <a:sym typeface="+mn-ea"/>
                  </a:rPr>
                  <a:t>×</a:t>
                </a:r>
                <a:r>
                  <a:rPr lang="en-US" altLang="zh-CN" dirty="0">
                    <a:sym typeface="+mn-ea"/>
                  </a:rPr>
                  <a:t>16</a:t>
                </a:r>
                <a:endParaRPr lang="en-US" altLang="zh-CN" dirty="0"/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133" name="椭圆 132"/>
              <p:cNvSpPr/>
              <p:nvPr/>
            </p:nvSpPr>
            <p:spPr>
              <a:xfrm>
                <a:off x="553" y="3905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16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16</a:t>
                </a: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1772" y="5449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1772" y="5185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4</a:t>
                </a:r>
                <a:r>
                  <a:rPr lang="zh-CN" altLang="en-US"/>
                  <a:t>×</a:t>
                </a:r>
                <a:r>
                  <a:rPr lang="en-US" altLang="zh-CN"/>
                  <a:t>64</a:t>
                </a:r>
              </a:p>
            </p:txBody>
          </p:sp>
          <p:sp>
            <p:nvSpPr>
              <p:cNvPr id="142" name="椭圆 141"/>
              <p:cNvSpPr/>
              <p:nvPr/>
            </p:nvSpPr>
            <p:spPr>
              <a:xfrm rot="1800000">
                <a:off x="1891" y="4868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64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32</a:t>
                </a:r>
              </a:p>
            </p:txBody>
          </p:sp>
          <p:sp>
            <p:nvSpPr>
              <p:cNvPr id="169" name="椭圆 168"/>
              <p:cNvSpPr/>
              <p:nvPr/>
            </p:nvSpPr>
            <p:spPr>
              <a:xfrm>
                <a:off x="2036" y="1859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32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32</a:t>
                </a:r>
              </a:p>
            </p:txBody>
          </p:sp>
          <p:sp>
            <p:nvSpPr>
              <p:cNvPr id="182" name="椭圆 181"/>
              <p:cNvSpPr/>
              <p:nvPr/>
            </p:nvSpPr>
            <p:spPr>
              <a:xfrm rot="19560000">
                <a:off x="340" y="3534"/>
                <a:ext cx="1723" cy="61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0">
                <a:noFill/>
              </a:ln>
              <a:effectLst>
                <a:outerShdw blurRad="50800" dist="50800" dir="5400000" algn="ctr" rotWithShape="0">
                  <a:srgbClr val="0068BF">
                    <a:alpha val="10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8</a:t>
                </a:r>
                <a:r>
                  <a:rPr lang="zh-CN" altLang="en-US" sz="1600"/>
                  <a:t>×</a:t>
                </a:r>
                <a:r>
                  <a:rPr lang="en-US" altLang="zh-CN" sz="1600"/>
                  <a:t>4</a:t>
                </a:r>
              </a:p>
            </p:txBody>
          </p:sp>
        </p:grpSp>
        <p:cxnSp>
          <p:nvCxnSpPr>
            <p:cNvPr id="199" name="直接连接符 198"/>
            <p:cNvCxnSpPr>
              <a:endCxn id="198" idx="2"/>
            </p:cNvCxnSpPr>
            <p:nvPr/>
          </p:nvCxnSpPr>
          <p:spPr>
            <a:xfrm>
              <a:off x="8947" y="4817"/>
              <a:ext cx="9" cy="42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/>
            <p:cNvSpPr txBox="1"/>
            <p:nvPr/>
          </p:nvSpPr>
          <p:spPr>
            <a:xfrm>
              <a:off x="9008" y="4747"/>
              <a:ext cx="2041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400" noProof="0" dirty="0">
                  <a:ln w="0"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缓冲池</a:t>
              </a:r>
            </a:p>
          </p:txBody>
        </p:sp>
        <p:cxnSp>
          <p:nvCxnSpPr>
            <p:cNvPr id="203" name="直接连接符 202"/>
            <p:cNvCxnSpPr>
              <a:stCxn id="198" idx="1"/>
            </p:cNvCxnSpPr>
            <p:nvPr/>
          </p:nvCxnSpPr>
          <p:spPr>
            <a:xfrm>
              <a:off x="4798" y="6886"/>
              <a:ext cx="4138" cy="3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/>
            <p:cNvSpPr txBox="1"/>
            <p:nvPr/>
          </p:nvSpPr>
          <p:spPr>
            <a:xfrm>
              <a:off x="5184" y="4810"/>
              <a:ext cx="3232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400" noProof="0" dirty="0">
                  <a:ln w="0"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归还缓冲区</a:t>
              </a:r>
            </a:p>
          </p:txBody>
        </p:sp>
        <p:sp>
          <p:nvSpPr>
            <p:cNvPr id="205" name="椭圆 204"/>
            <p:cNvSpPr/>
            <p:nvPr/>
          </p:nvSpPr>
          <p:spPr>
            <a:xfrm>
              <a:off x="6054" y="5881"/>
              <a:ext cx="1626" cy="5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  <a:effectLst>
              <a:outerShdw blurRad="50800" dist="50800" dir="5400000" algn="ctr" rotWithShape="0">
                <a:srgbClr val="0068BF">
                  <a:alpha val="10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8</a:t>
              </a:r>
              <a:r>
                <a:rPr lang="zh-CN" altLang="en-US" sz="1600"/>
                <a:t>×</a:t>
              </a:r>
              <a:r>
                <a:rPr lang="en-US" altLang="zh-CN" sz="1600"/>
                <a:t>4</a:t>
              </a:r>
            </a:p>
          </p:txBody>
        </p:sp>
        <p:sp>
          <p:nvSpPr>
            <p:cNvPr id="206" name="形状 205" descr="ARM+FPGA"/>
            <p:cNvSpPr/>
            <p:nvPr/>
          </p:nvSpPr>
          <p:spPr>
            <a:xfrm rot="13200000" flipH="1" flipV="1">
              <a:off x="7751" y="5621"/>
              <a:ext cx="2061" cy="1287"/>
            </a:xfrm>
            <a:prstGeom prst="swooshArrow">
              <a:avLst>
                <a:gd name="adj1" fmla="val 17333"/>
                <a:gd name="adj2" fmla="val 35549"/>
              </a:avLst>
            </a:prstGeom>
            <a:gradFill flip="none" rotWithShape="1">
              <a:gsLst>
                <a:gs pos="30000">
                  <a:schemeClr val="accent1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5251" y="6896"/>
              <a:ext cx="3232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400" noProof="0" dirty="0">
                  <a:ln w="0"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请求缓冲区</a:t>
              </a:r>
            </a:p>
          </p:txBody>
        </p:sp>
        <p:sp>
          <p:nvSpPr>
            <p:cNvPr id="208" name="椭圆 207"/>
            <p:cNvSpPr/>
            <p:nvPr/>
          </p:nvSpPr>
          <p:spPr>
            <a:xfrm>
              <a:off x="6054" y="7995"/>
              <a:ext cx="1626" cy="5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  <a:effectLst>
              <a:outerShdw blurRad="50800" dist="50800" dir="5400000" algn="ctr" rotWithShape="0">
                <a:srgbClr val="0068BF">
                  <a:alpha val="10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64</a:t>
              </a:r>
              <a:r>
                <a:rPr lang="zh-CN" altLang="en-US" sz="1600"/>
                <a:t>×</a:t>
              </a:r>
              <a:r>
                <a:rPr lang="en-US" altLang="zh-CN" sz="1600"/>
                <a:t>32</a:t>
              </a:r>
            </a:p>
          </p:txBody>
        </p:sp>
      </p:grpSp>
      <p:sp>
        <p:nvSpPr>
          <p:cNvPr id="187" name="矩形 186"/>
          <p:cNvSpPr/>
          <p:nvPr/>
        </p:nvSpPr>
        <p:spPr>
          <a:xfrm>
            <a:off x="648500" y="1854385"/>
            <a:ext cx="7909560" cy="634815"/>
          </a:xfrm>
          <a:prstGeom prst="rect">
            <a:avLst/>
          </a:prstGeom>
          <a:solidFill>
            <a:schemeClr val="accent1">
              <a:lumMod val="781"/>
              <a:lumOff val="99219"/>
            </a:schemeClr>
          </a:solidFill>
          <a:ln w="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 Apply1 |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Apply6 | Apply5 | Apply4 | Apply3 | Apply2 | Apply1  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1872145" y="1862640"/>
            <a:ext cx="1229360" cy="577850"/>
            <a:chOff x="7344" y="3537"/>
            <a:chExt cx="1936" cy="910"/>
          </a:xfrm>
        </p:grpSpPr>
        <p:sp>
          <p:nvSpPr>
            <p:cNvPr id="213" name="PA-任意多边形 7"/>
            <p:cNvSpPr/>
            <p:nvPr>
              <p:custDataLst>
                <p:tags r:id="rId14"/>
              </p:custDataLst>
            </p:nvPr>
          </p:nvSpPr>
          <p:spPr>
            <a:xfrm>
              <a:off x="7415" y="3617"/>
              <a:ext cx="1621" cy="830"/>
            </a:xfrm>
            <a:prstGeom prst="roundRect">
              <a:avLst>
                <a:gd name="adj" fmla="val 3397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en-US" altLang="zh-CN" sz="2000" kern="0" dirty="0">
                <a:solidFill>
                  <a:schemeClr val="accent2">
                    <a:lumMod val="75000"/>
                  </a:schemeClr>
                </a:solidFill>
                <a:latin typeface="OPPOSans M" panose="00020600040101010101" pitchFamily="18" charset="-122"/>
                <a:sym typeface="+mn-ea"/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7344" y="3537"/>
              <a:ext cx="1936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sym typeface="+mn-ea"/>
                </a:rPr>
                <a:t>Apply6</a:t>
              </a: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717080" y="1862640"/>
            <a:ext cx="1229360" cy="577850"/>
            <a:chOff x="7344" y="3537"/>
            <a:chExt cx="1936" cy="910"/>
          </a:xfrm>
        </p:grpSpPr>
        <p:sp>
          <p:nvSpPr>
            <p:cNvPr id="223" name="PA-任意多边形 7"/>
            <p:cNvSpPr/>
            <p:nvPr>
              <p:custDataLst>
                <p:tags r:id="rId13"/>
              </p:custDataLst>
            </p:nvPr>
          </p:nvSpPr>
          <p:spPr>
            <a:xfrm>
              <a:off x="7415" y="3617"/>
              <a:ext cx="1621" cy="830"/>
            </a:xfrm>
            <a:prstGeom prst="roundRect">
              <a:avLst>
                <a:gd name="adj" fmla="val 33975"/>
              </a:avLst>
            </a:prstGeom>
            <a:solidFill>
              <a:schemeClr val="bg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5400000" sx="99000" sy="99000" algn="t" rotWithShape="0">
                <a:schemeClr val="accent2">
                  <a:lumMod val="50000"/>
                  <a:alpha val="53000"/>
                </a:schemeClr>
              </a:outerShdw>
            </a:effectLst>
          </p:spPr>
          <p:txBody>
            <a:bodyPr rtlCol="0" anchor="ctr"/>
            <a:lstStyle/>
            <a:p>
              <a:pPr algn="ctr" defTabSz="1219200"/>
              <a:endParaRPr lang="en-US" altLang="zh-CN" sz="2000" kern="0" dirty="0">
                <a:solidFill>
                  <a:schemeClr val="accent2">
                    <a:lumMod val="75000"/>
                  </a:schemeClr>
                </a:solidFill>
                <a:latin typeface="OPPOSans M" panose="00020600040101010101" pitchFamily="18" charset="-122"/>
                <a:sym typeface="+mn-ea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7344" y="3537"/>
              <a:ext cx="1936" cy="8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400">
                  <a:solidFill>
                    <a:schemeClr val="accent2">
                      <a:lumMod val="75000"/>
                    </a:schemeClr>
                  </a:solidFill>
                  <a:sym typeface="+mn-ea"/>
                </a:rPr>
                <a:t>Apply7</a:t>
              </a:r>
              <a:endParaRPr lang="en-US" altLang="zh-CN" sz="2400" dirty="0">
                <a:solidFill>
                  <a:schemeClr val="accent2">
                    <a:lumMod val="75000"/>
                  </a:schemeClr>
                </a:solidFill>
                <a:sym typeface="+mn-ea"/>
              </a:endParaRPr>
            </a:p>
          </p:txBody>
        </p:sp>
      </p:grpSp>
      <p:cxnSp>
        <p:nvCxnSpPr>
          <p:cNvPr id="226" name="直接箭头连接符 225"/>
          <p:cNvCxnSpPr/>
          <p:nvPr/>
        </p:nvCxnSpPr>
        <p:spPr>
          <a:xfrm flipH="1" flipV="1">
            <a:off x="684060" y="1717860"/>
            <a:ext cx="7848600" cy="15875"/>
          </a:xfrm>
          <a:prstGeom prst="straightConnector1">
            <a:avLst/>
          </a:prstGeom>
          <a:ln w="73025">
            <a:gradFill>
              <a:gsLst>
                <a:gs pos="100000">
                  <a:schemeClr val="accent2"/>
                </a:gs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肘形连接符 228"/>
          <p:cNvCxnSpPr/>
          <p:nvPr/>
        </p:nvCxnSpPr>
        <p:spPr>
          <a:xfrm rot="5400000" flipV="1">
            <a:off x="2023275" y="2923725"/>
            <a:ext cx="1360805" cy="452120"/>
          </a:xfrm>
          <a:prstGeom prst="bentConnector3">
            <a:avLst>
              <a:gd name="adj1" fmla="val 99323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肘形连接符 230"/>
          <p:cNvCxnSpPr/>
          <p:nvPr/>
        </p:nvCxnSpPr>
        <p:spPr>
          <a:xfrm rot="16200000" flipV="1">
            <a:off x="656120" y="3051360"/>
            <a:ext cx="2884170" cy="1662430"/>
          </a:xfrm>
          <a:prstGeom prst="bentConnector3">
            <a:avLst>
              <a:gd name="adj1" fmla="val 154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形状 231" descr="ARM+FPGA"/>
          <p:cNvSpPr/>
          <p:nvPr/>
        </p:nvSpPr>
        <p:spPr>
          <a:xfrm rot="1320000" flipH="1" flipV="1">
            <a:off x="4830610" y="5057325"/>
            <a:ext cx="2021205" cy="1108710"/>
          </a:xfrm>
          <a:prstGeom prst="swooshArrow">
            <a:avLst>
              <a:gd name="adj1" fmla="val 17333"/>
              <a:gd name="adj2" fmla="val 35549"/>
            </a:avLst>
          </a:prstGeom>
          <a:gradFill flip="none" rotWithShape="1">
            <a:gsLst>
              <a:gs pos="3000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1266990" y="3156770"/>
            <a:ext cx="551815" cy="7239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复用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234" name="文本框 233"/>
          <p:cNvSpPr txBox="1"/>
          <p:nvPr/>
        </p:nvSpPr>
        <p:spPr>
          <a:xfrm>
            <a:off x="2020100" y="2935155"/>
            <a:ext cx="551815" cy="7219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归还 </a:t>
            </a:r>
            <a:endParaRPr lang="zh-CN" altLang="en-US" dirty="0"/>
          </a:p>
        </p:txBody>
      </p:sp>
      <p:sp>
        <p:nvSpPr>
          <p:cNvPr id="235" name="文本框 234"/>
          <p:cNvSpPr txBox="1"/>
          <p:nvPr/>
        </p:nvSpPr>
        <p:spPr>
          <a:xfrm>
            <a:off x="715175" y="3005005"/>
            <a:ext cx="551815" cy="14541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避免创建</a:t>
            </a:r>
          </a:p>
        </p:txBody>
      </p:sp>
      <p:sp>
        <p:nvSpPr>
          <p:cNvPr id="238" name="任意多边形 237"/>
          <p:cNvSpPr/>
          <p:nvPr/>
        </p:nvSpPr>
        <p:spPr>
          <a:xfrm rot="10800000">
            <a:off x="6477165" y="2603050"/>
            <a:ext cx="1853565" cy="575310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3170720" y="2470970"/>
            <a:ext cx="38220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程序执行时流水创建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9527070" y="1578981"/>
            <a:ext cx="2384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最优提升</a:t>
            </a:r>
          </a:p>
          <a:p>
            <a:pPr algn="ctr"/>
            <a:r>
              <a:rPr lang="zh-CN" altLang="en-US" sz="3200" b="1" kern="0" dirty="0">
                <a:solidFill>
                  <a:srgbClr val="F7802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M" panose="00020600040101010101" pitchFamily="18" charset="-122"/>
              </a:rPr>
              <a:t>32.5%</a:t>
            </a:r>
            <a:r>
              <a:rPr kumimoji="1" lang="zh-CN" altLang="en-US" sz="2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性能</a:t>
            </a:r>
          </a:p>
        </p:txBody>
      </p:sp>
      <p:sp>
        <p:nvSpPr>
          <p:cNvPr id="244" name="任意多边形 243"/>
          <p:cNvSpPr/>
          <p:nvPr/>
        </p:nvSpPr>
        <p:spPr>
          <a:xfrm rot="10800000">
            <a:off x="6992785" y="4009575"/>
            <a:ext cx="826135" cy="302260"/>
          </a:xfrm>
          <a:custGeom>
            <a:avLst/>
            <a:gdLst>
              <a:gd name="connsiteX0" fmla="*/ 2736 w 5707"/>
              <a:gd name="connsiteY0" fmla="*/ 0 h 4890"/>
              <a:gd name="connsiteX1" fmla="*/ 4774 w 5707"/>
              <a:gd name="connsiteY1" fmla="*/ 1776 h 4890"/>
              <a:gd name="connsiteX2" fmla="*/ 3927 w 5707"/>
              <a:gd name="connsiteY2" fmla="*/ 1776 h 4890"/>
              <a:gd name="connsiteX3" fmla="*/ 5707 w 5707"/>
              <a:gd name="connsiteY3" fmla="*/ 4890 h 4890"/>
              <a:gd name="connsiteX4" fmla="*/ 0 w 5707"/>
              <a:gd name="connsiteY4" fmla="*/ 4890 h 4890"/>
              <a:gd name="connsiteX5" fmla="*/ 1780 w 5707"/>
              <a:gd name="connsiteY5" fmla="*/ 1776 h 4890"/>
              <a:gd name="connsiteX6" fmla="*/ 934 w 5707"/>
              <a:gd name="connsiteY6" fmla="*/ 1776 h 4890"/>
              <a:gd name="connsiteX7" fmla="*/ 2736 w 5707"/>
              <a:gd name="connsiteY7" fmla="*/ 0 h 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07" h="4890">
                <a:moveTo>
                  <a:pt x="2736" y="0"/>
                </a:moveTo>
                <a:lnTo>
                  <a:pt x="4774" y="1776"/>
                </a:lnTo>
                <a:lnTo>
                  <a:pt x="3927" y="1776"/>
                </a:lnTo>
                <a:cubicBezTo>
                  <a:pt x="4107" y="3789"/>
                  <a:pt x="5114" y="3852"/>
                  <a:pt x="5707" y="4890"/>
                </a:cubicBezTo>
                <a:lnTo>
                  <a:pt x="0" y="4890"/>
                </a:lnTo>
                <a:cubicBezTo>
                  <a:pt x="593" y="3852"/>
                  <a:pt x="1827" y="3603"/>
                  <a:pt x="1780" y="1776"/>
                </a:cubicBezTo>
                <a:lnTo>
                  <a:pt x="934" y="1776"/>
                </a:lnTo>
                <a:lnTo>
                  <a:pt x="2736" y="0"/>
                </a:lnTo>
                <a:close/>
              </a:path>
            </a:pathLst>
          </a:cu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5" name="文本框 244"/>
          <p:cNvSpPr txBox="1"/>
          <p:nvPr/>
        </p:nvSpPr>
        <p:spPr>
          <a:xfrm>
            <a:off x="7818755" y="3880485"/>
            <a:ext cx="551815" cy="6654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创建 </a:t>
            </a:r>
            <a:endParaRPr lang="zh-CN" altLang="en-US" dirty="0"/>
          </a:p>
        </p:txBody>
      </p:sp>
      <p:sp>
        <p:nvSpPr>
          <p:cNvPr id="248" name="等腰三角形 247"/>
          <p:cNvSpPr/>
          <p:nvPr/>
        </p:nvSpPr>
        <p:spPr>
          <a:xfrm flipH="1" flipV="1">
            <a:off x="3490125" y="2935155"/>
            <a:ext cx="3079115" cy="273685"/>
          </a:xfrm>
          <a:prstGeom prst="triangle">
            <a:avLst>
              <a:gd name="adj" fmla="val 0"/>
            </a:avLst>
          </a:prstGeom>
          <a:gradFill>
            <a:gsLst>
              <a:gs pos="100000">
                <a:srgbClr val="0070C0"/>
              </a:gs>
              <a:gs pos="0">
                <a:schemeClr val="accent1">
                  <a:alpha val="0"/>
                </a:schemeClr>
              </a:gs>
            </a:gsLst>
            <a:lin ang="16200000" scaled="0"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图表 2" descr="7b0a202020202263686172745265734964223a20223530303533343239220a7d0a"/>
          <p:cNvGraphicFramePr/>
          <p:nvPr/>
        </p:nvGraphicFramePr>
        <p:xfrm>
          <a:off x="8693360" y="2530660"/>
          <a:ext cx="7768546" cy="4030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44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45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8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 descr="湖工横版logo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78" name="组合 77"/>
          <p:cNvGrpSpPr/>
          <p:nvPr/>
        </p:nvGrpSpPr>
        <p:grpSpPr>
          <a:xfrm>
            <a:off x="521183" y="6268072"/>
            <a:ext cx="11557623" cy="862698"/>
            <a:chOff x="531660" y="6291983"/>
            <a:chExt cx="11326313" cy="707333"/>
          </a:xfrm>
        </p:grpSpPr>
        <p:sp>
          <p:nvSpPr>
            <p:cNvPr id="79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chemeClr val="bg1"/>
                </a:gs>
                <a:gs pos="85000">
                  <a:schemeClr val="bg1"/>
                </a:gs>
                <a:gs pos="1400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  <a:gs pos="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chemeClr val="accent2">
                      <a:alpha val="0"/>
                    </a:schemeClr>
                  </a:gs>
                  <a:gs pos="6000">
                    <a:schemeClr val="accent1"/>
                  </a:gs>
                  <a:gs pos="98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b="1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80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/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81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44880">
                <a:defRPr/>
              </a:pPr>
              <a:endParaRPr lang="zh-CN" altLang="en-US" sz="1860" kern="0">
                <a:solidFill>
                  <a:prstClr val="white"/>
                </a:solidFill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1636713" y="6496368"/>
            <a:ext cx="93265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减少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内存分配</a:t>
            </a:r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开销，提高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带宽利用率</a:t>
            </a:r>
          </a:p>
          <a:p>
            <a:pPr algn="ctr"/>
            <a:endParaRPr kumimoji="1" lang="zh-CN" altLang="en-US" sz="28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51033" y="5353552"/>
            <a:ext cx="2301876" cy="899957"/>
            <a:chOff x="2185988" y="-3248221"/>
            <a:chExt cx="8229600" cy="899957"/>
          </a:xfrm>
        </p:grpSpPr>
        <p:sp>
          <p:nvSpPr>
            <p:cNvPr id="88" name="文本框 87"/>
            <p:cNvSpPr txBox="1"/>
            <p:nvPr/>
          </p:nvSpPr>
          <p:spPr>
            <a:xfrm>
              <a:off x="2185988" y="-3248221"/>
              <a:ext cx="8229600" cy="547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  <a:cs typeface="OPPOSans M" panose="00020600040101010101" pitchFamily="18" charset="-122"/>
                  <a:sym typeface="优设标题黑" panose="00000500000000000000" pitchFamily="2" charset="-122"/>
                </a:rPr>
                <a:t>一次创建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2185988" y="-2895530"/>
              <a:ext cx="8229600" cy="547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优设标题黑" panose="00000500000000000000" pitchFamily="2" charset="-122"/>
                  <a:ea typeface="优设标题黑" panose="00000500000000000000" pitchFamily="2" charset="-122"/>
                  <a:cs typeface="OPPOSans M" panose="00020600040101010101" pitchFamily="18" charset="-122"/>
                  <a:sym typeface="优设标题黑" panose="00000500000000000000" pitchFamily="2" charset="-122"/>
                </a:rPr>
                <a:t>多次复用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815020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3365" y="1003433"/>
            <a:ext cx="1219327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底层算子优化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3 | 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融合内核</a:t>
            </a: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  <a:p>
            <a:pPr algn="ctr">
              <a:lnSpc>
                <a:spcPct val="110000"/>
              </a:lnSpc>
            </a:pP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5235" y="1636580"/>
            <a:ext cx="11124565" cy="2821305"/>
          </a:xfrm>
          <a:prstGeom prst="roundRect">
            <a:avLst>
              <a:gd name="adj" fmla="val 5413"/>
            </a:avLst>
          </a:prstGeom>
          <a:solidFill>
            <a:schemeClr val="bg1"/>
          </a:solidFill>
          <a:ln w="0">
            <a:noFill/>
          </a:ln>
          <a:effectLst>
            <a:outerShdw blurRad="63500" sx="102000" sy="102000" algn="ctr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524800" y="3283135"/>
            <a:ext cx="10516235" cy="1078230"/>
          </a:xfrm>
          <a:prstGeom prst="rect">
            <a:avLst/>
          </a:prstGeom>
          <a:solidFill>
            <a:srgbClr val="0C70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524800" y="1731830"/>
            <a:ext cx="10516235" cy="329565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2"/>
                </a:solidFill>
              </a:rPr>
              <a:t>Gobal   Memory</a:t>
            </a:r>
          </a:p>
        </p:txBody>
      </p:sp>
      <p:sp>
        <p:nvSpPr>
          <p:cNvPr id="6" name="矩形 5"/>
          <p:cNvSpPr/>
          <p:nvPr/>
        </p:nvSpPr>
        <p:spPr>
          <a:xfrm>
            <a:off x="1525435" y="2554790"/>
            <a:ext cx="1935480" cy="229235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Shared   Memory</a:t>
            </a:r>
          </a:p>
        </p:txBody>
      </p:sp>
      <p:sp>
        <p:nvSpPr>
          <p:cNvPr id="12" name="矩形 11"/>
          <p:cNvSpPr/>
          <p:nvPr/>
        </p:nvSpPr>
        <p:spPr>
          <a:xfrm>
            <a:off x="2076615" y="3277420"/>
            <a:ext cx="1757680" cy="51498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 FFT Kernel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491270" y="205568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172500" y="2110290"/>
            <a:ext cx="28956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/>
              <a:t>A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607090" y="205568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268635" y="2110290"/>
            <a:ext cx="30924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/>
              <a:t>B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491270" y="277831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523905" y="3282500"/>
            <a:ext cx="1757680" cy="51498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 FFT Kernel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610900" y="277831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3545370" y="2055680"/>
            <a:ext cx="15875" cy="12217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 flipV="1">
            <a:off x="5665635" y="2065205"/>
            <a:ext cx="17145" cy="12217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2738920" y="2797360"/>
            <a:ext cx="0" cy="4705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4854740" y="2795455"/>
            <a:ext cx="0" cy="4705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037870" y="3285040"/>
            <a:ext cx="1757680" cy="51498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 Multiplicate Kernel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7407440" y="278466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8282470" y="277831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7800505" y="2079810"/>
            <a:ext cx="21590" cy="121983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7665250" y="2795455"/>
            <a:ext cx="0" cy="4705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9463570" y="3286945"/>
            <a:ext cx="1757680" cy="51498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IFFT Kernel</a:t>
            </a:r>
          </a:p>
        </p:txBody>
      </p:sp>
      <p:cxnSp>
        <p:nvCxnSpPr>
          <p:cNvPr id="40" name="直接箭头连接符 39"/>
          <p:cNvCxnSpPr/>
          <p:nvPr/>
        </p:nvCxnSpPr>
        <p:spPr>
          <a:xfrm flipH="1" flipV="1">
            <a:off x="7935760" y="2065205"/>
            <a:ext cx="14605" cy="12172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9940455" y="2065205"/>
            <a:ext cx="21590" cy="121983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10056660" y="2065205"/>
            <a:ext cx="14605" cy="12172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9708680" y="2783390"/>
            <a:ext cx="5080" cy="4991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525435" y="3829530"/>
            <a:ext cx="10516235" cy="467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 One Fuse Kernel Launch</a:t>
            </a:r>
          </a:p>
        </p:txBody>
      </p:sp>
      <p:sp>
        <p:nvSpPr>
          <p:cNvPr id="48" name="加号 47"/>
          <p:cNvSpPr/>
          <p:nvPr/>
        </p:nvSpPr>
        <p:spPr>
          <a:xfrm>
            <a:off x="3852075" y="3277420"/>
            <a:ext cx="671830" cy="562610"/>
          </a:xfrm>
          <a:prstGeom prst="mathPlus">
            <a:avLst>
              <a:gd name="adj1" fmla="val 3810"/>
            </a:avLst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509435" y="1636580"/>
            <a:ext cx="746125" cy="282130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快速卷积— 融合内核框架</a:t>
            </a:r>
            <a:endParaRPr lang="zh-CN" altLang="en-US" kern="0" dirty="0">
              <a:solidFill>
                <a:schemeClr val="tx1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1777365" y="5137601"/>
            <a:ext cx="4252595" cy="1038860"/>
          </a:xfrm>
          <a:prstGeom prst="round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减少</a:t>
            </a:r>
            <a:r>
              <a:rPr kumimoji="1" lang="en-US" altLang="zh-CN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5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次全局内存访问</a:t>
            </a:r>
          </a:p>
          <a:p>
            <a:pPr algn="ctr">
              <a:lnSpc>
                <a:spcPct val="110000"/>
              </a:lnSpc>
            </a:pPr>
            <a:r>
              <a:rPr lang="zh-CN" altLang="en-US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带宽利用率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理论提高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62.5%</a:t>
            </a:r>
            <a:endParaRPr kumimoji="1" lang="zh-CN" altLang="en-US" sz="2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156960" y="5138236"/>
            <a:ext cx="4754880" cy="1037590"/>
          </a:xfrm>
          <a:prstGeom prst="round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减少</a:t>
            </a:r>
            <a:r>
              <a:rPr kumimoji="1" lang="en-US" altLang="zh-CN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3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次内核调度开销</a:t>
            </a:r>
          </a:p>
          <a:p>
            <a:pPr algn="ctr">
              <a:lnSpc>
                <a:spcPct val="11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综合</a:t>
            </a:r>
            <a:r>
              <a:rPr lang="zh-CN" altLang="en-US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运行速度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至多提高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4倍</a:t>
            </a:r>
            <a:endParaRPr kumimoji="1" lang="zh-CN" altLang="en-US" sz="2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+mn-ea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376335" y="4528370"/>
            <a:ext cx="7494905" cy="4349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68BF"/>
                </a:solidFill>
              </a:rPr>
              <a:t>使多个算子共享内核，分块执行，减少全局内存访问与</a:t>
            </a:r>
            <a:r>
              <a:rPr lang="en-US" altLang="zh-CN">
                <a:solidFill>
                  <a:srgbClr val="0068BF"/>
                </a:solidFill>
              </a:rPr>
              <a:t>Kernel</a:t>
            </a:r>
            <a:r>
              <a:rPr lang="zh-CN" altLang="en-US">
                <a:solidFill>
                  <a:srgbClr val="0068BF"/>
                </a:solidFill>
              </a:rPr>
              <a:t>调度开销</a:t>
            </a:r>
          </a:p>
        </p:txBody>
      </p:sp>
      <p:sp>
        <p:nvSpPr>
          <p:cNvPr id="61" name="加号 60"/>
          <p:cNvSpPr/>
          <p:nvPr/>
        </p:nvSpPr>
        <p:spPr>
          <a:xfrm>
            <a:off x="6331286" y="3230598"/>
            <a:ext cx="671979" cy="562737"/>
          </a:xfrm>
          <a:prstGeom prst="mathPlus">
            <a:avLst>
              <a:gd name="adj1" fmla="val 3810"/>
            </a:avLst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加号 61"/>
          <p:cNvSpPr/>
          <p:nvPr/>
        </p:nvSpPr>
        <p:spPr>
          <a:xfrm>
            <a:off x="8795086" y="3240123"/>
            <a:ext cx="671979" cy="562737"/>
          </a:xfrm>
          <a:prstGeom prst="mathPlus">
            <a:avLst>
              <a:gd name="adj1" fmla="val 3810"/>
            </a:avLst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674849" y="2555638"/>
            <a:ext cx="1935639" cy="229373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Shared   Memory</a:t>
            </a:r>
          </a:p>
        </p:txBody>
      </p:sp>
      <p:sp>
        <p:nvSpPr>
          <p:cNvPr id="13" name="矩形 12"/>
          <p:cNvSpPr/>
          <p:nvPr/>
        </p:nvSpPr>
        <p:spPr>
          <a:xfrm>
            <a:off x="5741774" y="2568338"/>
            <a:ext cx="1935639" cy="229373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Shared   Memory</a:t>
            </a:r>
          </a:p>
        </p:txBody>
      </p:sp>
      <p:sp>
        <p:nvSpPr>
          <p:cNvPr id="18" name="矩形 17"/>
          <p:cNvSpPr/>
          <p:nvPr/>
        </p:nvSpPr>
        <p:spPr>
          <a:xfrm>
            <a:off x="7935699" y="2568973"/>
            <a:ext cx="1935639" cy="229373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Shared   Memory</a:t>
            </a:r>
          </a:p>
        </p:txBody>
      </p:sp>
      <p:sp>
        <p:nvSpPr>
          <p:cNvPr id="19" name="矩形 18"/>
          <p:cNvSpPr/>
          <p:nvPr/>
        </p:nvSpPr>
        <p:spPr>
          <a:xfrm>
            <a:off x="10105494" y="2569608"/>
            <a:ext cx="1935639" cy="229373"/>
          </a:xfrm>
          <a:prstGeom prst="rect">
            <a:avLst/>
          </a:prstGeom>
          <a:solidFill>
            <a:srgbClr val="0068B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Shared   Memory</a:t>
            </a:r>
          </a:p>
        </p:txBody>
      </p:sp>
      <p:pic>
        <p:nvPicPr>
          <p:cNvPr id="21" name="图片 95" descr="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>
            <a:off x="681520" y="5104131"/>
            <a:ext cx="1061720" cy="11290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5" name="图片 95" descr="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>
            <a:off x="10945660" y="5104131"/>
            <a:ext cx="1061720" cy="11290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28" name="组合 27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29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35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97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3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湖工横版logo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/>
        </p:nvGrpSpPr>
        <p:grpSpPr>
          <a:xfrm>
            <a:off x="521183" y="6268072"/>
            <a:ext cx="11557623" cy="862698"/>
            <a:chOff x="531660" y="6291983"/>
            <a:chExt cx="11326313" cy="707333"/>
          </a:xfrm>
        </p:grpSpPr>
        <p:sp>
          <p:nvSpPr>
            <p:cNvPr id="70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71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72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73" name="文本框 72"/>
          <p:cNvSpPr txBox="1"/>
          <p:nvPr/>
        </p:nvSpPr>
        <p:spPr>
          <a:xfrm>
            <a:off x="1636713" y="6496368"/>
            <a:ext cx="9326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算子内核融合，显著提高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多算子程序</a:t>
            </a:r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运行效率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815020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70" y="1005988"/>
            <a:ext cx="1219009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应用算法构建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1 | 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MVDR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自适应波束形成</a:t>
            </a: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  <a:p>
            <a:pPr algn="ctr">
              <a:lnSpc>
                <a:spcPct val="110000"/>
              </a:lnSpc>
            </a:pP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519930" y="1736090"/>
            <a:ext cx="3564890" cy="1838325"/>
            <a:chOff x="7049" y="2627"/>
            <a:chExt cx="4721" cy="3001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7049" y="3364"/>
              <a:ext cx="4720" cy="2264"/>
            </a:xfrm>
            <a:prstGeom prst="round2SameRect">
              <a:avLst>
                <a:gd name="adj1" fmla="val 7249"/>
                <a:gd name="adj2" fmla="val 0"/>
              </a:avLst>
            </a:prstGeom>
            <a:solidFill>
              <a:schemeClr val="bg1"/>
            </a:solidFill>
            <a:ln w="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PA-任意多边形 7"/>
            <p:cNvSpPr/>
            <p:nvPr>
              <p:custDataLst>
                <p:tags r:id="rId15"/>
              </p:custDataLst>
            </p:nvPr>
          </p:nvSpPr>
          <p:spPr>
            <a:xfrm>
              <a:off x="7049" y="2627"/>
              <a:ext cx="4721" cy="740"/>
            </a:xfrm>
            <a:prstGeom prst="round2SameRect">
              <a:avLst>
                <a:gd name="adj1" fmla="val 16667"/>
                <a:gd name="adj2" fmla="val 3975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200"/>
              <a:r>
                <a:rPr lang="zh-CN" altLang="en-US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途径2</a:t>
              </a:r>
              <a:r>
                <a:rPr lang="en-US" altLang="zh-CN" kern="0" dirty="0">
                  <a:solidFill>
                    <a:prstClr val="white"/>
                  </a:solidFill>
                  <a:latin typeface="OPPOSans M" panose="00020600040101010101" pitchFamily="18" charset="-122"/>
                </a:rPr>
                <a:t> |</a:t>
              </a:r>
              <a:r>
                <a:rPr lang="zh-CN" altLang="en-US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批处理频点+分块协方差</a:t>
              </a:r>
              <a:endParaRPr lang="zh-CN" altLang="en-US" kern="0" dirty="0">
                <a:solidFill>
                  <a:prstClr val="white"/>
                </a:solidFill>
                <a:latin typeface="OPPOSans M" panose="00020600040101010101" pitchFamily="18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8655" y="1724025"/>
            <a:ext cx="3564890" cy="1846580"/>
            <a:chOff x="7049" y="2627"/>
            <a:chExt cx="4721" cy="3021"/>
          </a:xfrm>
          <a:effectLst/>
        </p:grpSpPr>
        <p:sp>
          <p:nvSpPr>
            <p:cNvPr id="21" name="同侧圆角矩形 20"/>
            <p:cNvSpPr/>
            <p:nvPr/>
          </p:nvSpPr>
          <p:spPr>
            <a:xfrm rot="10800000">
              <a:off x="7049" y="3390"/>
              <a:ext cx="4720" cy="2258"/>
            </a:xfrm>
            <a:prstGeom prst="round2SameRect">
              <a:avLst>
                <a:gd name="adj1" fmla="val 7249"/>
                <a:gd name="adj2" fmla="val 0"/>
              </a:avLst>
            </a:prstGeom>
            <a:solidFill>
              <a:schemeClr val="bg1"/>
            </a:solidFill>
            <a:ln w="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PA-任意多边形 7"/>
            <p:cNvSpPr/>
            <p:nvPr>
              <p:custDataLst>
                <p:tags r:id="rId14"/>
              </p:custDataLst>
            </p:nvPr>
          </p:nvSpPr>
          <p:spPr>
            <a:xfrm>
              <a:off x="7049" y="2627"/>
              <a:ext cx="4721" cy="757"/>
            </a:xfrm>
            <a:prstGeom prst="round2SameRect">
              <a:avLst>
                <a:gd name="adj1" fmla="val 16667"/>
                <a:gd name="adj2" fmla="val 3975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200"/>
              <a:r>
                <a:rPr lang="zh-CN" altLang="en-US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途径1</a:t>
              </a:r>
              <a:r>
                <a:rPr lang="en-US" altLang="zh-CN" kern="0" dirty="0">
                  <a:solidFill>
                    <a:prstClr val="white"/>
                  </a:solidFill>
                  <a:latin typeface="OPPOSans M" panose="00020600040101010101" pitchFamily="18" charset="-122"/>
                </a:rPr>
                <a:t> | </a:t>
              </a:r>
              <a:r>
                <a:rPr lang="zh-CN" altLang="en-US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预计算导向相位表</a:t>
              </a:r>
              <a:endParaRPr lang="zh-CN" altLang="en-US" b="1" kern="0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370570" y="1751330"/>
            <a:ext cx="3564890" cy="1816100"/>
            <a:chOff x="7049" y="2627"/>
            <a:chExt cx="4721" cy="2974"/>
          </a:xfrm>
        </p:grpSpPr>
        <p:sp>
          <p:nvSpPr>
            <p:cNvPr id="24" name="同侧圆角矩形 23"/>
            <p:cNvSpPr/>
            <p:nvPr/>
          </p:nvSpPr>
          <p:spPr>
            <a:xfrm rot="10800000">
              <a:off x="7049" y="3341"/>
              <a:ext cx="4720" cy="2260"/>
            </a:xfrm>
            <a:prstGeom prst="round2SameRect">
              <a:avLst>
                <a:gd name="adj1" fmla="val 7249"/>
                <a:gd name="adj2" fmla="val 0"/>
              </a:avLst>
            </a:prstGeom>
            <a:solidFill>
              <a:schemeClr val="bg1"/>
            </a:solidFill>
            <a:ln w="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任意多边形 7"/>
            <p:cNvSpPr/>
            <p:nvPr>
              <p:custDataLst>
                <p:tags r:id="rId13"/>
              </p:custDataLst>
            </p:nvPr>
          </p:nvSpPr>
          <p:spPr>
            <a:xfrm>
              <a:off x="7049" y="2627"/>
              <a:ext cx="4721" cy="719"/>
            </a:xfrm>
            <a:prstGeom prst="round2SameRect">
              <a:avLst>
                <a:gd name="adj1" fmla="val 16667"/>
                <a:gd name="adj2" fmla="val 3975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200"/>
              <a:r>
                <a:rPr lang="zh-CN" altLang="en-US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途径</a:t>
              </a:r>
              <a:r>
                <a:rPr lang="en-US" altLang="zh-CN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+mn-ea"/>
                </a:rPr>
                <a:t>3 </a:t>
              </a:r>
              <a:r>
                <a:rPr lang="zh-CN" altLang="en-US" sz="2000" kern="0" dirty="0">
                  <a:solidFill>
                    <a:prstClr val="white"/>
                  </a:solidFill>
                  <a:latin typeface="OPPOSans M" panose="00020600040101010101" pitchFamily="18" charset="-122"/>
                  <a:sym typeface="+mn-ea"/>
                </a:rPr>
                <a:t>| </a:t>
              </a:r>
              <a:r>
                <a:rPr lang="zh-CN" altLang="en-US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非显式求逆</a:t>
              </a:r>
              <a:endParaRPr lang="zh-CN" altLang="en-US" b="1" kern="0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endParaRPr>
            </a:p>
          </p:txBody>
        </p:sp>
      </p:grpSp>
      <p:graphicFrame>
        <p:nvGraphicFramePr>
          <p:cNvPr id="27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44590" y="3472815"/>
          <a:ext cx="111760" cy="199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14300" imgH="215900" progId="Equation.KSEE3">
                  <p:embed/>
                </p:oleObj>
              </mc:Choice>
              <mc:Fallback>
                <p:oleObj r:id="rId17" imgW="114300" imgH="215900" progId="Equation.KSEE3">
                  <p:embed/>
                  <p:pic>
                    <p:nvPicPr>
                      <p:cNvPr id="0" name="对象 2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44590" y="3472815"/>
                        <a:ext cx="111760" cy="199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54985" y="2806700"/>
          <a:ext cx="110363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749300" imgH="254000" progId="Equation.KSEE3">
                  <p:embed/>
                </p:oleObj>
              </mc:Choice>
              <mc:Fallback>
                <p:oleObj r:id="rId19" imgW="749300" imgH="254000" progId="Equation.KSEE3">
                  <p:embed/>
                  <p:pic>
                    <p:nvPicPr>
                      <p:cNvPr id="0" name="对象 2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54985" y="2806700"/>
                        <a:ext cx="110363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25445" y="2246630"/>
          <a:ext cx="1256030" cy="41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130300" imgH="393700" progId="Equation.KSEE3">
                  <p:embed/>
                </p:oleObj>
              </mc:Choice>
              <mc:Fallback>
                <p:oleObj r:id="rId21" imgW="1130300" imgH="393700" progId="Equation.KSEE3">
                  <p:embed/>
                  <p:pic>
                    <p:nvPicPr>
                      <p:cNvPr id="0" name="对象 2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25445" y="2246630"/>
                        <a:ext cx="1256030" cy="41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728345" y="2289810"/>
            <a:ext cx="923925" cy="320675"/>
          </a:xfrm>
          <a:prstGeom prst="rect">
            <a:avLst/>
          </a:prstGeom>
          <a:solidFill>
            <a:schemeClr val="bg2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HOST</a:t>
            </a:r>
          </a:p>
        </p:txBody>
      </p:sp>
      <p:sp>
        <p:nvSpPr>
          <p:cNvPr id="32" name="矩形 31"/>
          <p:cNvSpPr/>
          <p:nvPr/>
        </p:nvSpPr>
        <p:spPr>
          <a:xfrm>
            <a:off x="728345" y="2806065"/>
            <a:ext cx="923925" cy="320675"/>
          </a:xfrm>
          <a:prstGeom prst="rect">
            <a:avLst/>
          </a:prstGeom>
          <a:solidFill>
            <a:schemeClr val="bg2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GPU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591945" y="2219325"/>
            <a:ext cx="1431925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/>
                </a:solidFill>
              </a:rPr>
              <a:t>预计算阵元—角度二维表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623060" y="2806065"/>
            <a:ext cx="1431925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/>
              <a:t>实时查表计算相位</a:t>
            </a:r>
            <a:endParaRPr lang="zh-CN" altLang="en-US" sz="1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670560" y="3192780"/>
            <a:ext cx="321564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ym typeface="+mn-ea"/>
              </a:rPr>
              <a:t>解耦                  </a:t>
            </a:r>
            <a:r>
              <a:rPr lang="en-US" altLang="zh-CN" sz="1400" dirty="0"/>
              <a:t>频率因子与空间因子</a:t>
            </a:r>
          </a:p>
        </p:txBody>
      </p:sp>
      <p:grpSp>
        <p:nvGrpSpPr>
          <p:cNvPr id="375" name="组合 374"/>
          <p:cNvGrpSpPr/>
          <p:nvPr/>
        </p:nvGrpSpPr>
        <p:grpSpPr>
          <a:xfrm>
            <a:off x="4380865" y="2244725"/>
            <a:ext cx="3949700" cy="1134110"/>
            <a:chOff x="3320" y="6238"/>
            <a:chExt cx="6359" cy="1931"/>
          </a:xfrm>
        </p:grpSpPr>
        <p:grpSp>
          <p:nvGrpSpPr>
            <p:cNvPr id="283" name="组合 282"/>
            <p:cNvGrpSpPr/>
            <p:nvPr/>
          </p:nvGrpSpPr>
          <p:grpSpPr>
            <a:xfrm>
              <a:off x="3320" y="6455"/>
              <a:ext cx="2270" cy="1714"/>
              <a:chOff x="5000" y="6500"/>
              <a:chExt cx="2270" cy="1714"/>
            </a:xfrm>
          </p:grpSpPr>
          <p:sp>
            <p:nvSpPr>
              <p:cNvPr id="36" name="立方体 35"/>
              <p:cNvSpPr/>
              <p:nvPr/>
            </p:nvSpPr>
            <p:spPr>
              <a:xfrm>
                <a:off x="5762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立方体 36"/>
              <p:cNvSpPr/>
              <p:nvPr/>
            </p:nvSpPr>
            <p:spPr>
              <a:xfrm>
                <a:off x="5967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立方体 37"/>
              <p:cNvSpPr/>
              <p:nvPr/>
            </p:nvSpPr>
            <p:spPr>
              <a:xfrm>
                <a:off x="6171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立方体 38"/>
              <p:cNvSpPr/>
              <p:nvPr/>
            </p:nvSpPr>
            <p:spPr>
              <a:xfrm>
                <a:off x="6376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立方体 39"/>
              <p:cNvSpPr/>
              <p:nvPr/>
            </p:nvSpPr>
            <p:spPr>
              <a:xfrm>
                <a:off x="6581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立方体 40"/>
              <p:cNvSpPr/>
              <p:nvPr/>
            </p:nvSpPr>
            <p:spPr>
              <a:xfrm>
                <a:off x="6785" y="650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立方体 41"/>
              <p:cNvSpPr/>
              <p:nvPr/>
            </p:nvSpPr>
            <p:spPr>
              <a:xfrm>
                <a:off x="5746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立方体 42"/>
              <p:cNvSpPr/>
              <p:nvPr/>
            </p:nvSpPr>
            <p:spPr>
              <a:xfrm>
                <a:off x="5950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立方体 43"/>
              <p:cNvSpPr/>
              <p:nvPr/>
            </p:nvSpPr>
            <p:spPr>
              <a:xfrm>
                <a:off x="6155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立方体 44"/>
              <p:cNvSpPr/>
              <p:nvPr/>
            </p:nvSpPr>
            <p:spPr>
              <a:xfrm>
                <a:off x="6360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立方体 47"/>
              <p:cNvSpPr/>
              <p:nvPr/>
            </p:nvSpPr>
            <p:spPr>
              <a:xfrm>
                <a:off x="6564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立方体 48"/>
              <p:cNvSpPr/>
              <p:nvPr/>
            </p:nvSpPr>
            <p:spPr>
              <a:xfrm>
                <a:off x="6769" y="668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立方体 49"/>
              <p:cNvSpPr/>
              <p:nvPr/>
            </p:nvSpPr>
            <p:spPr>
              <a:xfrm>
                <a:off x="5746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立方体 50"/>
              <p:cNvSpPr/>
              <p:nvPr/>
            </p:nvSpPr>
            <p:spPr>
              <a:xfrm>
                <a:off x="5950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立方体 51"/>
              <p:cNvSpPr/>
              <p:nvPr/>
            </p:nvSpPr>
            <p:spPr>
              <a:xfrm>
                <a:off x="6155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立方体 52"/>
              <p:cNvSpPr/>
              <p:nvPr/>
            </p:nvSpPr>
            <p:spPr>
              <a:xfrm>
                <a:off x="6360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立方体 54"/>
              <p:cNvSpPr/>
              <p:nvPr/>
            </p:nvSpPr>
            <p:spPr>
              <a:xfrm>
                <a:off x="6564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立方体 55"/>
              <p:cNvSpPr/>
              <p:nvPr/>
            </p:nvSpPr>
            <p:spPr>
              <a:xfrm>
                <a:off x="6769" y="688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立方体 56"/>
              <p:cNvSpPr/>
              <p:nvPr/>
            </p:nvSpPr>
            <p:spPr>
              <a:xfrm>
                <a:off x="5729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立方体 58"/>
              <p:cNvSpPr/>
              <p:nvPr/>
            </p:nvSpPr>
            <p:spPr>
              <a:xfrm>
                <a:off x="5934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立方体 59"/>
              <p:cNvSpPr/>
              <p:nvPr/>
            </p:nvSpPr>
            <p:spPr>
              <a:xfrm>
                <a:off x="6139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立方体 60"/>
              <p:cNvSpPr/>
              <p:nvPr/>
            </p:nvSpPr>
            <p:spPr>
              <a:xfrm>
                <a:off x="6343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立方体 61"/>
              <p:cNvSpPr/>
              <p:nvPr/>
            </p:nvSpPr>
            <p:spPr>
              <a:xfrm>
                <a:off x="6548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立方体 62"/>
              <p:cNvSpPr/>
              <p:nvPr/>
            </p:nvSpPr>
            <p:spPr>
              <a:xfrm>
                <a:off x="6753" y="706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立方体 63"/>
              <p:cNvSpPr/>
              <p:nvPr/>
            </p:nvSpPr>
            <p:spPr>
              <a:xfrm>
                <a:off x="5719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立方体 64"/>
              <p:cNvSpPr/>
              <p:nvPr/>
            </p:nvSpPr>
            <p:spPr>
              <a:xfrm>
                <a:off x="5923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立方体 65"/>
              <p:cNvSpPr/>
              <p:nvPr/>
            </p:nvSpPr>
            <p:spPr>
              <a:xfrm>
                <a:off x="6128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立方体 67"/>
              <p:cNvSpPr/>
              <p:nvPr/>
            </p:nvSpPr>
            <p:spPr>
              <a:xfrm>
                <a:off x="6333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立方体 68"/>
              <p:cNvSpPr/>
              <p:nvPr/>
            </p:nvSpPr>
            <p:spPr>
              <a:xfrm>
                <a:off x="6537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立方体 69"/>
              <p:cNvSpPr/>
              <p:nvPr/>
            </p:nvSpPr>
            <p:spPr>
              <a:xfrm>
                <a:off x="6742" y="725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立方体 70"/>
              <p:cNvSpPr/>
              <p:nvPr/>
            </p:nvSpPr>
            <p:spPr>
              <a:xfrm>
                <a:off x="5702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立方体 71"/>
              <p:cNvSpPr/>
              <p:nvPr/>
            </p:nvSpPr>
            <p:spPr>
              <a:xfrm>
                <a:off x="5907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立方体 72"/>
              <p:cNvSpPr/>
              <p:nvPr/>
            </p:nvSpPr>
            <p:spPr>
              <a:xfrm>
                <a:off x="6112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立方体 73"/>
              <p:cNvSpPr/>
              <p:nvPr/>
            </p:nvSpPr>
            <p:spPr>
              <a:xfrm>
                <a:off x="6316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立方体 74"/>
              <p:cNvSpPr/>
              <p:nvPr/>
            </p:nvSpPr>
            <p:spPr>
              <a:xfrm>
                <a:off x="6521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立方体 75"/>
              <p:cNvSpPr/>
              <p:nvPr/>
            </p:nvSpPr>
            <p:spPr>
              <a:xfrm>
                <a:off x="6726" y="744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立方体 76"/>
              <p:cNvSpPr/>
              <p:nvPr/>
            </p:nvSpPr>
            <p:spPr>
              <a:xfrm>
                <a:off x="5688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立方体 77"/>
              <p:cNvSpPr/>
              <p:nvPr/>
            </p:nvSpPr>
            <p:spPr>
              <a:xfrm>
                <a:off x="5893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立方体 78"/>
              <p:cNvSpPr/>
              <p:nvPr/>
            </p:nvSpPr>
            <p:spPr>
              <a:xfrm>
                <a:off x="6098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立方体 79"/>
              <p:cNvSpPr/>
              <p:nvPr/>
            </p:nvSpPr>
            <p:spPr>
              <a:xfrm>
                <a:off x="6302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立方体 80"/>
              <p:cNvSpPr/>
              <p:nvPr/>
            </p:nvSpPr>
            <p:spPr>
              <a:xfrm>
                <a:off x="6507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立方体 81"/>
              <p:cNvSpPr/>
              <p:nvPr/>
            </p:nvSpPr>
            <p:spPr>
              <a:xfrm>
                <a:off x="6712" y="65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立方体 82"/>
              <p:cNvSpPr/>
              <p:nvPr/>
            </p:nvSpPr>
            <p:spPr>
              <a:xfrm>
                <a:off x="5672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立方体 83"/>
              <p:cNvSpPr/>
              <p:nvPr/>
            </p:nvSpPr>
            <p:spPr>
              <a:xfrm>
                <a:off x="5877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立方体 84"/>
              <p:cNvSpPr/>
              <p:nvPr/>
            </p:nvSpPr>
            <p:spPr>
              <a:xfrm>
                <a:off x="6082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立方体 85"/>
              <p:cNvSpPr/>
              <p:nvPr/>
            </p:nvSpPr>
            <p:spPr>
              <a:xfrm>
                <a:off x="6286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立方体 86"/>
              <p:cNvSpPr/>
              <p:nvPr/>
            </p:nvSpPr>
            <p:spPr>
              <a:xfrm>
                <a:off x="6491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立方体 87"/>
              <p:cNvSpPr/>
              <p:nvPr/>
            </p:nvSpPr>
            <p:spPr>
              <a:xfrm>
                <a:off x="6696" y="676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立方体 88"/>
              <p:cNvSpPr/>
              <p:nvPr/>
            </p:nvSpPr>
            <p:spPr>
              <a:xfrm>
                <a:off x="5672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立方体 89"/>
              <p:cNvSpPr/>
              <p:nvPr/>
            </p:nvSpPr>
            <p:spPr>
              <a:xfrm>
                <a:off x="5877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立方体 90"/>
              <p:cNvSpPr/>
              <p:nvPr/>
            </p:nvSpPr>
            <p:spPr>
              <a:xfrm>
                <a:off x="6082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立方体 91"/>
              <p:cNvSpPr/>
              <p:nvPr/>
            </p:nvSpPr>
            <p:spPr>
              <a:xfrm>
                <a:off x="6286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立方体 92"/>
              <p:cNvSpPr/>
              <p:nvPr/>
            </p:nvSpPr>
            <p:spPr>
              <a:xfrm>
                <a:off x="6491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立方体 93"/>
              <p:cNvSpPr/>
              <p:nvPr/>
            </p:nvSpPr>
            <p:spPr>
              <a:xfrm>
                <a:off x="6696" y="695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立方体 94"/>
              <p:cNvSpPr/>
              <p:nvPr/>
            </p:nvSpPr>
            <p:spPr>
              <a:xfrm>
                <a:off x="5656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立方体 95"/>
              <p:cNvSpPr/>
              <p:nvPr/>
            </p:nvSpPr>
            <p:spPr>
              <a:xfrm>
                <a:off x="5861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立方体 96"/>
              <p:cNvSpPr/>
              <p:nvPr/>
            </p:nvSpPr>
            <p:spPr>
              <a:xfrm>
                <a:off x="6065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立方体 97"/>
              <p:cNvSpPr/>
              <p:nvPr/>
            </p:nvSpPr>
            <p:spPr>
              <a:xfrm>
                <a:off x="6270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立方体 98"/>
              <p:cNvSpPr/>
              <p:nvPr/>
            </p:nvSpPr>
            <p:spPr>
              <a:xfrm>
                <a:off x="6475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立方体 99"/>
              <p:cNvSpPr/>
              <p:nvPr/>
            </p:nvSpPr>
            <p:spPr>
              <a:xfrm>
                <a:off x="6679" y="714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立方体 101"/>
              <p:cNvSpPr/>
              <p:nvPr/>
            </p:nvSpPr>
            <p:spPr>
              <a:xfrm>
                <a:off x="5645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立方体 102"/>
              <p:cNvSpPr/>
              <p:nvPr/>
            </p:nvSpPr>
            <p:spPr>
              <a:xfrm>
                <a:off x="5850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立方体 103"/>
              <p:cNvSpPr/>
              <p:nvPr/>
            </p:nvSpPr>
            <p:spPr>
              <a:xfrm>
                <a:off x="6054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立方体 104"/>
              <p:cNvSpPr/>
              <p:nvPr/>
            </p:nvSpPr>
            <p:spPr>
              <a:xfrm>
                <a:off x="6259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立方体 107"/>
              <p:cNvSpPr/>
              <p:nvPr/>
            </p:nvSpPr>
            <p:spPr>
              <a:xfrm>
                <a:off x="6464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立方体 116"/>
              <p:cNvSpPr/>
              <p:nvPr/>
            </p:nvSpPr>
            <p:spPr>
              <a:xfrm>
                <a:off x="6668" y="73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立方体 117"/>
              <p:cNvSpPr/>
              <p:nvPr/>
            </p:nvSpPr>
            <p:spPr>
              <a:xfrm>
                <a:off x="5629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立方体 118"/>
              <p:cNvSpPr/>
              <p:nvPr/>
            </p:nvSpPr>
            <p:spPr>
              <a:xfrm>
                <a:off x="5834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立方体 119"/>
              <p:cNvSpPr/>
              <p:nvPr/>
            </p:nvSpPr>
            <p:spPr>
              <a:xfrm>
                <a:off x="6038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立方体 120"/>
              <p:cNvSpPr/>
              <p:nvPr/>
            </p:nvSpPr>
            <p:spPr>
              <a:xfrm>
                <a:off x="6243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立方体 121"/>
              <p:cNvSpPr/>
              <p:nvPr/>
            </p:nvSpPr>
            <p:spPr>
              <a:xfrm>
                <a:off x="6448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立方体 122"/>
              <p:cNvSpPr/>
              <p:nvPr/>
            </p:nvSpPr>
            <p:spPr>
              <a:xfrm>
                <a:off x="6652" y="75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立方体 123"/>
              <p:cNvSpPr/>
              <p:nvPr/>
            </p:nvSpPr>
            <p:spPr>
              <a:xfrm>
                <a:off x="5629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立方体 124"/>
              <p:cNvSpPr/>
              <p:nvPr/>
            </p:nvSpPr>
            <p:spPr>
              <a:xfrm>
                <a:off x="5834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/>
              <p:cNvSpPr/>
              <p:nvPr/>
            </p:nvSpPr>
            <p:spPr>
              <a:xfrm>
                <a:off x="6038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立方体 126"/>
              <p:cNvSpPr/>
              <p:nvPr/>
            </p:nvSpPr>
            <p:spPr>
              <a:xfrm>
                <a:off x="6243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/>
              <p:cNvSpPr/>
              <p:nvPr/>
            </p:nvSpPr>
            <p:spPr>
              <a:xfrm>
                <a:off x="6448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/>
              <p:cNvSpPr/>
              <p:nvPr/>
            </p:nvSpPr>
            <p:spPr>
              <a:xfrm>
                <a:off x="6652" y="665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立方体 129"/>
              <p:cNvSpPr/>
              <p:nvPr/>
            </p:nvSpPr>
            <p:spPr>
              <a:xfrm>
                <a:off x="5613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/>
              <p:cNvSpPr/>
              <p:nvPr/>
            </p:nvSpPr>
            <p:spPr>
              <a:xfrm>
                <a:off x="5817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/>
              <p:cNvSpPr/>
              <p:nvPr/>
            </p:nvSpPr>
            <p:spPr>
              <a:xfrm>
                <a:off x="6022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/>
              <p:cNvSpPr/>
              <p:nvPr/>
            </p:nvSpPr>
            <p:spPr>
              <a:xfrm>
                <a:off x="6227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/>
              <p:cNvSpPr/>
              <p:nvPr/>
            </p:nvSpPr>
            <p:spPr>
              <a:xfrm>
                <a:off x="6431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/>
              <p:cNvSpPr/>
              <p:nvPr/>
            </p:nvSpPr>
            <p:spPr>
              <a:xfrm>
                <a:off x="6636" y="684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/>
              <p:cNvSpPr/>
              <p:nvPr/>
            </p:nvSpPr>
            <p:spPr>
              <a:xfrm>
                <a:off x="5613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立方体 136"/>
              <p:cNvSpPr/>
              <p:nvPr/>
            </p:nvSpPr>
            <p:spPr>
              <a:xfrm>
                <a:off x="5817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/>
              <p:cNvSpPr/>
              <p:nvPr/>
            </p:nvSpPr>
            <p:spPr>
              <a:xfrm>
                <a:off x="6022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/>
              <p:cNvSpPr/>
              <p:nvPr/>
            </p:nvSpPr>
            <p:spPr>
              <a:xfrm>
                <a:off x="6227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/>
              <p:cNvSpPr/>
              <p:nvPr/>
            </p:nvSpPr>
            <p:spPr>
              <a:xfrm>
                <a:off x="6431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/>
              <p:cNvSpPr/>
              <p:nvPr/>
            </p:nvSpPr>
            <p:spPr>
              <a:xfrm>
                <a:off x="6636" y="70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立方体 141"/>
              <p:cNvSpPr/>
              <p:nvPr/>
            </p:nvSpPr>
            <p:spPr>
              <a:xfrm>
                <a:off x="5596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立方体 142"/>
              <p:cNvSpPr/>
              <p:nvPr/>
            </p:nvSpPr>
            <p:spPr>
              <a:xfrm>
                <a:off x="5801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/>
              <p:cNvSpPr/>
              <p:nvPr/>
            </p:nvSpPr>
            <p:spPr>
              <a:xfrm>
                <a:off x="6006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/>
              <p:cNvSpPr/>
              <p:nvPr/>
            </p:nvSpPr>
            <p:spPr>
              <a:xfrm>
                <a:off x="6210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/>
              <p:cNvSpPr/>
              <p:nvPr/>
            </p:nvSpPr>
            <p:spPr>
              <a:xfrm>
                <a:off x="6415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立方体 146"/>
              <p:cNvSpPr/>
              <p:nvPr/>
            </p:nvSpPr>
            <p:spPr>
              <a:xfrm>
                <a:off x="6620" y="72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/>
              <p:cNvSpPr/>
              <p:nvPr/>
            </p:nvSpPr>
            <p:spPr>
              <a:xfrm>
                <a:off x="5586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/>
              <p:cNvSpPr/>
              <p:nvPr/>
            </p:nvSpPr>
            <p:spPr>
              <a:xfrm>
                <a:off x="5790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立方体 149"/>
              <p:cNvSpPr/>
              <p:nvPr/>
            </p:nvSpPr>
            <p:spPr>
              <a:xfrm>
                <a:off x="5995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/>
              <p:cNvSpPr/>
              <p:nvPr/>
            </p:nvSpPr>
            <p:spPr>
              <a:xfrm>
                <a:off x="6200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立方体 151"/>
              <p:cNvSpPr/>
              <p:nvPr/>
            </p:nvSpPr>
            <p:spPr>
              <a:xfrm>
                <a:off x="6404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立方体 152"/>
              <p:cNvSpPr/>
              <p:nvPr/>
            </p:nvSpPr>
            <p:spPr>
              <a:xfrm>
                <a:off x="6609" y="74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立方体 153"/>
              <p:cNvSpPr/>
              <p:nvPr/>
            </p:nvSpPr>
            <p:spPr>
              <a:xfrm>
                <a:off x="5569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立方体 154"/>
              <p:cNvSpPr/>
              <p:nvPr/>
            </p:nvSpPr>
            <p:spPr>
              <a:xfrm>
                <a:off x="5774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立方体 155"/>
              <p:cNvSpPr/>
              <p:nvPr/>
            </p:nvSpPr>
            <p:spPr>
              <a:xfrm>
                <a:off x="5979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立方体 156"/>
              <p:cNvSpPr/>
              <p:nvPr/>
            </p:nvSpPr>
            <p:spPr>
              <a:xfrm>
                <a:off x="6183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立方体 157"/>
              <p:cNvSpPr/>
              <p:nvPr/>
            </p:nvSpPr>
            <p:spPr>
              <a:xfrm>
                <a:off x="6388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立方体 158"/>
              <p:cNvSpPr/>
              <p:nvPr/>
            </p:nvSpPr>
            <p:spPr>
              <a:xfrm>
                <a:off x="6593" y="759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立方体 159"/>
              <p:cNvSpPr/>
              <p:nvPr/>
            </p:nvSpPr>
            <p:spPr>
              <a:xfrm>
                <a:off x="5560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立方体 160"/>
              <p:cNvSpPr/>
              <p:nvPr/>
            </p:nvSpPr>
            <p:spPr>
              <a:xfrm>
                <a:off x="5764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立方体 161"/>
              <p:cNvSpPr/>
              <p:nvPr/>
            </p:nvSpPr>
            <p:spPr>
              <a:xfrm>
                <a:off x="5969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立方体 162"/>
              <p:cNvSpPr/>
              <p:nvPr/>
            </p:nvSpPr>
            <p:spPr>
              <a:xfrm>
                <a:off x="6174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立方体 163"/>
              <p:cNvSpPr/>
              <p:nvPr/>
            </p:nvSpPr>
            <p:spPr>
              <a:xfrm>
                <a:off x="6378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立方体 164"/>
              <p:cNvSpPr/>
              <p:nvPr/>
            </p:nvSpPr>
            <p:spPr>
              <a:xfrm>
                <a:off x="6583" y="673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立方体 165"/>
              <p:cNvSpPr/>
              <p:nvPr/>
            </p:nvSpPr>
            <p:spPr>
              <a:xfrm>
                <a:off x="5543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立方体 166"/>
              <p:cNvSpPr/>
              <p:nvPr/>
            </p:nvSpPr>
            <p:spPr>
              <a:xfrm>
                <a:off x="5748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立方体 167"/>
              <p:cNvSpPr/>
              <p:nvPr/>
            </p:nvSpPr>
            <p:spPr>
              <a:xfrm>
                <a:off x="5953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立方体 168"/>
              <p:cNvSpPr/>
              <p:nvPr/>
            </p:nvSpPr>
            <p:spPr>
              <a:xfrm>
                <a:off x="6157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立方体 169"/>
              <p:cNvSpPr/>
              <p:nvPr/>
            </p:nvSpPr>
            <p:spPr>
              <a:xfrm>
                <a:off x="6362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立方体 170"/>
              <p:cNvSpPr/>
              <p:nvPr/>
            </p:nvSpPr>
            <p:spPr>
              <a:xfrm>
                <a:off x="6567" y="692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立方体 171"/>
              <p:cNvSpPr/>
              <p:nvPr/>
            </p:nvSpPr>
            <p:spPr>
              <a:xfrm>
                <a:off x="5543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立方体 172"/>
              <p:cNvSpPr/>
              <p:nvPr/>
            </p:nvSpPr>
            <p:spPr>
              <a:xfrm>
                <a:off x="5748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立方体 173"/>
              <p:cNvSpPr/>
              <p:nvPr/>
            </p:nvSpPr>
            <p:spPr>
              <a:xfrm>
                <a:off x="5953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立方体 174"/>
              <p:cNvSpPr/>
              <p:nvPr/>
            </p:nvSpPr>
            <p:spPr>
              <a:xfrm>
                <a:off x="6157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立方体 175"/>
              <p:cNvSpPr/>
              <p:nvPr/>
            </p:nvSpPr>
            <p:spPr>
              <a:xfrm>
                <a:off x="6362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/>
              <p:cNvSpPr/>
              <p:nvPr/>
            </p:nvSpPr>
            <p:spPr>
              <a:xfrm>
                <a:off x="6567" y="712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/>
              <p:cNvSpPr/>
              <p:nvPr/>
            </p:nvSpPr>
            <p:spPr>
              <a:xfrm>
                <a:off x="5527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立方体 178"/>
              <p:cNvSpPr/>
              <p:nvPr/>
            </p:nvSpPr>
            <p:spPr>
              <a:xfrm>
                <a:off x="5732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立方体 179"/>
              <p:cNvSpPr/>
              <p:nvPr/>
            </p:nvSpPr>
            <p:spPr>
              <a:xfrm>
                <a:off x="5936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立方体 180"/>
              <p:cNvSpPr/>
              <p:nvPr/>
            </p:nvSpPr>
            <p:spPr>
              <a:xfrm>
                <a:off x="6141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立方体 181"/>
              <p:cNvSpPr/>
              <p:nvPr/>
            </p:nvSpPr>
            <p:spPr>
              <a:xfrm>
                <a:off x="6346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立方体 182"/>
              <p:cNvSpPr/>
              <p:nvPr/>
            </p:nvSpPr>
            <p:spPr>
              <a:xfrm>
                <a:off x="6550" y="730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立方体 183"/>
              <p:cNvSpPr/>
              <p:nvPr/>
            </p:nvSpPr>
            <p:spPr>
              <a:xfrm>
                <a:off x="5516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立方体 184"/>
              <p:cNvSpPr/>
              <p:nvPr/>
            </p:nvSpPr>
            <p:spPr>
              <a:xfrm>
                <a:off x="5721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/>
              <p:cNvSpPr/>
              <p:nvPr/>
            </p:nvSpPr>
            <p:spPr>
              <a:xfrm>
                <a:off x="5926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立方体 186"/>
              <p:cNvSpPr/>
              <p:nvPr/>
            </p:nvSpPr>
            <p:spPr>
              <a:xfrm>
                <a:off x="6130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立方体 187"/>
              <p:cNvSpPr/>
              <p:nvPr/>
            </p:nvSpPr>
            <p:spPr>
              <a:xfrm>
                <a:off x="6335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立方体 188"/>
              <p:cNvSpPr/>
              <p:nvPr/>
            </p:nvSpPr>
            <p:spPr>
              <a:xfrm>
                <a:off x="6540" y="749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/>
              <p:cNvSpPr/>
              <p:nvPr/>
            </p:nvSpPr>
            <p:spPr>
              <a:xfrm>
                <a:off x="5500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/>
              <p:cNvSpPr/>
              <p:nvPr/>
            </p:nvSpPr>
            <p:spPr>
              <a:xfrm>
                <a:off x="5705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立方体 191"/>
              <p:cNvSpPr/>
              <p:nvPr/>
            </p:nvSpPr>
            <p:spPr>
              <a:xfrm>
                <a:off x="5909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立方体 192"/>
              <p:cNvSpPr/>
              <p:nvPr/>
            </p:nvSpPr>
            <p:spPr>
              <a:xfrm>
                <a:off x="6114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立方体 193"/>
              <p:cNvSpPr/>
              <p:nvPr/>
            </p:nvSpPr>
            <p:spPr>
              <a:xfrm>
                <a:off x="6319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立方体 194"/>
              <p:cNvSpPr/>
              <p:nvPr/>
            </p:nvSpPr>
            <p:spPr>
              <a:xfrm>
                <a:off x="6523" y="76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立方体 195"/>
              <p:cNvSpPr/>
              <p:nvPr/>
            </p:nvSpPr>
            <p:spPr>
              <a:xfrm>
                <a:off x="5486" y="681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立方体 196"/>
              <p:cNvSpPr/>
              <p:nvPr/>
            </p:nvSpPr>
            <p:spPr>
              <a:xfrm>
                <a:off x="5691" y="681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立方体 197"/>
              <p:cNvSpPr/>
              <p:nvPr/>
            </p:nvSpPr>
            <p:spPr>
              <a:xfrm>
                <a:off x="5896" y="681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立方体 198"/>
              <p:cNvSpPr/>
              <p:nvPr/>
            </p:nvSpPr>
            <p:spPr>
              <a:xfrm>
                <a:off x="6100" y="681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立方体 201"/>
              <p:cNvSpPr/>
              <p:nvPr/>
            </p:nvSpPr>
            <p:spPr>
              <a:xfrm>
                <a:off x="5470" y="70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立方体 202"/>
              <p:cNvSpPr/>
              <p:nvPr/>
            </p:nvSpPr>
            <p:spPr>
              <a:xfrm>
                <a:off x="5675" y="70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立方体 203"/>
              <p:cNvSpPr/>
              <p:nvPr/>
            </p:nvSpPr>
            <p:spPr>
              <a:xfrm>
                <a:off x="5879" y="70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立方体 204"/>
              <p:cNvSpPr/>
              <p:nvPr/>
            </p:nvSpPr>
            <p:spPr>
              <a:xfrm>
                <a:off x="6084" y="70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立方体 207"/>
              <p:cNvSpPr/>
              <p:nvPr/>
            </p:nvSpPr>
            <p:spPr>
              <a:xfrm>
                <a:off x="5470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立方体 208"/>
              <p:cNvSpPr/>
              <p:nvPr/>
            </p:nvSpPr>
            <p:spPr>
              <a:xfrm>
                <a:off x="5675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立方体 209"/>
              <p:cNvSpPr/>
              <p:nvPr/>
            </p:nvSpPr>
            <p:spPr>
              <a:xfrm>
                <a:off x="5879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立方体 210"/>
              <p:cNvSpPr/>
              <p:nvPr/>
            </p:nvSpPr>
            <p:spPr>
              <a:xfrm>
                <a:off x="6084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立方体 211"/>
              <p:cNvSpPr/>
              <p:nvPr/>
            </p:nvSpPr>
            <p:spPr>
              <a:xfrm>
                <a:off x="6289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立方体 212"/>
              <p:cNvSpPr/>
              <p:nvPr/>
            </p:nvSpPr>
            <p:spPr>
              <a:xfrm>
                <a:off x="6493" y="719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立方体 213"/>
              <p:cNvSpPr/>
              <p:nvPr/>
            </p:nvSpPr>
            <p:spPr>
              <a:xfrm>
                <a:off x="5454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立方体 214"/>
              <p:cNvSpPr/>
              <p:nvPr/>
            </p:nvSpPr>
            <p:spPr>
              <a:xfrm>
                <a:off x="5658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立方体 215"/>
              <p:cNvSpPr/>
              <p:nvPr/>
            </p:nvSpPr>
            <p:spPr>
              <a:xfrm>
                <a:off x="5863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立方体 216"/>
              <p:cNvSpPr/>
              <p:nvPr/>
            </p:nvSpPr>
            <p:spPr>
              <a:xfrm>
                <a:off x="6068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立方体 217"/>
              <p:cNvSpPr/>
              <p:nvPr/>
            </p:nvSpPr>
            <p:spPr>
              <a:xfrm>
                <a:off x="6272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立方体 218"/>
              <p:cNvSpPr/>
              <p:nvPr/>
            </p:nvSpPr>
            <p:spPr>
              <a:xfrm>
                <a:off x="6477" y="738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立方体 219"/>
              <p:cNvSpPr/>
              <p:nvPr/>
            </p:nvSpPr>
            <p:spPr>
              <a:xfrm>
                <a:off x="5443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立方体 220"/>
              <p:cNvSpPr/>
              <p:nvPr/>
            </p:nvSpPr>
            <p:spPr>
              <a:xfrm>
                <a:off x="5648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立方体 221"/>
              <p:cNvSpPr/>
              <p:nvPr/>
            </p:nvSpPr>
            <p:spPr>
              <a:xfrm>
                <a:off x="5852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立方体 222"/>
              <p:cNvSpPr/>
              <p:nvPr/>
            </p:nvSpPr>
            <p:spPr>
              <a:xfrm>
                <a:off x="6057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立方体 223"/>
              <p:cNvSpPr/>
              <p:nvPr/>
            </p:nvSpPr>
            <p:spPr>
              <a:xfrm>
                <a:off x="6262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立方体 224"/>
              <p:cNvSpPr/>
              <p:nvPr/>
            </p:nvSpPr>
            <p:spPr>
              <a:xfrm>
                <a:off x="6466" y="75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立方体 225"/>
              <p:cNvSpPr/>
              <p:nvPr/>
            </p:nvSpPr>
            <p:spPr>
              <a:xfrm>
                <a:off x="5427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立方体 226"/>
              <p:cNvSpPr/>
              <p:nvPr/>
            </p:nvSpPr>
            <p:spPr>
              <a:xfrm>
                <a:off x="5631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立方体 227"/>
              <p:cNvSpPr/>
              <p:nvPr/>
            </p:nvSpPr>
            <p:spPr>
              <a:xfrm>
                <a:off x="5836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立方体 228"/>
              <p:cNvSpPr/>
              <p:nvPr/>
            </p:nvSpPr>
            <p:spPr>
              <a:xfrm>
                <a:off x="6041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立方体 229"/>
              <p:cNvSpPr/>
              <p:nvPr/>
            </p:nvSpPr>
            <p:spPr>
              <a:xfrm>
                <a:off x="6245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立方体 230"/>
              <p:cNvSpPr/>
              <p:nvPr/>
            </p:nvSpPr>
            <p:spPr>
              <a:xfrm>
                <a:off x="6450" y="77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立方体 231"/>
              <p:cNvSpPr/>
              <p:nvPr/>
            </p:nvSpPr>
            <p:spPr>
              <a:xfrm>
                <a:off x="5427" y="689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立方体 232"/>
              <p:cNvSpPr/>
              <p:nvPr/>
            </p:nvSpPr>
            <p:spPr>
              <a:xfrm>
                <a:off x="5631" y="689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立方体 233"/>
              <p:cNvSpPr/>
              <p:nvPr/>
            </p:nvSpPr>
            <p:spPr>
              <a:xfrm>
                <a:off x="5836" y="689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立方体 234"/>
              <p:cNvSpPr/>
              <p:nvPr/>
            </p:nvSpPr>
            <p:spPr>
              <a:xfrm>
                <a:off x="6041" y="689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立方体 237"/>
              <p:cNvSpPr/>
              <p:nvPr/>
            </p:nvSpPr>
            <p:spPr>
              <a:xfrm>
                <a:off x="5410" y="708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立方体 238"/>
              <p:cNvSpPr/>
              <p:nvPr/>
            </p:nvSpPr>
            <p:spPr>
              <a:xfrm>
                <a:off x="5615" y="708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立方体 239"/>
              <p:cNvSpPr/>
              <p:nvPr/>
            </p:nvSpPr>
            <p:spPr>
              <a:xfrm>
                <a:off x="5820" y="708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立方体 240"/>
              <p:cNvSpPr/>
              <p:nvPr/>
            </p:nvSpPr>
            <p:spPr>
              <a:xfrm>
                <a:off x="6024" y="708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立方体 241"/>
              <p:cNvSpPr/>
              <p:nvPr/>
            </p:nvSpPr>
            <p:spPr>
              <a:xfrm>
                <a:off x="6311" y="681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立方体 243"/>
              <p:cNvSpPr/>
              <p:nvPr/>
            </p:nvSpPr>
            <p:spPr>
              <a:xfrm>
                <a:off x="5410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立方体 244"/>
              <p:cNvSpPr/>
              <p:nvPr/>
            </p:nvSpPr>
            <p:spPr>
              <a:xfrm>
                <a:off x="5615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立方体 245"/>
              <p:cNvSpPr/>
              <p:nvPr/>
            </p:nvSpPr>
            <p:spPr>
              <a:xfrm>
                <a:off x="5820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立方体 246"/>
              <p:cNvSpPr/>
              <p:nvPr/>
            </p:nvSpPr>
            <p:spPr>
              <a:xfrm>
                <a:off x="6024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立方体 247"/>
              <p:cNvSpPr/>
              <p:nvPr/>
            </p:nvSpPr>
            <p:spPr>
              <a:xfrm>
                <a:off x="6229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立方体 248"/>
              <p:cNvSpPr/>
              <p:nvPr/>
            </p:nvSpPr>
            <p:spPr>
              <a:xfrm>
                <a:off x="6434" y="72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立方体 249"/>
              <p:cNvSpPr/>
              <p:nvPr/>
            </p:nvSpPr>
            <p:spPr>
              <a:xfrm>
                <a:off x="5394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立方体 250"/>
              <p:cNvSpPr/>
              <p:nvPr/>
            </p:nvSpPr>
            <p:spPr>
              <a:xfrm>
                <a:off x="5599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立方体 251"/>
              <p:cNvSpPr/>
              <p:nvPr/>
            </p:nvSpPr>
            <p:spPr>
              <a:xfrm>
                <a:off x="5803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立方体 252"/>
              <p:cNvSpPr/>
              <p:nvPr/>
            </p:nvSpPr>
            <p:spPr>
              <a:xfrm>
                <a:off x="6008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立方体 253"/>
              <p:cNvSpPr/>
              <p:nvPr/>
            </p:nvSpPr>
            <p:spPr>
              <a:xfrm>
                <a:off x="6213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立方体 254"/>
              <p:cNvSpPr/>
              <p:nvPr/>
            </p:nvSpPr>
            <p:spPr>
              <a:xfrm>
                <a:off x="6417" y="746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立方体 255"/>
              <p:cNvSpPr/>
              <p:nvPr/>
            </p:nvSpPr>
            <p:spPr>
              <a:xfrm>
                <a:off x="5383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立方体 256"/>
              <p:cNvSpPr/>
              <p:nvPr/>
            </p:nvSpPr>
            <p:spPr>
              <a:xfrm>
                <a:off x="5588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立方体 257"/>
              <p:cNvSpPr/>
              <p:nvPr/>
            </p:nvSpPr>
            <p:spPr>
              <a:xfrm>
                <a:off x="5793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立方体 258"/>
              <p:cNvSpPr/>
              <p:nvPr/>
            </p:nvSpPr>
            <p:spPr>
              <a:xfrm>
                <a:off x="5997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立方体 259"/>
              <p:cNvSpPr/>
              <p:nvPr/>
            </p:nvSpPr>
            <p:spPr>
              <a:xfrm>
                <a:off x="6202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立方体 260"/>
              <p:cNvSpPr/>
              <p:nvPr/>
            </p:nvSpPr>
            <p:spPr>
              <a:xfrm>
                <a:off x="6407" y="764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立方体 261"/>
              <p:cNvSpPr/>
              <p:nvPr/>
            </p:nvSpPr>
            <p:spPr>
              <a:xfrm>
                <a:off x="5367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立方体 262"/>
              <p:cNvSpPr/>
              <p:nvPr/>
            </p:nvSpPr>
            <p:spPr>
              <a:xfrm>
                <a:off x="5572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立方体 263"/>
              <p:cNvSpPr/>
              <p:nvPr/>
            </p:nvSpPr>
            <p:spPr>
              <a:xfrm>
                <a:off x="5776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立方体 264"/>
              <p:cNvSpPr/>
              <p:nvPr/>
            </p:nvSpPr>
            <p:spPr>
              <a:xfrm>
                <a:off x="5981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立方体 265"/>
              <p:cNvSpPr/>
              <p:nvPr/>
            </p:nvSpPr>
            <p:spPr>
              <a:xfrm>
                <a:off x="6186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立方体 266"/>
              <p:cNvSpPr/>
              <p:nvPr/>
            </p:nvSpPr>
            <p:spPr>
              <a:xfrm>
                <a:off x="6390" y="783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立方体 268"/>
              <p:cNvSpPr/>
              <p:nvPr/>
            </p:nvSpPr>
            <p:spPr>
              <a:xfrm>
                <a:off x="6518" y="681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立方体 269"/>
              <p:cNvSpPr/>
              <p:nvPr/>
            </p:nvSpPr>
            <p:spPr>
              <a:xfrm>
                <a:off x="6300" y="7016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1" name="立方体 270"/>
              <p:cNvSpPr/>
              <p:nvPr/>
            </p:nvSpPr>
            <p:spPr>
              <a:xfrm>
                <a:off x="6507" y="7016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立方体 271"/>
              <p:cNvSpPr/>
              <p:nvPr/>
            </p:nvSpPr>
            <p:spPr>
              <a:xfrm>
                <a:off x="6251" y="689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立方体 272"/>
              <p:cNvSpPr/>
              <p:nvPr/>
            </p:nvSpPr>
            <p:spPr>
              <a:xfrm>
                <a:off x="6456" y="689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" name="立方体 273"/>
              <p:cNvSpPr/>
              <p:nvPr/>
            </p:nvSpPr>
            <p:spPr>
              <a:xfrm>
                <a:off x="6232" y="7096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立方体 274"/>
              <p:cNvSpPr/>
              <p:nvPr/>
            </p:nvSpPr>
            <p:spPr>
              <a:xfrm>
                <a:off x="6445" y="7096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6" name="直接箭头连接符 275"/>
              <p:cNvCxnSpPr/>
              <p:nvPr/>
            </p:nvCxnSpPr>
            <p:spPr>
              <a:xfrm flipV="1">
                <a:off x="5367" y="6915"/>
                <a:ext cx="0" cy="1069"/>
              </a:xfrm>
              <a:prstGeom prst="straightConnector1">
                <a:avLst/>
              </a:prstGeom>
              <a:ln w="6350" cmpd="sng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8" name="文本框 277"/>
              <p:cNvSpPr txBox="1"/>
              <p:nvPr/>
            </p:nvSpPr>
            <p:spPr>
              <a:xfrm>
                <a:off x="5000" y="6824"/>
                <a:ext cx="486" cy="2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700" dirty="0"/>
                  <a:t>fid</a:t>
                </a:r>
              </a:p>
            </p:txBody>
          </p:sp>
          <p:cxnSp>
            <p:nvCxnSpPr>
              <p:cNvPr id="279" name="直接箭头连接符 278"/>
              <p:cNvCxnSpPr/>
              <p:nvPr/>
            </p:nvCxnSpPr>
            <p:spPr>
              <a:xfrm flipV="1">
                <a:off x="5369" y="7993"/>
                <a:ext cx="1177" cy="2"/>
              </a:xfrm>
              <a:prstGeom prst="straightConnector1">
                <a:avLst/>
              </a:prstGeom>
              <a:ln w="6350" cmpd="sng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箭头连接符 279"/>
              <p:cNvCxnSpPr/>
              <p:nvPr/>
            </p:nvCxnSpPr>
            <p:spPr>
              <a:xfrm flipV="1">
                <a:off x="6528" y="7510"/>
                <a:ext cx="408" cy="485"/>
              </a:xfrm>
              <a:prstGeom prst="straightConnector1">
                <a:avLst/>
              </a:prstGeom>
              <a:ln w="6350" cmpd="sng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文本框 280"/>
              <p:cNvSpPr txBox="1"/>
              <p:nvPr/>
            </p:nvSpPr>
            <p:spPr>
              <a:xfrm>
                <a:off x="6262" y="7942"/>
                <a:ext cx="486" cy="2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700" dirty="0"/>
                  <a:t>M</a:t>
                </a:r>
                <a:r>
                  <a:rPr lang="en-US" altLang="zh-CN" sz="700" i="1" baseline="-25000" dirty="0"/>
                  <a:t>i</a:t>
                </a:r>
              </a:p>
            </p:txBody>
          </p:sp>
          <p:sp>
            <p:nvSpPr>
              <p:cNvPr id="282" name="文本框 281"/>
              <p:cNvSpPr txBox="1"/>
              <p:nvPr/>
            </p:nvSpPr>
            <p:spPr>
              <a:xfrm>
                <a:off x="6784" y="7407"/>
                <a:ext cx="486" cy="2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700" dirty="0"/>
                  <a:t>M</a:t>
                </a:r>
                <a:r>
                  <a:rPr lang="en-US" altLang="zh-CN" sz="700" i="1" baseline="-25000" dirty="0"/>
                  <a:t>j</a:t>
                </a:r>
              </a:p>
            </p:txBody>
          </p:sp>
        </p:grpSp>
        <p:grpSp>
          <p:nvGrpSpPr>
            <p:cNvPr id="302" name="组合 301"/>
            <p:cNvGrpSpPr/>
            <p:nvPr/>
          </p:nvGrpSpPr>
          <p:grpSpPr>
            <a:xfrm>
              <a:off x="7702" y="6601"/>
              <a:ext cx="1977" cy="581"/>
              <a:chOff x="1564" y="6337"/>
              <a:chExt cx="1315" cy="357"/>
            </a:xfrm>
          </p:grpSpPr>
          <p:sp>
            <p:nvSpPr>
              <p:cNvPr id="287" name="立方体 286"/>
              <p:cNvSpPr/>
              <p:nvPr/>
            </p:nvSpPr>
            <p:spPr>
              <a:xfrm>
                <a:off x="1749" y="633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立方体 285"/>
              <p:cNvSpPr/>
              <p:nvPr/>
            </p:nvSpPr>
            <p:spPr>
              <a:xfrm>
                <a:off x="1956" y="6337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" name="立方体 288"/>
              <p:cNvSpPr/>
              <p:nvPr/>
            </p:nvSpPr>
            <p:spPr>
              <a:xfrm>
                <a:off x="1668" y="6398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立方体 290"/>
              <p:cNvSpPr/>
              <p:nvPr/>
            </p:nvSpPr>
            <p:spPr>
              <a:xfrm>
                <a:off x="1875" y="6398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1564" y="6494"/>
                <a:ext cx="885" cy="2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800" dirty="0"/>
                  <a:t>TILE_I</a:t>
                </a:r>
              </a:p>
            </p:txBody>
          </p:sp>
          <p:sp>
            <p:nvSpPr>
              <p:cNvPr id="298" name="文本框 297"/>
              <p:cNvSpPr txBox="1"/>
              <p:nvPr/>
            </p:nvSpPr>
            <p:spPr>
              <a:xfrm>
                <a:off x="1994" y="6422"/>
                <a:ext cx="885" cy="2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800" dirty="0"/>
                  <a:t>TILE_J</a:t>
                </a:r>
              </a:p>
            </p:txBody>
          </p:sp>
        </p:grpSp>
        <p:sp>
          <p:nvSpPr>
            <p:cNvPr id="303" name="任意多边形 302"/>
            <p:cNvSpPr/>
            <p:nvPr/>
          </p:nvSpPr>
          <p:spPr>
            <a:xfrm rot="5400000">
              <a:off x="5366" y="7031"/>
              <a:ext cx="469" cy="489"/>
            </a:xfrm>
            <a:custGeom>
              <a:avLst/>
              <a:gdLst>
                <a:gd name="connsiteX0" fmla="*/ 2736 w 5707"/>
                <a:gd name="connsiteY0" fmla="*/ 0 h 4890"/>
                <a:gd name="connsiteX1" fmla="*/ 4774 w 5707"/>
                <a:gd name="connsiteY1" fmla="*/ 1776 h 4890"/>
                <a:gd name="connsiteX2" fmla="*/ 3927 w 5707"/>
                <a:gd name="connsiteY2" fmla="*/ 1776 h 4890"/>
                <a:gd name="connsiteX3" fmla="*/ 5707 w 5707"/>
                <a:gd name="connsiteY3" fmla="*/ 4890 h 4890"/>
                <a:gd name="connsiteX4" fmla="*/ 0 w 5707"/>
                <a:gd name="connsiteY4" fmla="*/ 4890 h 4890"/>
                <a:gd name="connsiteX5" fmla="*/ 1780 w 5707"/>
                <a:gd name="connsiteY5" fmla="*/ 1776 h 4890"/>
                <a:gd name="connsiteX6" fmla="*/ 934 w 5707"/>
                <a:gd name="connsiteY6" fmla="*/ 1776 h 4890"/>
                <a:gd name="connsiteX7" fmla="*/ 2736 w 5707"/>
                <a:gd name="connsiteY7" fmla="*/ 0 h 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7" h="4890">
                  <a:moveTo>
                    <a:pt x="2736" y="0"/>
                  </a:moveTo>
                  <a:lnTo>
                    <a:pt x="4774" y="1776"/>
                  </a:lnTo>
                  <a:lnTo>
                    <a:pt x="3927" y="1776"/>
                  </a:lnTo>
                  <a:cubicBezTo>
                    <a:pt x="4107" y="3789"/>
                    <a:pt x="5114" y="3852"/>
                    <a:pt x="5707" y="4890"/>
                  </a:cubicBezTo>
                  <a:lnTo>
                    <a:pt x="0" y="4890"/>
                  </a:lnTo>
                  <a:cubicBezTo>
                    <a:pt x="593" y="3852"/>
                    <a:pt x="1827" y="3603"/>
                    <a:pt x="1780" y="1776"/>
                  </a:cubicBezTo>
                  <a:lnTo>
                    <a:pt x="934" y="1776"/>
                  </a:lnTo>
                  <a:lnTo>
                    <a:pt x="2736" y="0"/>
                  </a:lnTo>
                  <a:close/>
                </a:path>
              </a:pathLst>
            </a:custGeom>
            <a:gradFill>
              <a:gsLst>
                <a:gs pos="100000">
                  <a:srgbClr val="0070C0"/>
                </a:gs>
                <a:gs pos="0">
                  <a:schemeClr val="accent1"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4" name="文本框 303"/>
            <p:cNvSpPr txBox="1"/>
            <p:nvPr/>
          </p:nvSpPr>
          <p:spPr>
            <a:xfrm>
              <a:off x="5770" y="7011"/>
              <a:ext cx="1846" cy="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900" dirty="0"/>
                <a:t>Frequency-Batched</a:t>
              </a:r>
            </a:p>
          </p:txBody>
        </p:sp>
        <p:grpSp>
          <p:nvGrpSpPr>
            <p:cNvPr id="365" name="组合 364"/>
            <p:cNvGrpSpPr/>
            <p:nvPr/>
          </p:nvGrpSpPr>
          <p:grpSpPr>
            <a:xfrm>
              <a:off x="5782" y="6363"/>
              <a:ext cx="1606" cy="1637"/>
              <a:chOff x="6129" y="6396"/>
              <a:chExt cx="1606" cy="1637"/>
            </a:xfrm>
          </p:grpSpPr>
          <p:sp>
            <p:nvSpPr>
              <p:cNvPr id="329" name="立方体 328"/>
              <p:cNvSpPr/>
              <p:nvPr/>
            </p:nvSpPr>
            <p:spPr>
              <a:xfrm>
                <a:off x="6664" y="640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立方体 329"/>
              <p:cNvSpPr/>
              <p:nvPr/>
            </p:nvSpPr>
            <p:spPr>
              <a:xfrm>
                <a:off x="6591" y="64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立方体 330"/>
              <p:cNvSpPr/>
              <p:nvPr/>
            </p:nvSpPr>
            <p:spPr>
              <a:xfrm>
                <a:off x="6531" y="656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立方体 331"/>
              <p:cNvSpPr/>
              <p:nvPr/>
            </p:nvSpPr>
            <p:spPr>
              <a:xfrm>
                <a:off x="6462" y="664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立方体 332"/>
              <p:cNvSpPr/>
              <p:nvPr/>
            </p:nvSpPr>
            <p:spPr>
              <a:xfrm>
                <a:off x="6389" y="671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" name="立方体 333"/>
              <p:cNvSpPr/>
              <p:nvPr/>
            </p:nvSpPr>
            <p:spPr>
              <a:xfrm>
                <a:off x="6329" y="680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立方体 322"/>
              <p:cNvSpPr/>
              <p:nvPr/>
            </p:nvSpPr>
            <p:spPr>
              <a:xfrm>
                <a:off x="6891" y="64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" name="立方体 323"/>
              <p:cNvSpPr/>
              <p:nvPr/>
            </p:nvSpPr>
            <p:spPr>
              <a:xfrm>
                <a:off x="6818" y="647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立方体 324"/>
              <p:cNvSpPr/>
              <p:nvPr/>
            </p:nvSpPr>
            <p:spPr>
              <a:xfrm>
                <a:off x="6758" y="656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" name="立方体 325"/>
              <p:cNvSpPr/>
              <p:nvPr/>
            </p:nvSpPr>
            <p:spPr>
              <a:xfrm>
                <a:off x="6689" y="664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立方体 326"/>
              <p:cNvSpPr/>
              <p:nvPr/>
            </p:nvSpPr>
            <p:spPr>
              <a:xfrm>
                <a:off x="6616" y="671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8" name="立方体 327"/>
              <p:cNvSpPr/>
              <p:nvPr/>
            </p:nvSpPr>
            <p:spPr>
              <a:xfrm>
                <a:off x="6556" y="679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立方体 316"/>
              <p:cNvSpPr/>
              <p:nvPr/>
            </p:nvSpPr>
            <p:spPr>
              <a:xfrm>
                <a:off x="7124" y="639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" name="立方体 317"/>
              <p:cNvSpPr/>
              <p:nvPr/>
            </p:nvSpPr>
            <p:spPr>
              <a:xfrm>
                <a:off x="7051" y="647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立方体 318"/>
              <p:cNvSpPr/>
              <p:nvPr/>
            </p:nvSpPr>
            <p:spPr>
              <a:xfrm>
                <a:off x="6991" y="655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" name="立方体 319"/>
              <p:cNvSpPr/>
              <p:nvPr/>
            </p:nvSpPr>
            <p:spPr>
              <a:xfrm>
                <a:off x="6922" y="663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" name="立方体 320"/>
              <p:cNvSpPr/>
              <p:nvPr/>
            </p:nvSpPr>
            <p:spPr>
              <a:xfrm>
                <a:off x="6849" y="671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立方体 321"/>
              <p:cNvSpPr/>
              <p:nvPr/>
            </p:nvSpPr>
            <p:spPr>
              <a:xfrm>
                <a:off x="6789" y="679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立方体 304"/>
              <p:cNvSpPr/>
              <p:nvPr/>
            </p:nvSpPr>
            <p:spPr>
              <a:xfrm>
                <a:off x="7345" y="640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" name="立方体 305"/>
              <p:cNvSpPr/>
              <p:nvPr/>
            </p:nvSpPr>
            <p:spPr>
              <a:xfrm>
                <a:off x="7272" y="647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立方体 306"/>
              <p:cNvSpPr/>
              <p:nvPr/>
            </p:nvSpPr>
            <p:spPr>
              <a:xfrm>
                <a:off x="7212" y="656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立方体 307"/>
              <p:cNvSpPr/>
              <p:nvPr/>
            </p:nvSpPr>
            <p:spPr>
              <a:xfrm>
                <a:off x="7143" y="664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立方体 308"/>
              <p:cNvSpPr/>
              <p:nvPr/>
            </p:nvSpPr>
            <p:spPr>
              <a:xfrm>
                <a:off x="7078" y="6719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" name="立方体 309"/>
              <p:cNvSpPr/>
              <p:nvPr/>
            </p:nvSpPr>
            <p:spPr>
              <a:xfrm>
                <a:off x="7016" y="6799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立方体 310"/>
              <p:cNvSpPr/>
              <p:nvPr/>
            </p:nvSpPr>
            <p:spPr>
              <a:xfrm>
                <a:off x="7571" y="640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立方体 311"/>
              <p:cNvSpPr/>
              <p:nvPr/>
            </p:nvSpPr>
            <p:spPr>
              <a:xfrm>
                <a:off x="7498" y="647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立方体 312"/>
              <p:cNvSpPr/>
              <p:nvPr/>
            </p:nvSpPr>
            <p:spPr>
              <a:xfrm>
                <a:off x="7438" y="656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立方体 313"/>
              <p:cNvSpPr/>
              <p:nvPr/>
            </p:nvSpPr>
            <p:spPr>
              <a:xfrm>
                <a:off x="7369" y="664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立方体 314"/>
              <p:cNvSpPr/>
              <p:nvPr/>
            </p:nvSpPr>
            <p:spPr>
              <a:xfrm>
                <a:off x="7304" y="6721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立方体 315"/>
              <p:cNvSpPr/>
              <p:nvPr/>
            </p:nvSpPr>
            <p:spPr>
              <a:xfrm>
                <a:off x="7242" y="6801"/>
                <a:ext cx="164" cy="158"/>
              </a:xfrm>
              <a:prstGeom prst="cube">
                <a:avLst/>
              </a:prstGeom>
              <a:solidFill>
                <a:srgbClr val="FFEFBE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" name="立方体 334"/>
              <p:cNvSpPr/>
              <p:nvPr/>
            </p:nvSpPr>
            <p:spPr>
              <a:xfrm>
                <a:off x="6464" y="74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立方体 335"/>
              <p:cNvSpPr/>
              <p:nvPr/>
            </p:nvSpPr>
            <p:spPr>
              <a:xfrm>
                <a:off x="6391" y="755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立方体 336"/>
              <p:cNvSpPr/>
              <p:nvPr/>
            </p:nvSpPr>
            <p:spPr>
              <a:xfrm>
                <a:off x="6331" y="763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立方体 337"/>
              <p:cNvSpPr/>
              <p:nvPr/>
            </p:nvSpPr>
            <p:spPr>
              <a:xfrm>
                <a:off x="6262" y="771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立方体 338"/>
              <p:cNvSpPr/>
              <p:nvPr/>
            </p:nvSpPr>
            <p:spPr>
              <a:xfrm>
                <a:off x="6189" y="7792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立方体 339"/>
              <p:cNvSpPr/>
              <p:nvPr/>
            </p:nvSpPr>
            <p:spPr>
              <a:xfrm>
                <a:off x="6129" y="787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立方体 340"/>
              <p:cNvSpPr/>
              <p:nvPr/>
            </p:nvSpPr>
            <p:spPr>
              <a:xfrm>
                <a:off x="6691" y="747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立方体 341"/>
              <p:cNvSpPr/>
              <p:nvPr/>
            </p:nvSpPr>
            <p:spPr>
              <a:xfrm>
                <a:off x="6618" y="755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立方体 342"/>
              <p:cNvSpPr/>
              <p:nvPr/>
            </p:nvSpPr>
            <p:spPr>
              <a:xfrm>
                <a:off x="6558" y="763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立方体 343"/>
              <p:cNvSpPr/>
              <p:nvPr/>
            </p:nvSpPr>
            <p:spPr>
              <a:xfrm>
                <a:off x="6489" y="77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立方体 344"/>
              <p:cNvSpPr/>
              <p:nvPr/>
            </p:nvSpPr>
            <p:spPr>
              <a:xfrm>
                <a:off x="6416" y="779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立方体 345"/>
              <p:cNvSpPr/>
              <p:nvPr/>
            </p:nvSpPr>
            <p:spPr>
              <a:xfrm>
                <a:off x="6356" y="787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立方体 346"/>
              <p:cNvSpPr/>
              <p:nvPr/>
            </p:nvSpPr>
            <p:spPr>
              <a:xfrm>
                <a:off x="6924" y="7470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立方体 347"/>
              <p:cNvSpPr/>
              <p:nvPr/>
            </p:nvSpPr>
            <p:spPr>
              <a:xfrm>
                <a:off x="6851" y="754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立方体 348"/>
              <p:cNvSpPr/>
              <p:nvPr/>
            </p:nvSpPr>
            <p:spPr>
              <a:xfrm>
                <a:off x="6791" y="762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" name="立方体 349"/>
              <p:cNvSpPr/>
              <p:nvPr/>
            </p:nvSpPr>
            <p:spPr>
              <a:xfrm>
                <a:off x="6722" y="7709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立方体 350"/>
              <p:cNvSpPr/>
              <p:nvPr/>
            </p:nvSpPr>
            <p:spPr>
              <a:xfrm>
                <a:off x="6649" y="778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立方体 351"/>
              <p:cNvSpPr/>
              <p:nvPr/>
            </p:nvSpPr>
            <p:spPr>
              <a:xfrm>
                <a:off x="6589" y="786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立方体 352"/>
              <p:cNvSpPr/>
              <p:nvPr/>
            </p:nvSpPr>
            <p:spPr>
              <a:xfrm>
                <a:off x="7145" y="747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立方体 353"/>
              <p:cNvSpPr/>
              <p:nvPr/>
            </p:nvSpPr>
            <p:spPr>
              <a:xfrm>
                <a:off x="7072" y="7551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立方体 354"/>
              <p:cNvSpPr/>
              <p:nvPr/>
            </p:nvSpPr>
            <p:spPr>
              <a:xfrm>
                <a:off x="7012" y="7634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立方体 355"/>
              <p:cNvSpPr/>
              <p:nvPr/>
            </p:nvSpPr>
            <p:spPr>
              <a:xfrm>
                <a:off x="6943" y="7715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立方体 356"/>
              <p:cNvSpPr/>
              <p:nvPr/>
            </p:nvSpPr>
            <p:spPr>
              <a:xfrm>
                <a:off x="6878" y="7793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立方体 357"/>
              <p:cNvSpPr/>
              <p:nvPr/>
            </p:nvSpPr>
            <p:spPr>
              <a:xfrm>
                <a:off x="6816" y="7873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立方体 358"/>
              <p:cNvSpPr/>
              <p:nvPr/>
            </p:nvSpPr>
            <p:spPr>
              <a:xfrm>
                <a:off x="7371" y="7478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立方体 359"/>
              <p:cNvSpPr/>
              <p:nvPr/>
            </p:nvSpPr>
            <p:spPr>
              <a:xfrm>
                <a:off x="7298" y="7553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立方体 360"/>
              <p:cNvSpPr/>
              <p:nvPr/>
            </p:nvSpPr>
            <p:spPr>
              <a:xfrm>
                <a:off x="7238" y="7636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立方体 361"/>
              <p:cNvSpPr/>
              <p:nvPr/>
            </p:nvSpPr>
            <p:spPr>
              <a:xfrm>
                <a:off x="7169" y="7717"/>
                <a:ext cx="164" cy="158"/>
              </a:xfrm>
              <a:prstGeom prst="cube">
                <a:avLst/>
              </a:prstGeom>
              <a:solidFill>
                <a:srgbClr val="0068BF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立方体 362"/>
              <p:cNvSpPr/>
              <p:nvPr/>
            </p:nvSpPr>
            <p:spPr>
              <a:xfrm>
                <a:off x="7104" y="7795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立方体 363"/>
              <p:cNvSpPr/>
              <p:nvPr/>
            </p:nvSpPr>
            <p:spPr>
              <a:xfrm>
                <a:off x="7042" y="7875"/>
                <a:ext cx="164" cy="158"/>
              </a:xfrm>
              <a:prstGeom prst="cube">
                <a:avLst/>
              </a:prstGeom>
              <a:solidFill>
                <a:srgbClr val="FFFF00">
                  <a:alpha val="90000"/>
                </a:srgbClr>
              </a:solidFill>
              <a:ln w="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0" name="文本框 369"/>
            <p:cNvSpPr txBox="1"/>
            <p:nvPr/>
          </p:nvSpPr>
          <p:spPr>
            <a:xfrm>
              <a:off x="7566" y="6238"/>
              <a:ext cx="1846" cy="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900" dirty="0"/>
                <a:t>Tiled Accumulation</a:t>
              </a:r>
            </a:p>
          </p:txBody>
        </p:sp>
        <p:sp>
          <p:nvSpPr>
            <p:cNvPr id="372" name="任意多边形 371"/>
            <p:cNvSpPr/>
            <p:nvPr/>
          </p:nvSpPr>
          <p:spPr>
            <a:xfrm rot="10800000">
              <a:off x="8105" y="7222"/>
              <a:ext cx="367" cy="465"/>
            </a:xfrm>
            <a:custGeom>
              <a:avLst/>
              <a:gdLst>
                <a:gd name="connsiteX0" fmla="*/ 2736 w 5707"/>
                <a:gd name="connsiteY0" fmla="*/ 0 h 4890"/>
                <a:gd name="connsiteX1" fmla="*/ 4774 w 5707"/>
                <a:gd name="connsiteY1" fmla="*/ 1776 h 4890"/>
                <a:gd name="connsiteX2" fmla="*/ 3927 w 5707"/>
                <a:gd name="connsiteY2" fmla="*/ 1776 h 4890"/>
                <a:gd name="connsiteX3" fmla="*/ 5707 w 5707"/>
                <a:gd name="connsiteY3" fmla="*/ 4890 h 4890"/>
                <a:gd name="connsiteX4" fmla="*/ 0 w 5707"/>
                <a:gd name="connsiteY4" fmla="*/ 4890 h 4890"/>
                <a:gd name="connsiteX5" fmla="*/ 1780 w 5707"/>
                <a:gd name="connsiteY5" fmla="*/ 1776 h 4890"/>
                <a:gd name="connsiteX6" fmla="*/ 934 w 5707"/>
                <a:gd name="connsiteY6" fmla="*/ 1776 h 4890"/>
                <a:gd name="connsiteX7" fmla="*/ 2736 w 5707"/>
                <a:gd name="connsiteY7" fmla="*/ 0 h 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07" h="4890">
                  <a:moveTo>
                    <a:pt x="2736" y="0"/>
                  </a:moveTo>
                  <a:lnTo>
                    <a:pt x="4774" y="1776"/>
                  </a:lnTo>
                  <a:lnTo>
                    <a:pt x="3927" y="1776"/>
                  </a:lnTo>
                  <a:cubicBezTo>
                    <a:pt x="4107" y="3789"/>
                    <a:pt x="5114" y="3852"/>
                    <a:pt x="5707" y="4890"/>
                  </a:cubicBezTo>
                  <a:lnTo>
                    <a:pt x="0" y="4890"/>
                  </a:lnTo>
                  <a:cubicBezTo>
                    <a:pt x="593" y="3852"/>
                    <a:pt x="1827" y="3603"/>
                    <a:pt x="1780" y="1776"/>
                  </a:cubicBezTo>
                  <a:lnTo>
                    <a:pt x="934" y="1776"/>
                  </a:lnTo>
                  <a:lnTo>
                    <a:pt x="2736" y="0"/>
                  </a:lnTo>
                  <a:close/>
                </a:path>
              </a:pathLst>
            </a:custGeom>
            <a:gradFill>
              <a:gsLst>
                <a:gs pos="100000">
                  <a:srgbClr val="0070C0"/>
                </a:gs>
                <a:gs pos="0">
                  <a:schemeClr val="accent1"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3" name="文本框 372"/>
            <p:cNvSpPr txBox="1"/>
            <p:nvPr/>
          </p:nvSpPr>
          <p:spPr>
            <a:xfrm>
              <a:off x="7445" y="7628"/>
              <a:ext cx="1846" cy="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900" dirty="0"/>
                <a:t>Local Memory Load</a:t>
              </a:r>
            </a:p>
          </p:txBody>
        </p:sp>
        <p:sp>
          <p:nvSpPr>
            <p:cNvPr id="374" name="矩形标注 373"/>
            <p:cNvSpPr/>
            <p:nvPr/>
          </p:nvSpPr>
          <p:spPr>
            <a:xfrm>
              <a:off x="6633" y="6669"/>
              <a:ext cx="543" cy="288"/>
            </a:xfrm>
            <a:prstGeom prst="wedgeRectCallout">
              <a:avLst>
                <a:gd name="adj1" fmla="val 145395"/>
                <a:gd name="adj2" fmla="val 18055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6" name="文本框 375"/>
          <p:cNvSpPr txBox="1"/>
          <p:nvPr/>
        </p:nvSpPr>
        <p:spPr>
          <a:xfrm>
            <a:off x="8718550" y="2237105"/>
            <a:ext cx="106807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dirty="0"/>
              <a:t>Cholesky分解</a:t>
            </a:r>
          </a:p>
        </p:txBody>
      </p:sp>
      <p:graphicFrame>
        <p:nvGraphicFramePr>
          <p:cNvPr id="377" name="对象 37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499475" y="2498725"/>
          <a:ext cx="533400" cy="17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545465" imgH="190500" progId="Equation.KSEE3">
                  <p:embed/>
                </p:oleObj>
              </mc:Choice>
              <mc:Fallback>
                <p:oleObj r:id="rId23" imgW="545465" imgH="190500" progId="Equation.KSEE3">
                  <p:embed/>
                  <p:pic>
                    <p:nvPicPr>
                      <p:cNvPr id="0" name="对象 37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99475" y="2498725"/>
                        <a:ext cx="533400" cy="175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" name="对象 37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352915" y="2510155"/>
          <a:ext cx="956310" cy="21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977900" imgH="228600" progId="Equation.KSEE3">
                  <p:embed/>
                </p:oleObj>
              </mc:Choice>
              <mc:Fallback>
                <p:oleObj r:id="rId25" imgW="977900" imgH="228600" progId="Equation.KSEE3">
                  <p:embed/>
                  <p:pic>
                    <p:nvPicPr>
                      <p:cNvPr id="0" name="对象 37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352915" y="2510155"/>
                        <a:ext cx="956310" cy="211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" name="对象 37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685780" y="2520950"/>
          <a:ext cx="969010" cy="21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990600" imgH="228600" progId="Equation.KSEE3">
                  <p:embed/>
                </p:oleObj>
              </mc:Choice>
              <mc:Fallback>
                <p:oleObj r:id="rId27" imgW="990600" imgH="228600" progId="Equation.KSEE3">
                  <p:embed/>
                  <p:pic>
                    <p:nvPicPr>
                      <p:cNvPr id="0" name="对象 37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685780" y="2520950"/>
                        <a:ext cx="969010" cy="211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" name="文本框 380"/>
          <p:cNvSpPr txBox="1"/>
          <p:nvPr/>
        </p:nvSpPr>
        <p:spPr>
          <a:xfrm>
            <a:off x="10421620" y="2246630"/>
            <a:ext cx="155321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/>
              <a:t>Forward Substitution</a:t>
            </a:r>
          </a:p>
        </p:txBody>
      </p:sp>
      <p:graphicFrame>
        <p:nvGraphicFramePr>
          <p:cNvPr id="382" name="对象 38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786620" y="2798445"/>
          <a:ext cx="1614805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1651000" imgH="812800" progId="Equation.KSEE3">
                  <p:embed/>
                </p:oleObj>
              </mc:Choice>
              <mc:Fallback>
                <p:oleObj r:id="rId29" imgW="1651000" imgH="812800" progId="Equation.KSEE3">
                  <p:embed/>
                  <p:pic>
                    <p:nvPicPr>
                      <p:cNvPr id="0" name="对象 38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786620" y="2798445"/>
                        <a:ext cx="1614805" cy="75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3" name="文本框 382"/>
          <p:cNvSpPr txBox="1"/>
          <p:nvPr/>
        </p:nvSpPr>
        <p:spPr>
          <a:xfrm>
            <a:off x="8370570" y="2905760"/>
            <a:ext cx="129159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/>
              <a:t>频点并行</a:t>
            </a:r>
          </a:p>
          <a:p>
            <a:pPr algn="ctr">
              <a:lnSpc>
                <a:spcPct val="120000"/>
              </a:lnSpc>
            </a:pPr>
            <a:r>
              <a:rPr lang="en-US" altLang="zh-CN" sz="1200" dirty="0"/>
              <a:t>按列更新下三角</a:t>
            </a:r>
            <a:endParaRPr kumimoji="1" lang="zh-CN" altLang="en-US" sz="12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699135" y="3727450"/>
            <a:ext cx="786130" cy="2500630"/>
          </a:xfrm>
          <a:prstGeom prst="rect">
            <a:avLst/>
          </a:prstGeom>
          <a:solidFill>
            <a:srgbClr val="0068BF"/>
          </a:solidFill>
          <a:ln w="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2"/>
                </a:solidFill>
              </a:rPr>
              <a:t>MVDR</a:t>
            </a:r>
          </a:p>
          <a:p>
            <a:pPr algn="ctr"/>
            <a:r>
              <a:rPr lang="zh-CN" altLang="en-US" sz="1400" b="1">
                <a:solidFill>
                  <a:schemeClr val="bg2"/>
                </a:solidFill>
              </a:rPr>
              <a:t>算法</a:t>
            </a:r>
          </a:p>
          <a:p>
            <a:pPr algn="ctr"/>
            <a:r>
              <a:rPr lang="zh-CN" altLang="en-US" sz="1400" b="1">
                <a:solidFill>
                  <a:schemeClr val="bg2"/>
                </a:solidFill>
              </a:rPr>
              <a:t>流程图</a:t>
            </a:r>
          </a:p>
        </p:txBody>
      </p:sp>
      <p:sp>
        <p:nvSpPr>
          <p:cNvPr id="388" name="矩形 387"/>
          <p:cNvSpPr/>
          <p:nvPr/>
        </p:nvSpPr>
        <p:spPr>
          <a:xfrm>
            <a:off x="2224405" y="3727450"/>
            <a:ext cx="9706610" cy="1202690"/>
          </a:xfrm>
          <a:prstGeom prst="rect">
            <a:avLst/>
          </a:prstGeom>
          <a:solidFill>
            <a:schemeClr val="bg1"/>
          </a:solidFill>
          <a:ln w="0">
            <a:solidFill>
              <a:srgbClr val="0068B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矩形 386"/>
          <p:cNvSpPr/>
          <p:nvPr/>
        </p:nvSpPr>
        <p:spPr>
          <a:xfrm>
            <a:off x="1485900" y="3727450"/>
            <a:ext cx="738505" cy="1202690"/>
          </a:xfrm>
          <a:prstGeom prst="rect">
            <a:avLst/>
          </a:prstGeom>
          <a:solidFill>
            <a:schemeClr val="bg2"/>
          </a:solidFill>
          <a:ln w="12700">
            <a:solidFill>
              <a:srgbClr val="0068B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HOST</a:t>
            </a:r>
          </a:p>
        </p:txBody>
      </p:sp>
      <p:sp>
        <p:nvSpPr>
          <p:cNvPr id="386" name="矩形 385"/>
          <p:cNvSpPr/>
          <p:nvPr/>
        </p:nvSpPr>
        <p:spPr>
          <a:xfrm>
            <a:off x="1485265" y="4929505"/>
            <a:ext cx="739775" cy="1299210"/>
          </a:xfrm>
          <a:prstGeom prst="rect">
            <a:avLst/>
          </a:prstGeom>
          <a:solidFill>
            <a:schemeClr val="bg2"/>
          </a:solidFill>
          <a:ln w="12700">
            <a:solidFill>
              <a:srgbClr val="0068B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GPU</a:t>
            </a:r>
          </a:p>
        </p:txBody>
      </p:sp>
      <p:sp>
        <p:nvSpPr>
          <p:cNvPr id="389" name="矩形 388"/>
          <p:cNvSpPr/>
          <p:nvPr/>
        </p:nvSpPr>
        <p:spPr>
          <a:xfrm>
            <a:off x="2224405" y="4929505"/>
            <a:ext cx="9706610" cy="1299210"/>
          </a:xfrm>
          <a:prstGeom prst="rect">
            <a:avLst/>
          </a:prstGeom>
          <a:solidFill>
            <a:schemeClr val="bg1"/>
          </a:solidFill>
          <a:ln w="0">
            <a:solidFill>
              <a:srgbClr val="0068B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0" name="流程图: 终止 389"/>
          <p:cNvSpPr/>
          <p:nvPr/>
        </p:nvSpPr>
        <p:spPr>
          <a:xfrm>
            <a:off x="2296795" y="3830955"/>
            <a:ext cx="1162050" cy="382270"/>
          </a:xfrm>
          <a:prstGeom prst="flowChartTerminator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信号输入</a:t>
            </a:r>
          </a:p>
        </p:txBody>
      </p:sp>
      <p:sp>
        <p:nvSpPr>
          <p:cNvPr id="393" name="流程图: 终止 392"/>
          <p:cNvSpPr/>
          <p:nvPr/>
        </p:nvSpPr>
        <p:spPr>
          <a:xfrm>
            <a:off x="2296795" y="5264150"/>
            <a:ext cx="1162685" cy="481330"/>
          </a:xfrm>
          <a:prstGeom prst="flowChartTerminator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加载数据</a:t>
            </a:r>
            <a:endParaRPr lang="zh-CN" altLang="en-US" sz="1400">
              <a:solidFill>
                <a:schemeClr val="bg2"/>
              </a:solidFill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2296795" y="4359910"/>
            <a:ext cx="1162050" cy="464185"/>
          </a:xfrm>
          <a:prstGeom prst="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上传数据</a:t>
            </a:r>
          </a:p>
        </p:txBody>
      </p:sp>
      <p:sp>
        <p:nvSpPr>
          <p:cNvPr id="395" name="矩形 394"/>
          <p:cNvSpPr/>
          <p:nvPr/>
        </p:nvSpPr>
        <p:spPr>
          <a:xfrm>
            <a:off x="3731895" y="3775075"/>
            <a:ext cx="1178560" cy="481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预计算导向相位表</a:t>
            </a:r>
          </a:p>
        </p:txBody>
      </p:sp>
      <p:sp>
        <p:nvSpPr>
          <p:cNvPr id="396" name="矩形 395"/>
          <p:cNvSpPr/>
          <p:nvPr/>
        </p:nvSpPr>
        <p:spPr>
          <a:xfrm>
            <a:off x="3732530" y="4359910"/>
            <a:ext cx="1180465" cy="464185"/>
          </a:xfrm>
          <a:prstGeom prst="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异步启动</a:t>
            </a:r>
          </a:p>
          <a:p>
            <a:pPr algn="ctr">
              <a:buClrTx/>
              <a:buSzTx/>
              <a:buFontTx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FFT内核</a:t>
            </a:r>
          </a:p>
        </p:txBody>
      </p:sp>
      <p:sp>
        <p:nvSpPr>
          <p:cNvPr id="397" name="矩形 396"/>
          <p:cNvSpPr/>
          <p:nvPr/>
        </p:nvSpPr>
        <p:spPr>
          <a:xfrm>
            <a:off x="3732530" y="5264150"/>
            <a:ext cx="118300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FFT批处理</a:t>
            </a:r>
          </a:p>
        </p:txBody>
      </p:sp>
      <p:sp>
        <p:nvSpPr>
          <p:cNvPr id="403" name="矩形 402"/>
          <p:cNvSpPr/>
          <p:nvPr/>
        </p:nvSpPr>
        <p:spPr>
          <a:xfrm>
            <a:off x="6523990" y="4074160"/>
            <a:ext cx="2524125" cy="481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启动核心</a:t>
            </a:r>
          </a:p>
          <a:p>
            <a:pPr algn="ctr">
              <a:buClrTx/>
              <a:buSzTx/>
              <a:buNone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计算内核</a:t>
            </a:r>
          </a:p>
        </p:txBody>
      </p:sp>
      <p:sp>
        <p:nvSpPr>
          <p:cNvPr id="408" name="矩形 407"/>
          <p:cNvSpPr/>
          <p:nvPr/>
        </p:nvSpPr>
        <p:spPr>
          <a:xfrm>
            <a:off x="5046980" y="5031740"/>
            <a:ext cx="5481955" cy="1087120"/>
          </a:xfrm>
          <a:prstGeom prst="rect">
            <a:avLst/>
          </a:prstGeom>
          <a:noFill/>
          <a:ln w="25400">
            <a:solidFill>
              <a:srgbClr val="0068B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2"/>
              </a:solidFill>
            </a:endParaRPr>
          </a:p>
        </p:txBody>
      </p:sp>
      <p:sp>
        <p:nvSpPr>
          <p:cNvPr id="404" name="矩形 403"/>
          <p:cNvSpPr/>
          <p:nvPr/>
        </p:nvSpPr>
        <p:spPr>
          <a:xfrm>
            <a:off x="5177155" y="5134610"/>
            <a:ext cx="117538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R</a:t>
            </a:r>
            <a:r>
              <a:rPr lang="zh-CN" altLang="en-US" sz="1400" b="1" i="1" baseline="-25000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x</a:t>
            </a:r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批量更新</a:t>
            </a:r>
          </a:p>
        </p:txBody>
      </p:sp>
      <p:sp>
        <p:nvSpPr>
          <p:cNvPr id="405" name="矩形 404"/>
          <p:cNvSpPr/>
          <p:nvPr/>
        </p:nvSpPr>
        <p:spPr>
          <a:xfrm>
            <a:off x="6544945" y="5134610"/>
            <a:ext cx="117538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Cholesky</a:t>
            </a:r>
          </a:p>
          <a:p>
            <a:pPr algn="ctr"/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分解</a:t>
            </a:r>
          </a:p>
        </p:txBody>
      </p:sp>
      <p:sp>
        <p:nvSpPr>
          <p:cNvPr id="406" name="矩形 405"/>
          <p:cNvSpPr/>
          <p:nvPr/>
        </p:nvSpPr>
        <p:spPr>
          <a:xfrm>
            <a:off x="7898130" y="5134610"/>
            <a:ext cx="117538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前向替代</a:t>
            </a:r>
          </a:p>
        </p:txBody>
      </p:sp>
      <p:sp>
        <p:nvSpPr>
          <p:cNvPr id="407" name="矩形 406"/>
          <p:cNvSpPr/>
          <p:nvPr/>
        </p:nvSpPr>
        <p:spPr>
          <a:xfrm>
            <a:off x="9277350" y="5134610"/>
            <a:ext cx="117538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功率谱批量更新</a:t>
            </a:r>
          </a:p>
        </p:txBody>
      </p:sp>
      <p:sp>
        <p:nvSpPr>
          <p:cNvPr id="409" name="文本框 408"/>
          <p:cNvSpPr txBox="1"/>
          <p:nvPr/>
        </p:nvSpPr>
        <p:spPr>
          <a:xfrm>
            <a:off x="6932295" y="5657215"/>
            <a:ext cx="1786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融合内核</a:t>
            </a:r>
          </a:p>
        </p:txBody>
      </p:sp>
      <p:sp>
        <p:nvSpPr>
          <p:cNvPr id="410" name="矩形 409"/>
          <p:cNvSpPr/>
          <p:nvPr/>
        </p:nvSpPr>
        <p:spPr>
          <a:xfrm>
            <a:off x="10682605" y="5334635"/>
            <a:ext cx="1175385" cy="481330"/>
          </a:xfrm>
          <a:prstGeom prst="rect">
            <a:avLst/>
          </a:prstGeom>
          <a:solidFill>
            <a:srgbClr val="0068BF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400" b="1" noProof="0" dirty="0"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Saturday Sans Regular" panose="02010600010101010101" charset="-122"/>
              </a:rPr>
              <a:t>下载功率谱</a:t>
            </a:r>
          </a:p>
        </p:txBody>
      </p:sp>
      <p:sp>
        <p:nvSpPr>
          <p:cNvPr id="412" name="流程图: 终止 411"/>
          <p:cNvSpPr/>
          <p:nvPr/>
        </p:nvSpPr>
        <p:spPr>
          <a:xfrm>
            <a:off x="10645140" y="4123690"/>
            <a:ext cx="1246505" cy="382270"/>
          </a:xfrm>
          <a:prstGeom prst="flowChartTerminator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输出功率谱</a:t>
            </a:r>
          </a:p>
        </p:txBody>
      </p:sp>
      <p:cxnSp>
        <p:nvCxnSpPr>
          <p:cNvPr id="413" name="直接箭头连接符 412"/>
          <p:cNvCxnSpPr>
            <a:stCxn id="390" idx="2"/>
            <a:endCxn id="394" idx="0"/>
          </p:cNvCxnSpPr>
          <p:nvPr/>
        </p:nvCxnSpPr>
        <p:spPr>
          <a:xfrm>
            <a:off x="2877820" y="4213225"/>
            <a:ext cx="0" cy="146685"/>
          </a:xfrm>
          <a:prstGeom prst="straightConnector1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直接箭头连接符 413"/>
          <p:cNvCxnSpPr>
            <a:stCxn id="394" idx="3"/>
            <a:endCxn id="396" idx="1"/>
          </p:cNvCxnSpPr>
          <p:nvPr/>
        </p:nvCxnSpPr>
        <p:spPr>
          <a:xfrm>
            <a:off x="3458845" y="4592320"/>
            <a:ext cx="273685" cy="0"/>
          </a:xfrm>
          <a:prstGeom prst="straightConnector1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直接箭头连接符 414"/>
          <p:cNvCxnSpPr>
            <a:stCxn id="396" idx="0"/>
            <a:endCxn id="395" idx="2"/>
          </p:cNvCxnSpPr>
          <p:nvPr/>
        </p:nvCxnSpPr>
        <p:spPr>
          <a:xfrm flipH="1" flipV="1">
            <a:off x="4321810" y="4256405"/>
            <a:ext cx="1905" cy="103505"/>
          </a:xfrm>
          <a:prstGeom prst="straightConnector1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直接箭头连接符 415"/>
          <p:cNvCxnSpPr>
            <a:stCxn id="396" idx="2"/>
            <a:endCxn id="397" idx="0"/>
          </p:cNvCxnSpPr>
          <p:nvPr/>
        </p:nvCxnSpPr>
        <p:spPr>
          <a:xfrm>
            <a:off x="4323715" y="4824095"/>
            <a:ext cx="1270" cy="440055"/>
          </a:xfrm>
          <a:prstGeom prst="straightConnector1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4" idx="2"/>
            <a:endCxn id="393" idx="0"/>
          </p:cNvCxnSpPr>
          <p:nvPr/>
        </p:nvCxnSpPr>
        <p:spPr>
          <a:xfrm>
            <a:off x="2877820" y="4824095"/>
            <a:ext cx="0" cy="440055"/>
          </a:xfrm>
          <a:prstGeom prst="straightConnector1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肘形连接符 417"/>
          <p:cNvCxnSpPr>
            <a:stCxn id="395" idx="3"/>
            <a:endCxn id="403" idx="1"/>
          </p:cNvCxnSpPr>
          <p:nvPr/>
        </p:nvCxnSpPr>
        <p:spPr>
          <a:xfrm>
            <a:off x="4910455" y="4015740"/>
            <a:ext cx="1613535" cy="299720"/>
          </a:xfrm>
          <a:prstGeom prst="bentConnector3">
            <a:avLst>
              <a:gd name="adj1" fmla="val 50000"/>
            </a:avLst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肘形连接符 418"/>
          <p:cNvCxnSpPr>
            <a:stCxn id="403" idx="2"/>
            <a:endCxn id="408" idx="0"/>
          </p:cNvCxnSpPr>
          <p:nvPr/>
        </p:nvCxnSpPr>
        <p:spPr>
          <a:xfrm rot="5400000" flipV="1">
            <a:off x="7549515" y="4792980"/>
            <a:ext cx="475615" cy="1905"/>
          </a:xfrm>
          <a:prstGeom prst="bentConnector3">
            <a:avLst>
              <a:gd name="adj1" fmla="val 49938"/>
            </a:avLst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肘形连接符 419"/>
          <p:cNvCxnSpPr>
            <a:stCxn id="410" idx="0"/>
            <a:endCxn id="412" idx="2"/>
          </p:cNvCxnSpPr>
          <p:nvPr/>
        </p:nvCxnSpPr>
        <p:spPr>
          <a:xfrm rot="16200000" flipV="1">
            <a:off x="10855325" y="4919345"/>
            <a:ext cx="828675" cy="1905"/>
          </a:xfrm>
          <a:prstGeom prst="bentConnector3">
            <a:avLst>
              <a:gd name="adj1" fmla="val 49982"/>
            </a:avLst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矩形 420"/>
          <p:cNvSpPr/>
          <p:nvPr/>
        </p:nvSpPr>
        <p:spPr>
          <a:xfrm>
            <a:off x="9277350" y="4074160"/>
            <a:ext cx="1175385" cy="481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kumimoji="1" lang="zh-CN" altLang="en-US" sz="14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同步等待</a:t>
            </a:r>
          </a:p>
        </p:txBody>
      </p:sp>
      <p:cxnSp>
        <p:nvCxnSpPr>
          <p:cNvPr id="422" name="肘形连接符 421"/>
          <p:cNvCxnSpPr>
            <a:stCxn id="403" idx="3"/>
            <a:endCxn id="421" idx="1"/>
          </p:cNvCxnSpPr>
          <p:nvPr/>
        </p:nvCxnSpPr>
        <p:spPr>
          <a:xfrm>
            <a:off x="9048115" y="4315460"/>
            <a:ext cx="229235" cy="3175"/>
          </a:xfrm>
          <a:prstGeom prst="bentConnector2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肘形连接符 422"/>
          <p:cNvCxnSpPr>
            <a:stCxn id="408" idx="3"/>
            <a:endCxn id="410" idx="1"/>
          </p:cNvCxnSpPr>
          <p:nvPr/>
        </p:nvCxnSpPr>
        <p:spPr>
          <a:xfrm>
            <a:off x="10528935" y="5575300"/>
            <a:ext cx="153670" cy="3175"/>
          </a:xfrm>
          <a:prstGeom prst="bentConnector2">
            <a:avLst/>
          </a:prstGeom>
          <a:ln>
            <a:solidFill>
              <a:srgbClr val="0068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16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7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26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31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06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200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20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7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236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237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243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8" name="图片 267" descr="湖工横版logo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277" name="图片 276"/>
            <p:cNvPicPr>
              <a:picLocks noChangeAspect="1"/>
            </p:cNvPicPr>
            <p:nvPr/>
          </p:nvPicPr>
          <p:blipFill>
            <a:blip r:embed="rId3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380" name="组合 379"/>
          <p:cNvGrpSpPr/>
          <p:nvPr/>
        </p:nvGrpSpPr>
        <p:grpSpPr>
          <a:xfrm>
            <a:off x="521183" y="6268072"/>
            <a:ext cx="11557623" cy="862698"/>
            <a:chOff x="531660" y="6291983"/>
            <a:chExt cx="11326313" cy="707333"/>
          </a:xfrm>
        </p:grpSpPr>
        <p:sp>
          <p:nvSpPr>
            <p:cNvPr id="385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391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392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398" name="文本框 397"/>
          <p:cNvSpPr txBox="1"/>
          <p:nvPr/>
        </p:nvSpPr>
        <p:spPr>
          <a:xfrm>
            <a:off x="1636713" y="6496368"/>
            <a:ext cx="9326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3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大途径</a:t>
            </a:r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，打破传统架构局限，重新构建</a:t>
            </a:r>
            <a:r>
              <a:rPr kumimoji="1" lang="en-US" altLang="zh-CN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MVDR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新架构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903603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70" y="902202"/>
            <a:ext cx="1219009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MVDR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实验对比评估</a:t>
            </a: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  <a:p>
            <a:pPr algn="ctr">
              <a:lnSpc>
                <a:spcPct val="110000"/>
              </a:lnSpc>
            </a:pP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44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45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97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3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湖工横版logo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sp>
        <p:nvSpPr>
          <p:cNvPr id="56" name="矩形 55"/>
          <p:cNvSpPr/>
          <p:nvPr/>
        </p:nvSpPr>
        <p:spPr>
          <a:xfrm>
            <a:off x="542455" y="1590173"/>
            <a:ext cx="11697335" cy="4537127"/>
          </a:xfrm>
          <a:prstGeom prst="rect">
            <a:avLst/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 flipV="1">
            <a:off x="518960" y="1833501"/>
            <a:ext cx="11658600" cy="19050"/>
          </a:xfrm>
          <a:prstGeom prst="line">
            <a:avLst/>
          </a:prstGeom>
          <a:ln>
            <a:solidFill>
              <a:srgbClr val="006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713905" y="1827441"/>
            <a:ext cx="1168209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方案</a:t>
            </a:r>
            <a:r>
              <a:rPr lang="en-US" altLang="zh-CN" dirty="0"/>
              <a:t>      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FFT      预计算相位表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自相关矩阵构建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Cholesky 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显式求逆 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功率谱更新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</a:t>
            </a:r>
            <a:r>
              <a:rPr kumimoji="1" lang="zh-CN" altLang="en-US" sz="20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总计(ms)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543090" y="2460462"/>
            <a:ext cx="11697335" cy="977265"/>
          </a:xfrm>
          <a:prstGeom prst="rect">
            <a:avLst/>
          </a:prstGeom>
          <a:solidFill>
            <a:srgbClr val="0068BF"/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/>
              <a:t>  </a:t>
            </a:r>
            <a:r>
              <a:rPr lang="zh-CN" altLang="en-US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GP201</a:t>
            </a:r>
          </a:p>
          <a:p>
            <a:pPr algn="l">
              <a:lnSpc>
                <a:spcPct val="120000"/>
              </a:lnSpc>
            </a:pPr>
            <a:r>
              <a:rPr lang="zh-CN" altLang="en-US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优化构建</a:t>
            </a:r>
            <a:r>
              <a:rPr lang="en-US" altLang="zh-CN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</a:t>
            </a:r>
            <a:r>
              <a:rPr lang="zh-CN" altLang="en-US" sz="24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2074075" y="2464272"/>
            <a:ext cx="1149985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2436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427260" y="2447762"/>
            <a:ext cx="831215" cy="9918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152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5186210" y="2464272"/>
            <a:ext cx="831215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561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6846100" y="2464272"/>
            <a:ext cx="831215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387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309900" y="2464272"/>
            <a:ext cx="196596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0.042    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1110125" y="2464272"/>
            <a:ext cx="112903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3538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544360" y="3428359"/>
            <a:ext cx="11694795" cy="5452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/>
              <a:t>    </a:t>
            </a:r>
            <a:endParaRPr kumimoji="1" lang="zh-CN" altLang="en-US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363750" y="2466177"/>
            <a:ext cx="831215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074075" y="323063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12434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3224060" y="324968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4929670" y="326238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1436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6635280" y="325603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171980" y="326238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1501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9801390" y="3249684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4917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11037735" y="3262384"/>
            <a:ext cx="120205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20288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647230" y="5781225"/>
            <a:ext cx="11612245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由于传统算法架构，无法直接得到总频点的耗时，考虑其串行架构，这里使用的是对频点求和。不改变总计运行时间。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 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输入数据阵元数为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128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，快拍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150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，频带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1024 .    AMD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锐龙为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 AMD Ryzen AI 9 HX 370w</a:t>
            </a:r>
          </a:p>
        </p:txBody>
      </p:sp>
      <p:cxnSp>
        <p:nvCxnSpPr>
          <p:cNvPr id="84" name="直接连接符 83"/>
          <p:cNvCxnSpPr/>
          <p:nvPr/>
        </p:nvCxnSpPr>
        <p:spPr>
          <a:xfrm flipV="1">
            <a:off x="541820" y="5593971"/>
            <a:ext cx="11698605" cy="28539"/>
          </a:xfrm>
          <a:prstGeom prst="line">
            <a:avLst/>
          </a:prstGeom>
          <a:ln>
            <a:solidFill>
              <a:srgbClr val="006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544096" y="3385623"/>
            <a:ext cx="147245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KC20s</a:t>
            </a:r>
            <a:endParaRPr kumimoji="1" lang="en-US" altLang="zh-CN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  <a:p>
            <a:pPr algn="ctr"/>
            <a:r>
              <a:rPr kumimoji="1"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传统架构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44360" y="3964908"/>
            <a:ext cx="11694795" cy="5452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90" name="文本框 89"/>
          <p:cNvSpPr txBox="1"/>
          <p:nvPr/>
        </p:nvSpPr>
        <p:spPr>
          <a:xfrm>
            <a:off x="2074075" y="378072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2367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24060" y="379977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4929670" y="381247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16909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6635280" y="380612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8171980" y="381247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30049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9801390" y="3799779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13041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11037735" y="3812479"/>
            <a:ext cx="120205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62366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544096" y="3922172"/>
            <a:ext cx="147245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GP201</a:t>
            </a:r>
          </a:p>
          <a:p>
            <a:pPr algn="ctr"/>
            <a:r>
              <a:rPr kumimoji="1"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传统架构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544360" y="4504835"/>
            <a:ext cx="11694795" cy="5452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/>
              <a:t>    </a:t>
            </a:r>
            <a:endParaRPr kumimoji="1" lang="zh-CN" altLang="en-US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2074075" y="4307110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10310</a:t>
            </a:r>
            <a:endParaRPr kumimoji="1"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224060" y="4326160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4929670" y="4338860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7168.85</a:t>
            </a:r>
            <a:endParaRPr kumimoji="1"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6635280" y="4332510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8171980" y="4338860"/>
            <a:ext cx="1222375" cy="89281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961</a:t>
            </a:r>
            <a:endParaRPr kumimoji="1"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801390" y="4326160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726</a:t>
            </a:r>
            <a:endParaRPr kumimoji="1"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1037735" y="4338860"/>
            <a:ext cx="120205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19167</a:t>
            </a:r>
            <a:endParaRPr kumimoji="1"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544096" y="4462099"/>
            <a:ext cx="147245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AMD</a:t>
            </a:r>
            <a:r>
              <a:rPr kumimoji="1"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锐龙</a:t>
            </a:r>
          </a:p>
          <a:p>
            <a:pPr algn="ctr"/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MATLAB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44360" y="5041384"/>
            <a:ext cx="11694795" cy="5452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139" name="文本框 138"/>
          <p:cNvSpPr txBox="1"/>
          <p:nvPr/>
        </p:nvSpPr>
        <p:spPr>
          <a:xfrm>
            <a:off x="2074075" y="485720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20218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3224060" y="487625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4929670" y="488895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27648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6635280" y="488260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—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8171980" y="488895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10391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9801390" y="4876255"/>
            <a:ext cx="122237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12213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1037735" y="4888955"/>
            <a:ext cx="1202055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OPPOSans M" panose="00020600040101010101" pitchFamily="18" charset="-122"/>
              </a:rPr>
              <a:t>70470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544096" y="5107216"/>
            <a:ext cx="147245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飞腾</a:t>
            </a:r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C++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21183" y="6108200"/>
            <a:ext cx="11557623" cy="862698"/>
            <a:chOff x="531660" y="6291983"/>
            <a:chExt cx="11326313" cy="707333"/>
          </a:xfrm>
        </p:grpSpPr>
        <p:sp>
          <p:nvSpPr>
            <p:cNvPr id="11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2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3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489863" y="6336496"/>
            <a:ext cx="962026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优化</a:t>
            </a:r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MVDR</a:t>
            </a:r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同平台</a:t>
            </a:r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提速17.47倍</a:t>
            </a:r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，加速比达</a:t>
            </a:r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18.91倍</a:t>
            </a:r>
            <a:endParaRPr kumimoji="1" lang="zh-CN" altLang="en-US" sz="2800" dirty="0">
              <a:solidFill>
                <a:srgbClr val="C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815020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70" y="952685"/>
            <a:ext cx="1219009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应用算法构建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2 | </a:t>
            </a:r>
            <a:r>
              <a:rPr lang="en-US" altLang="zh-CN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CFAR</a:t>
            </a: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恒虚警算法</a:t>
            </a:r>
            <a:endParaRPr lang="zh-CN" altLang="en-US" sz="2800" b="1" kern="0" dirty="0"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27000" dist="127000" dir="5400000" algn="t" rotWithShape="0">
                  <a:prstClr val="black">
                    <a:alpha val="30000"/>
                  </a:prst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0272" y="3989255"/>
            <a:ext cx="3570154" cy="2108590"/>
            <a:chOff x="7049" y="2627"/>
            <a:chExt cx="4721" cy="3368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7049" y="3364"/>
              <a:ext cx="4720" cy="2631"/>
            </a:xfrm>
            <a:prstGeom prst="round2SameRect">
              <a:avLst>
                <a:gd name="adj1" fmla="val 7249"/>
                <a:gd name="adj2" fmla="val 0"/>
              </a:avLst>
            </a:prstGeom>
            <a:solidFill>
              <a:schemeClr val="bg1"/>
            </a:solidFill>
            <a:ln w="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PA-任意多边形 7"/>
            <p:cNvSpPr/>
            <p:nvPr>
              <p:custDataLst>
                <p:tags r:id="rId15"/>
              </p:custDataLst>
            </p:nvPr>
          </p:nvSpPr>
          <p:spPr>
            <a:xfrm>
              <a:off x="7049" y="2627"/>
              <a:ext cx="4721" cy="740"/>
            </a:xfrm>
            <a:prstGeom prst="round2SameRect">
              <a:avLst>
                <a:gd name="adj1" fmla="val 16667"/>
                <a:gd name="adj2" fmla="val 3975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200"/>
              <a:r>
                <a:rPr lang="zh-CN" altLang="en-US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途径</a:t>
              </a:r>
              <a:r>
                <a:rPr lang="en-US" altLang="zh-CN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2</a:t>
              </a:r>
              <a:r>
                <a:rPr lang="en-US" altLang="zh-CN" kern="0" dirty="0">
                  <a:solidFill>
                    <a:prstClr val="white"/>
                  </a:solidFill>
                  <a:latin typeface="OPPOSans M" panose="00020600040101010101" pitchFamily="18" charset="-122"/>
                </a:rPr>
                <a:t> | </a:t>
              </a:r>
              <a:r>
                <a:rPr lang="zh-CN" altLang="en-US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自适应卷积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50894" y="1779792"/>
            <a:ext cx="3570154" cy="2031531"/>
            <a:chOff x="7049" y="2627"/>
            <a:chExt cx="4721" cy="3252"/>
          </a:xfrm>
          <a:effectLst/>
        </p:grpSpPr>
        <p:sp>
          <p:nvSpPr>
            <p:cNvPr id="21" name="同侧圆角矩形 20"/>
            <p:cNvSpPr/>
            <p:nvPr/>
          </p:nvSpPr>
          <p:spPr>
            <a:xfrm rot="10800000">
              <a:off x="7049" y="3390"/>
              <a:ext cx="4720" cy="2489"/>
            </a:xfrm>
            <a:prstGeom prst="round2SameRect">
              <a:avLst>
                <a:gd name="adj1" fmla="val 7249"/>
                <a:gd name="adj2" fmla="val 0"/>
              </a:avLst>
            </a:prstGeom>
            <a:solidFill>
              <a:schemeClr val="bg1"/>
            </a:solidFill>
            <a:ln w="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PA-任意多边形 7"/>
            <p:cNvSpPr/>
            <p:nvPr>
              <p:custDataLst>
                <p:tags r:id="rId14"/>
              </p:custDataLst>
            </p:nvPr>
          </p:nvSpPr>
          <p:spPr>
            <a:xfrm>
              <a:off x="7049" y="2627"/>
              <a:ext cx="4721" cy="757"/>
            </a:xfrm>
            <a:prstGeom prst="round2SameRect">
              <a:avLst>
                <a:gd name="adj1" fmla="val 16667"/>
                <a:gd name="adj2" fmla="val 3975"/>
              </a:avLst>
            </a:prstGeom>
            <a:gradFill flip="none" rotWithShape="1">
              <a:gsLst>
                <a:gs pos="10000">
                  <a:schemeClr val="accent2"/>
                </a:gs>
                <a:gs pos="5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200"/>
              <a:r>
                <a:rPr lang="zh-CN" altLang="en-US" sz="2000" b="1" kern="0" dirty="0">
                  <a:gradFill>
                    <a:gsLst>
                      <a:gs pos="100000">
                        <a:schemeClr val="accent5"/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途径1</a:t>
              </a:r>
              <a:r>
                <a:rPr lang="en-US" altLang="zh-CN" kern="0" dirty="0">
                  <a:solidFill>
                    <a:prstClr val="white"/>
                  </a:solidFill>
                  <a:latin typeface="OPPOSans M" panose="00020600040101010101" pitchFamily="18" charset="-122"/>
                </a:rPr>
                <a:t> | </a:t>
              </a:r>
              <a:r>
                <a:rPr lang="zh-CN" altLang="en-US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滑动平均窗</a:t>
              </a:r>
            </a:p>
          </p:txBody>
        </p:sp>
      </p:grpSp>
      <p:graphicFrame>
        <p:nvGraphicFramePr>
          <p:cNvPr id="27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77806" y="5688057"/>
          <a:ext cx="111976" cy="204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14300" imgH="215900" progId="Equation.KSEE3">
                  <p:embed/>
                </p:oleObj>
              </mc:Choice>
              <mc:Fallback>
                <p:oleObj r:id="rId17" imgW="114300" imgH="215900" progId="Equation.KSEE3">
                  <p:embed/>
                  <p:pic>
                    <p:nvPicPr>
                      <p:cNvPr id="0" name="对象 2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77806" y="5688057"/>
                        <a:ext cx="111976" cy="204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63"/>
          <p:cNvPicPr/>
          <p:nvPr/>
        </p:nvPicPr>
        <p:blipFill>
          <a:blip r:embed="rId19"/>
          <a:srcRect l="11938"/>
          <a:stretch>
            <a:fillRect/>
          </a:stretch>
        </p:blipFill>
        <p:spPr>
          <a:xfrm>
            <a:off x="678888" y="2736306"/>
            <a:ext cx="2257552" cy="93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62"/>
          <p:cNvPicPr/>
          <p:nvPr/>
        </p:nvPicPr>
        <p:blipFill>
          <a:blip r:embed="rId20"/>
          <a:stretch>
            <a:fillRect/>
          </a:stretch>
        </p:blipFill>
        <p:spPr>
          <a:xfrm>
            <a:off x="2569409" y="2252648"/>
            <a:ext cx="1651639" cy="6672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934565" y="2340859"/>
            <a:ext cx="2106385" cy="31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/>
              <a:t>参考窗</a:t>
            </a:r>
            <a:r>
              <a:rPr lang="en-US" altLang="zh-CN" sz="1200" dirty="0"/>
              <a:t>+</a:t>
            </a:r>
            <a:r>
              <a:rPr lang="zh-CN" altLang="en-US" sz="1200" dirty="0"/>
              <a:t>保护窗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36440" y="3114820"/>
            <a:ext cx="2106385" cy="31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/>
              <a:t>信号中滑动叠加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8468" y="4600819"/>
            <a:ext cx="3405923" cy="1468975"/>
          </a:xfrm>
          <a:prstGeom prst="rect">
            <a:avLst/>
          </a:prstGeom>
        </p:spPr>
      </p:pic>
      <p:sp>
        <p:nvSpPr>
          <p:cNvPr id="366" name="文本框 365"/>
          <p:cNvSpPr txBox="1"/>
          <p:nvPr/>
        </p:nvSpPr>
        <p:spPr>
          <a:xfrm>
            <a:off x="1442188" y="5094678"/>
            <a:ext cx="71539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dirty="0"/>
              <a:t>Conv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44" name="任意多边形: 形状 7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45" name="PA-文本框 6"/>
            <p:cNvSpPr txBox="1"/>
            <p:nvPr>
              <p:custDataLst>
                <p:tags r:id="rId3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97" name="PA-文本框 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5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6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31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10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9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湖工横版logo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2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67" name="组合 66"/>
          <p:cNvGrpSpPr/>
          <p:nvPr/>
        </p:nvGrpSpPr>
        <p:grpSpPr>
          <a:xfrm>
            <a:off x="521183" y="6108200"/>
            <a:ext cx="11557623" cy="862698"/>
            <a:chOff x="531660" y="6291983"/>
            <a:chExt cx="11326313" cy="707333"/>
          </a:xfrm>
        </p:grpSpPr>
        <p:sp>
          <p:nvSpPr>
            <p:cNvPr id="69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70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71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1489863" y="6336496"/>
            <a:ext cx="9620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两大途径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自适应切换，</a:t>
            </a:r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CFAR</a:t>
            </a:r>
            <a:r>
              <a:rPr kumimoji="1" lang="zh-CN" altLang="en-US" sz="2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加速比最高</a:t>
            </a:r>
            <a:r>
              <a:rPr kumimoji="1" lang="en-US" altLang="zh-CN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70.5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倍</a:t>
            </a:r>
          </a:p>
        </p:txBody>
      </p:sp>
      <p:sp>
        <p:nvSpPr>
          <p:cNvPr id="75" name="矩形 74"/>
          <p:cNvSpPr/>
          <p:nvPr>
            <p:custDataLst>
              <p:tags r:id="rId1"/>
            </p:custDataLst>
          </p:nvPr>
        </p:nvSpPr>
        <p:spPr>
          <a:xfrm>
            <a:off x="4544695" y="4256880"/>
            <a:ext cx="7424420" cy="1881485"/>
          </a:xfrm>
          <a:prstGeom prst="rect">
            <a:avLst/>
          </a:prstGeom>
          <a:solidFill>
            <a:schemeClr val="accent1">
              <a:lumMod val="781"/>
              <a:lumOff val="99219"/>
            </a:schemeClr>
          </a:solidFill>
          <a:ln w="12700" cap="flat" cmpd="sng" algn="ctr">
            <a:solidFill>
              <a:schemeClr val="accent1">
                <a:lumMod val="92969"/>
                <a:alpha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38100" sx="101000" sy="101000" algn="tr" rotWithShape="0">
              <a:schemeClr val="accent1">
                <a:lumMod val="92969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solidFill>
                  <a:schemeClr val="lt1"/>
                </a:solidFill>
                <a:sym typeface="MiSans Normal" panose="00000500000000000000" charset="-122"/>
              </a:rPr>
              <a:t>长度</a:t>
            </a:r>
            <a:r>
              <a:rPr lang="en-US" altLang="zh-CN">
                <a:solidFill>
                  <a:schemeClr val="lt1"/>
                </a:solidFill>
                <a:sym typeface="MiSans Normal" panose="00000500000000000000" charset="-122"/>
              </a:rPr>
              <a:t>size</a:t>
            </a:r>
            <a:endParaRPr lang="zh-CN" altLang="en-US">
              <a:solidFill>
                <a:schemeClr val="lt1"/>
              </a:solidFill>
              <a:sym typeface="MiSans Normal" panose="00000500000000000000" charset="-122"/>
            </a:endParaRPr>
          </a:p>
        </p:txBody>
      </p:sp>
      <p:graphicFrame>
        <p:nvGraphicFramePr>
          <p:cNvPr id="76" name="图表 75" descr="7b0a202020202263686172745265734964223a20223230343735353035220a7d0a"/>
          <p:cNvGraphicFramePr/>
          <p:nvPr/>
        </p:nvGraphicFramePr>
        <p:xfrm>
          <a:off x="5359400" y="3851275"/>
          <a:ext cx="6144260" cy="2287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571837" y="1640706"/>
            <a:ext cx="7433310" cy="2479467"/>
            <a:chOff x="4544060" y="1680845"/>
            <a:chExt cx="7433310" cy="2667856"/>
          </a:xfrm>
        </p:grpSpPr>
        <p:sp>
          <p:nvSpPr>
            <p:cNvPr id="77" name="矩形 76"/>
            <p:cNvSpPr/>
            <p:nvPr/>
          </p:nvSpPr>
          <p:spPr>
            <a:xfrm>
              <a:off x="5330999" y="1680845"/>
              <a:ext cx="6646371" cy="2617183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4544060" y="1680845"/>
              <a:ext cx="787561" cy="2667856"/>
            </a:xfrm>
            <a:prstGeom prst="rect">
              <a:avLst/>
            </a:prstGeom>
            <a:solidFill>
              <a:srgbClr val="0068BF"/>
            </a:solidFill>
            <a:ln w="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bg2"/>
                  </a:solidFill>
                </a:rPr>
                <a:t>CFAR</a:t>
              </a:r>
            </a:p>
            <a:p>
              <a:pPr algn="ctr"/>
              <a:r>
                <a:rPr lang="zh-CN" altLang="en-US" sz="1400" b="1">
                  <a:solidFill>
                    <a:schemeClr val="bg2"/>
                  </a:solidFill>
                </a:rPr>
                <a:t>算法</a:t>
              </a:r>
            </a:p>
            <a:p>
              <a:pPr algn="ctr"/>
              <a:r>
                <a:rPr lang="zh-CN" altLang="en-US" sz="1400" b="1">
                  <a:solidFill>
                    <a:schemeClr val="bg2"/>
                  </a:solidFill>
                </a:rPr>
                <a:t>流程图</a:t>
              </a:r>
            </a:p>
          </p:txBody>
        </p:sp>
        <p:sp>
          <p:nvSpPr>
            <p:cNvPr id="79" name="矩形 78"/>
            <p:cNvSpPr/>
            <p:nvPr/>
          </p:nvSpPr>
          <p:spPr>
            <a:xfrm>
              <a:off x="6071282" y="1680845"/>
              <a:ext cx="5899245" cy="1333093"/>
            </a:xfrm>
            <a:prstGeom prst="rect">
              <a:avLst/>
            </a:prstGeom>
            <a:solidFill>
              <a:schemeClr val="bg1"/>
            </a:solidFill>
            <a:ln w="0">
              <a:solidFill>
                <a:srgbClr val="0068B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5331621" y="1680845"/>
              <a:ext cx="739661" cy="1333093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rgbClr val="0068B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noProof="0" dirty="0">
                  <a:ln>
                    <a:noFill/>
                  </a:ln>
                  <a:solidFill>
                    <a:srgbClr val="0068BF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HOST</a:t>
              </a:r>
            </a:p>
          </p:txBody>
        </p:sp>
        <p:sp>
          <p:nvSpPr>
            <p:cNvPr id="81" name="矩形 80"/>
            <p:cNvSpPr/>
            <p:nvPr/>
          </p:nvSpPr>
          <p:spPr>
            <a:xfrm>
              <a:off x="5330999" y="2792869"/>
              <a:ext cx="740905" cy="1555832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rgbClr val="0068B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noProof="0" dirty="0">
                  <a:ln>
                    <a:noFill/>
                  </a:ln>
                  <a:solidFill>
                    <a:srgbClr val="0068BF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GPU</a:t>
              </a:r>
            </a:p>
          </p:txBody>
        </p:sp>
        <p:sp>
          <p:nvSpPr>
            <p:cNvPr id="82" name="矩形 81"/>
            <p:cNvSpPr/>
            <p:nvPr/>
          </p:nvSpPr>
          <p:spPr>
            <a:xfrm>
              <a:off x="6071282" y="2792869"/>
              <a:ext cx="5898623" cy="1555275"/>
            </a:xfrm>
            <a:prstGeom prst="rect">
              <a:avLst/>
            </a:prstGeom>
            <a:solidFill>
              <a:schemeClr val="bg1"/>
            </a:solidFill>
            <a:ln w="0">
              <a:solidFill>
                <a:srgbClr val="0068B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流程图: 终止 82"/>
            <p:cNvSpPr/>
            <p:nvPr/>
          </p:nvSpPr>
          <p:spPr>
            <a:xfrm>
              <a:off x="6144066" y="1774395"/>
              <a:ext cx="1151482" cy="257264"/>
            </a:xfrm>
            <a:prstGeom prst="flowChartTerminator">
              <a:avLst/>
            </a:prstGeom>
            <a:solidFill>
              <a:schemeClr val="bg1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信号输入</a:t>
              </a:r>
            </a:p>
          </p:txBody>
        </p:sp>
        <p:sp>
          <p:nvSpPr>
            <p:cNvPr id="84" name="菱形 83"/>
            <p:cNvSpPr/>
            <p:nvPr/>
          </p:nvSpPr>
          <p:spPr>
            <a:xfrm>
              <a:off x="7475331" y="3287350"/>
              <a:ext cx="1151482" cy="507288"/>
            </a:xfrm>
            <a:prstGeom prst="diamond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内核选择</a:t>
              </a:r>
            </a:p>
          </p:txBody>
        </p:sp>
        <p:sp>
          <p:nvSpPr>
            <p:cNvPr id="85" name="矩形 84"/>
            <p:cNvSpPr/>
            <p:nvPr/>
          </p:nvSpPr>
          <p:spPr>
            <a:xfrm>
              <a:off x="6144066" y="2126323"/>
              <a:ext cx="1151482" cy="2544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判别窗口长度</a:t>
              </a:r>
            </a:p>
          </p:txBody>
        </p:sp>
        <p:sp>
          <p:nvSpPr>
            <p:cNvPr id="86" name="矩形 85"/>
            <p:cNvSpPr/>
            <p:nvPr/>
          </p:nvSpPr>
          <p:spPr>
            <a:xfrm>
              <a:off x="6144066" y="2474910"/>
              <a:ext cx="1151482" cy="2572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上传数据</a:t>
              </a:r>
            </a:p>
          </p:txBody>
        </p:sp>
        <p:sp>
          <p:nvSpPr>
            <p:cNvPr id="87" name="矩形 86"/>
            <p:cNvSpPr/>
            <p:nvPr/>
          </p:nvSpPr>
          <p:spPr>
            <a:xfrm>
              <a:off x="7475331" y="2117970"/>
              <a:ext cx="1151482" cy="2544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异步启动内核</a:t>
              </a:r>
            </a:p>
          </p:txBody>
        </p:sp>
        <p:sp>
          <p:nvSpPr>
            <p:cNvPr id="88" name="矩形 87"/>
            <p:cNvSpPr/>
            <p:nvPr/>
          </p:nvSpPr>
          <p:spPr>
            <a:xfrm>
              <a:off x="6197565" y="3415982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滑窗平均</a:t>
              </a:r>
            </a:p>
          </p:txBody>
        </p:sp>
        <p:sp>
          <p:nvSpPr>
            <p:cNvPr id="89" name="矩形 88"/>
            <p:cNvSpPr/>
            <p:nvPr/>
          </p:nvSpPr>
          <p:spPr>
            <a:xfrm>
              <a:off x="8767404" y="3226654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滤波器</a:t>
              </a:r>
              <a:r>
                <a:rPr lang="en-US" altLang="zh-CN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FFT</a:t>
              </a:r>
            </a:p>
          </p:txBody>
        </p:sp>
        <p:sp>
          <p:nvSpPr>
            <p:cNvPr id="90" name="矩形 89"/>
            <p:cNvSpPr/>
            <p:nvPr/>
          </p:nvSpPr>
          <p:spPr>
            <a:xfrm>
              <a:off x="8767404" y="3550182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频域相乘</a:t>
              </a:r>
            </a:p>
          </p:txBody>
        </p:sp>
        <p:sp>
          <p:nvSpPr>
            <p:cNvPr id="91" name="矩形 90"/>
            <p:cNvSpPr/>
            <p:nvPr/>
          </p:nvSpPr>
          <p:spPr>
            <a:xfrm>
              <a:off x="8767404" y="3906008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iFFT</a:t>
              </a:r>
            </a:p>
          </p:txBody>
        </p:sp>
        <p:sp>
          <p:nvSpPr>
            <p:cNvPr id="92" name="矩形 91"/>
            <p:cNvSpPr/>
            <p:nvPr/>
          </p:nvSpPr>
          <p:spPr>
            <a:xfrm>
              <a:off x="8767404" y="2913705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输入信号</a:t>
              </a:r>
              <a:r>
                <a:rPr lang="en-US" altLang="zh-CN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FFT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10682808" y="3414868"/>
              <a:ext cx="1151482" cy="251695"/>
            </a:xfrm>
            <a:prstGeom prst="rect">
              <a:avLst/>
            </a:prstGeom>
            <a:solidFill>
              <a:srgbClr val="0068BF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noProof="0" dirty="0"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Saturday Sans Regular" panose="02010600010101010101" charset="-122"/>
                </a:rPr>
                <a:t>下载结果</a:t>
              </a:r>
            </a:p>
          </p:txBody>
        </p:sp>
        <p:sp>
          <p:nvSpPr>
            <p:cNvPr id="95" name="矩形 94"/>
            <p:cNvSpPr/>
            <p:nvPr/>
          </p:nvSpPr>
          <p:spPr>
            <a:xfrm>
              <a:off x="10682808" y="2118527"/>
              <a:ext cx="1151482" cy="2544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68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输出结果</a:t>
              </a:r>
            </a:p>
          </p:txBody>
        </p:sp>
        <p:sp>
          <p:nvSpPr>
            <p:cNvPr id="96" name="矩形 95"/>
            <p:cNvSpPr/>
            <p:nvPr/>
          </p:nvSpPr>
          <p:spPr>
            <a:xfrm>
              <a:off x="8722614" y="2851338"/>
              <a:ext cx="1741842" cy="1380982"/>
            </a:xfrm>
            <a:prstGeom prst="rect">
              <a:avLst/>
            </a:prstGeom>
            <a:noFill/>
            <a:ln w="25400">
              <a:solidFill>
                <a:srgbClr val="0068B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2"/>
                </a:solidFill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9997891" y="2851338"/>
              <a:ext cx="1189429" cy="1419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zh-CN" altLang="en-US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融</a:t>
              </a:r>
            </a:p>
            <a:p>
              <a:pPr algn="l">
                <a:lnSpc>
                  <a:spcPct val="120000"/>
                </a:lnSpc>
              </a:pPr>
              <a:r>
                <a:rPr kumimoji="1" lang="zh-CN" altLang="en-US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合</a:t>
              </a:r>
            </a:p>
            <a:p>
              <a:pPr algn="l">
                <a:lnSpc>
                  <a:spcPct val="120000"/>
                </a:lnSpc>
              </a:pPr>
              <a:r>
                <a:rPr kumimoji="1" lang="zh-CN" altLang="en-US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内</a:t>
              </a:r>
            </a:p>
            <a:p>
              <a:pPr algn="l">
                <a:lnSpc>
                  <a:spcPct val="120000"/>
                </a:lnSpc>
              </a:pPr>
              <a:r>
                <a:rPr kumimoji="1" lang="zh-CN" altLang="en-US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</a:rPr>
                <a:t>核</a:t>
              </a:r>
            </a:p>
          </p:txBody>
        </p:sp>
        <p:cxnSp>
          <p:nvCxnSpPr>
            <p:cNvPr id="99" name="肘形连接符 276"/>
            <p:cNvCxnSpPr>
              <a:stCxn id="83" idx="2"/>
              <a:endCxn id="85" idx="0"/>
            </p:cNvCxnSpPr>
            <p:nvPr/>
          </p:nvCxnSpPr>
          <p:spPr>
            <a:xfrm rot="5400000" flipV="1">
              <a:off x="6672786" y="2078828"/>
              <a:ext cx="94664" cy="3110"/>
            </a:xfrm>
            <a:prstGeom prst="bentConnector2">
              <a:avLst/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肘形连接符 283"/>
            <p:cNvCxnSpPr>
              <a:stCxn id="85" idx="2"/>
              <a:endCxn id="86" idx="0"/>
            </p:cNvCxnSpPr>
            <p:nvPr/>
          </p:nvCxnSpPr>
          <p:spPr>
            <a:xfrm rot="5400000" flipV="1">
              <a:off x="6673375" y="2427414"/>
              <a:ext cx="94107" cy="3110"/>
            </a:xfrm>
            <a:prstGeom prst="bentConnector2">
              <a:avLst/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肘形连接符 284"/>
            <p:cNvCxnSpPr>
              <a:stCxn id="86" idx="3"/>
              <a:endCxn id="87" idx="1"/>
            </p:cNvCxnSpPr>
            <p:nvPr/>
          </p:nvCxnSpPr>
          <p:spPr>
            <a:xfrm flipV="1">
              <a:off x="7295548" y="2245488"/>
              <a:ext cx="179783" cy="358053"/>
            </a:xfrm>
            <a:prstGeom prst="bentConnector3">
              <a:avLst>
                <a:gd name="adj1" fmla="val 50173"/>
              </a:avLst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肘形连接符 287"/>
            <p:cNvCxnSpPr>
              <a:stCxn id="87" idx="2"/>
              <a:endCxn id="84" idx="0"/>
            </p:cNvCxnSpPr>
            <p:nvPr/>
          </p:nvCxnSpPr>
          <p:spPr>
            <a:xfrm rot="5400000" flipV="1">
              <a:off x="7594244" y="2829458"/>
              <a:ext cx="914900" cy="3110"/>
            </a:xfrm>
            <a:prstGeom prst="bentConnector2">
              <a:avLst/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肘形连接符 289"/>
            <p:cNvCxnSpPr>
              <a:stCxn id="84" idx="1"/>
              <a:endCxn id="88" idx="3"/>
            </p:cNvCxnSpPr>
            <p:nvPr/>
          </p:nvCxnSpPr>
          <p:spPr>
            <a:xfrm rot="10800000" flipV="1">
              <a:off x="7349047" y="3541272"/>
              <a:ext cx="126284" cy="557"/>
            </a:xfrm>
            <a:prstGeom prst="bentConnector3">
              <a:avLst>
                <a:gd name="adj1" fmla="val 49754"/>
              </a:avLst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肘形连接符 291"/>
            <p:cNvCxnSpPr>
              <a:stCxn id="84" idx="3"/>
              <a:endCxn id="96" idx="1"/>
            </p:cNvCxnSpPr>
            <p:nvPr/>
          </p:nvCxnSpPr>
          <p:spPr>
            <a:xfrm>
              <a:off x="8626813" y="3541272"/>
              <a:ext cx="95801" cy="55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肘形连接符 292"/>
            <p:cNvCxnSpPr>
              <a:stCxn id="88" idx="2"/>
              <a:endCxn id="93" idx="2"/>
            </p:cNvCxnSpPr>
            <p:nvPr/>
          </p:nvCxnSpPr>
          <p:spPr>
            <a:xfrm rot="5400000" flipH="1" flipV="1">
              <a:off x="9015780" y="1424499"/>
              <a:ext cx="2784" cy="4485243"/>
            </a:xfrm>
            <a:prstGeom prst="bentConnector3">
              <a:avLst>
                <a:gd name="adj1" fmla="val -23150000"/>
              </a:avLst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肘形连接符 293"/>
            <p:cNvCxnSpPr/>
            <p:nvPr/>
          </p:nvCxnSpPr>
          <p:spPr>
            <a:xfrm flipV="1">
              <a:off x="10460723" y="3531806"/>
              <a:ext cx="221463" cy="3898"/>
            </a:xfrm>
            <a:prstGeom prst="bentConnector3">
              <a:avLst>
                <a:gd name="adj1" fmla="val 50281"/>
              </a:avLst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肘形连接符 295"/>
            <p:cNvCxnSpPr>
              <a:stCxn id="93" idx="0"/>
              <a:endCxn id="95" idx="2"/>
            </p:cNvCxnSpPr>
            <p:nvPr/>
          </p:nvCxnSpPr>
          <p:spPr>
            <a:xfrm rot="16200000">
              <a:off x="10738240" y="2894053"/>
              <a:ext cx="1041862" cy="3110"/>
            </a:xfrm>
            <a:prstGeom prst="bentConnector2">
              <a:avLst/>
            </a:prstGeom>
            <a:ln>
              <a:solidFill>
                <a:srgbClr val="0068B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肘形连接符 296"/>
            <p:cNvCxnSpPr>
              <a:stCxn id="87" idx="3"/>
              <a:endCxn id="95" idx="1"/>
            </p:cNvCxnSpPr>
            <p:nvPr/>
          </p:nvCxnSpPr>
          <p:spPr>
            <a:xfrm>
              <a:off x="8626813" y="2245488"/>
              <a:ext cx="2055996" cy="557"/>
            </a:xfrm>
            <a:prstGeom prst="bentConnector3">
              <a:avLst>
                <a:gd name="adj1" fmla="val 50015"/>
              </a:avLst>
            </a:prstGeom>
            <a:ln w="28575" cmpd="sng">
              <a:solidFill>
                <a:srgbClr val="0068B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文本框 108"/>
          <p:cNvSpPr txBox="1"/>
          <p:nvPr/>
        </p:nvSpPr>
        <p:spPr>
          <a:xfrm>
            <a:off x="5424453" y="4276892"/>
            <a:ext cx="1179476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size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11284990" y="5654446"/>
            <a:ext cx="986408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 err="1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ms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44695" y="4256405"/>
            <a:ext cx="787400" cy="1882140"/>
          </a:xfrm>
          <a:prstGeom prst="rect">
            <a:avLst/>
          </a:prstGeom>
          <a:solidFill>
            <a:srgbClr val="0068BF"/>
          </a:solidFill>
          <a:ln w="0">
            <a:solidFill>
              <a:srgbClr val="00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2"/>
                </a:solidFill>
              </a:rPr>
              <a:t>CFAR</a:t>
            </a:r>
          </a:p>
          <a:p>
            <a:pPr algn="ctr"/>
            <a:r>
              <a:rPr lang="zh-CN" altLang="en-US" sz="1400" b="1">
                <a:solidFill>
                  <a:schemeClr val="bg2"/>
                </a:solidFill>
              </a:rPr>
              <a:t>实验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5400000">
            <a:off x="6042825" y="-4815020"/>
            <a:ext cx="515620" cy="12191365"/>
          </a:xfrm>
          <a:prstGeom prst="rect">
            <a:avLst/>
          </a:prstGeom>
          <a:gradFill flip="none" rotWithShape="1">
            <a:gsLst>
              <a:gs pos="74000">
                <a:schemeClr val="accent2">
                  <a:lumMod val="75000"/>
                </a:schemeClr>
              </a:gs>
              <a:gs pos="28000">
                <a:schemeClr val="accent2">
                  <a:lumMod val="75000"/>
                </a:schemeClr>
              </a:gs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w="22225" cap="flat" cmpd="sng" algn="ctr">
            <a:gradFill>
              <a:gsLst>
                <a:gs pos="52300">
                  <a:srgbClr val="FFFFFF"/>
                </a:gs>
                <a:gs pos="26000">
                  <a:srgbClr val="FFFFFF">
                    <a:alpha val="0"/>
                  </a:srgbClr>
                </a:gs>
                <a:gs pos="9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70" y="990785"/>
            <a:ext cx="1219009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800" b="1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关键指标综合评价</a:t>
            </a:r>
          </a:p>
        </p:txBody>
      </p:sp>
      <p:sp>
        <p:nvSpPr>
          <p:cNvPr id="428" name="矩形 427"/>
          <p:cNvSpPr/>
          <p:nvPr/>
        </p:nvSpPr>
        <p:spPr>
          <a:xfrm>
            <a:off x="542455" y="1735005"/>
            <a:ext cx="11697335" cy="4460240"/>
          </a:xfrm>
          <a:prstGeom prst="rect">
            <a:avLst/>
          </a:prstGeom>
          <a:gradFill>
            <a:gsLst>
              <a:gs pos="100000">
                <a:srgbClr val="D9E6F6"/>
              </a:gs>
              <a:gs pos="0">
                <a:srgbClr val="00B9F3">
                  <a:alpha val="28000"/>
                  <a:lumMod val="88000"/>
                  <a:lumOff val="12000"/>
                </a:srgbClr>
              </a:gs>
              <a:gs pos="0">
                <a:srgbClr val="CBE5FB">
                  <a:alpha val="100000"/>
                </a:srgbClr>
              </a:gs>
              <a:gs pos="72000">
                <a:srgbClr val="BCE3FF"/>
              </a:gs>
            </a:gsLst>
            <a:path path="rect">
              <a:fillToRect l="50000" t="50000" r="50000" b="50000"/>
            </a:path>
            <a:tileRect/>
          </a:gradFill>
          <a:ln w="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518960" y="1961065"/>
            <a:ext cx="11658600" cy="19050"/>
          </a:xfrm>
          <a:prstGeom prst="line">
            <a:avLst/>
          </a:prstGeom>
          <a:ln>
            <a:solidFill>
              <a:srgbClr val="006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348905" y="2083620"/>
            <a:ext cx="1104709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</a:t>
            </a:r>
            <a:r>
              <a:rPr lang="en-US" altLang="zh-CN" dirty="0"/>
              <a:t>            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功能完整性   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最高优化比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 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最高加速比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执行时间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      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创新点 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</a:t>
            </a:r>
            <a:r>
              <a:rPr kumimoji="1"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</a:t>
            </a:r>
            <a:r>
              <a:rPr kumimoji="1"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 </a:t>
            </a:r>
            <a:r>
              <a:rPr kumimoji="1"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 </a:t>
            </a:r>
            <a:endParaRPr kumimoji="1" lang="zh-CN" altLang="en-US" sz="200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43090" y="2822125"/>
            <a:ext cx="11697335" cy="989330"/>
          </a:xfrm>
          <a:prstGeom prst="rect">
            <a:avLst/>
          </a:prstGeom>
          <a:solidFill>
            <a:srgbClr val="0068BF"/>
          </a:solidFill>
        </p:spPr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/>
              <a:t>  </a:t>
            </a:r>
            <a:r>
              <a:rPr kumimoji="1" lang="zh-CN" altLang="en-US" sz="1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底层算子</a:t>
            </a:r>
            <a:r>
              <a:rPr lang="en-US" altLang="zh-CN" sz="2400" b="1" kern="0" dirty="0">
                <a:solidFill>
                  <a:schemeClr val="bg1"/>
                </a:soli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</a:t>
            </a:r>
            <a:r>
              <a:rPr lang="zh-CN" altLang="en-US" sz="2400" b="1" kern="0" dirty="0">
                <a:solidFill>
                  <a:schemeClr val="bg1"/>
                </a:solidFill>
                <a:effectLst>
                  <a:outerShdw blurRad="127000" dist="127000" dir="5400000" algn="t" rotWithShape="0">
                    <a:prstClr val="black">
                      <a:alpha val="30000"/>
                    </a:prst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 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226475" y="2825935"/>
            <a:ext cx="210439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各算子实现正确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44360" y="3800660"/>
            <a:ext cx="11694795" cy="1053465"/>
          </a:xfrm>
          <a:prstGeom prst="rect">
            <a:avLst/>
          </a:prstGeom>
          <a:solidFill>
            <a:schemeClr val="accent2">
              <a:lumMod val="75000"/>
              <a:alpha val="69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noProof="0" dirty="0">
                <a:ln>
                  <a:noFill/>
                </a:ln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  </a:t>
            </a:r>
            <a:r>
              <a:rPr kumimoji="1" lang="zh-CN" altLang="en-US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MVDR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226475" y="3779705"/>
            <a:ext cx="2104390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执行结果与MATLAB一致</a:t>
            </a:r>
            <a:endParaRPr kumimoji="1" lang="en-US" altLang="zh-CN" sz="2000" b="1" kern="0" noProof="0" dirty="0">
              <a:ln>
                <a:noFill/>
              </a:ln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565315" y="5859965"/>
            <a:ext cx="11612245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优化比：算子相同平台优化前后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        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加速比：与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CPU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平台对比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            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执行时间：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MVDR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与</a:t>
            </a:r>
            <a:r>
              <a:rPr lang="en-US" altLang="zh-CN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CFAR</a:t>
            </a:r>
            <a:r>
              <a:rPr lang="zh-CN" altLang="en-US" sz="1000" dirty="0">
                <a:solidFill>
                  <a:schemeClr val="bg1">
                    <a:lumMod val="50000"/>
                    <a:alpha val="90000"/>
                  </a:schemeClr>
                </a:solidFill>
              </a:rPr>
              <a:t>算法执行时间基于赛题官方提供样例</a:t>
            </a:r>
          </a:p>
        </p:txBody>
      </p:sp>
      <p:cxnSp>
        <p:nvCxnSpPr>
          <p:cNvPr id="401" name="直接连接符 400"/>
          <p:cNvCxnSpPr/>
          <p:nvPr/>
        </p:nvCxnSpPr>
        <p:spPr>
          <a:xfrm flipV="1">
            <a:off x="579920" y="5859965"/>
            <a:ext cx="11658600" cy="19050"/>
          </a:xfrm>
          <a:prstGeom prst="line">
            <a:avLst/>
          </a:prstGeom>
          <a:ln>
            <a:solidFill>
              <a:srgbClr val="006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6200305" y="2820220"/>
            <a:ext cx="210439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283×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200305" y="3822250"/>
            <a:ext cx="2104390" cy="10382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5.73×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04695" y="2822125"/>
            <a:ext cx="2104390" cy="97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—</a:t>
            </a:r>
            <a:endParaRPr kumimoji="1" 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304695" y="3822250"/>
            <a:ext cx="2104390" cy="10883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3538ms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0186200" y="2820220"/>
            <a:ext cx="2052320" cy="10020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全自动调优</a:t>
            </a:r>
          </a:p>
          <a:p>
            <a:pPr algn="ctr">
              <a:lnSpc>
                <a:spcPct val="120000"/>
              </a:lnSpc>
            </a:pPr>
            <a:r>
              <a:rPr lang="en-US" altLang="zh-CN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缓冲区池</a:t>
            </a:r>
          </a:p>
          <a:p>
            <a:pPr algn="ctr">
              <a:lnSpc>
                <a:spcPct val="120000"/>
              </a:lnSpc>
            </a:pPr>
            <a:r>
              <a:rPr lang="en-US" altLang="zh-CN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融合内核</a:t>
            </a:r>
            <a:endParaRPr kumimoji="1" lang="en-US" altLang="zh-CN" kern="0" noProof="0" dirty="0">
              <a:ln>
                <a:noFill/>
              </a:ln>
              <a:gradFill>
                <a:gsLst>
                  <a:gs pos="100000">
                    <a:schemeClr val="accent5"/>
                  </a:gs>
                  <a:gs pos="0">
                    <a:schemeClr val="bg1"/>
                  </a:gs>
                </a:gsLst>
                <a:lin ang="54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186835" y="3799390"/>
            <a:ext cx="2051685" cy="10115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18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预计算相位表</a:t>
            </a:r>
          </a:p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18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分块批处理</a:t>
            </a:r>
          </a:p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18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非显式求逆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41185" y="4854125"/>
            <a:ext cx="11697335" cy="927735"/>
          </a:xfrm>
          <a:prstGeom prst="rect">
            <a:avLst/>
          </a:prstGeom>
          <a:solidFill>
            <a:srgbClr val="0068BF"/>
          </a:solidFill>
        </p:spPr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/>
              <a:t>   </a:t>
            </a:r>
            <a:r>
              <a:rPr kumimoji="1" lang="zh-CN" altLang="en-US" sz="1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CFAR</a:t>
            </a:r>
            <a:endParaRPr kumimoji="1" lang="zh-CN" altLang="en-US" sz="1800" b="1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188375" y="4857935"/>
            <a:ext cx="2104390" cy="892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执行结果与MATLAB一致</a:t>
            </a:r>
            <a:endParaRPr kumimoji="1" lang="zh-CN" altLang="en-US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OPPOSans M" panose="00020600040101010101" pitchFamily="18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200305" y="4860475"/>
            <a:ext cx="2104390" cy="9131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70.5×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304695" y="4870000"/>
            <a:ext cx="2104390" cy="9264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7.6ms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0186200" y="4854125"/>
            <a:ext cx="2054225" cy="9423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18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自适应切换内核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92765" y="4854125"/>
            <a:ext cx="2142490" cy="9131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—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2765" y="3822250"/>
            <a:ext cx="2104390" cy="10325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</a:rPr>
              <a:t>—</a:t>
            </a:r>
            <a:endParaRPr kumimoji="1" lang="zh-CN" altLang="en-US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0865" y="2825935"/>
            <a:ext cx="2038350" cy="9969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kern="0" dirty="0">
                <a:gradFill>
                  <a:gsLst>
                    <a:gs pos="100000">
                      <a:schemeClr val="accent5"/>
                    </a:gs>
                    <a:gs pos="0">
                      <a:schemeClr val="bg1"/>
                    </a:gs>
                  </a:gsLst>
                  <a:lin ang="540000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2.86×</a:t>
            </a:r>
            <a:endParaRPr kumimoji="1" lang="en-US" altLang="zh-CN" sz="1800" noProof="0" dirty="0">
              <a:ln>
                <a:noFill/>
              </a:ln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POSans M" panose="00020600040101010101" pitchFamily="18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70" y="185"/>
            <a:ext cx="12600305" cy="781685"/>
            <a:chOff x="0" y="0"/>
            <a:chExt cx="19200" cy="1231"/>
          </a:xfrm>
        </p:grpSpPr>
        <p:sp>
          <p:nvSpPr>
            <p:cNvPr id="8" name="任意多边形: 形状 7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0" name="PA-文本框 6"/>
            <p:cNvSpPr txBox="1"/>
            <p:nvPr>
              <p:custDataLst>
                <p:tags r:id="rId2"/>
              </p:custDataLst>
            </p:nvPr>
          </p:nvSpPr>
          <p:spPr>
            <a:xfrm>
              <a:off x="5596" y="315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769" y="173"/>
              <a:ext cx="2706" cy="836"/>
              <a:chOff x="4986" y="173"/>
              <a:chExt cx="2706" cy="836"/>
            </a:xfrm>
          </p:grpSpPr>
          <p:sp>
            <p:nvSpPr>
              <p:cNvPr id="94" name="PA-任意多边形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97" name="PA-文本框 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核心技术</a:t>
                </a:r>
              </a:p>
            </p:txBody>
          </p:sp>
        </p:grpSp>
        <p:sp>
          <p:nvSpPr>
            <p:cNvPr id="111" name="PA-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5114" y="315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应用展望</a:t>
              </a:r>
            </a:p>
          </p:txBody>
        </p:sp>
        <p:sp>
          <p:nvSpPr>
            <p:cNvPr id="117" name="任意多边形: 形状 14"/>
            <p:cNvSpPr/>
            <p:nvPr>
              <p:custDataLst>
                <p:tags r:id="rId4"/>
              </p:custDataLst>
            </p:nvPr>
          </p:nvSpPr>
          <p:spPr>
            <a:xfrm flipV="1">
              <a:off x="0" y="1144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19" name="PA-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712" y="308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31" name="PA-直接连接符 26"/>
            <p:cNvCxnSpPr/>
            <p:nvPr>
              <p:custDataLst>
                <p:tags r:id="rId6"/>
              </p:custDataLst>
            </p:nvPr>
          </p:nvCxnSpPr>
          <p:spPr>
            <a:xfrm>
              <a:off x="14784" y="356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PA-直接连接符 26"/>
            <p:cNvCxnSpPr/>
            <p:nvPr>
              <p:custDataLst>
                <p:tags r:id="rId7"/>
              </p:custDataLst>
            </p:nvPr>
          </p:nvCxnSpPr>
          <p:spPr>
            <a:xfrm>
              <a:off x="11529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120+"/>
            <p:cNvGrpSpPr/>
            <p:nvPr/>
          </p:nvGrpSpPr>
          <p:grpSpPr>
            <a:xfrm>
              <a:off x="3969" y="348"/>
              <a:ext cx="406" cy="516"/>
              <a:chOff x="981945" y="2960072"/>
              <a:chExt cx="257801" cy="327873"/>
            </a:xfrm>
          </p:grpSpPr>
          <p:sp>
            <p:nvSpPr>
              <p:cNvPr id="135" name="PA-矩形 114"/>
              <p:cNvSpPr/>
              <p:nvPr>
                <p:custDataLst>
                  <p:tags r:id="rId9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45" name="PA-任意多边形 1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52" name="PA-直接连接符 26"/>
            <p:cNvCxnSpPr/>
            <p:nvPr>
              <p:custDataLst>
                <p:tags r:id="rId8"/>
              </p:custDataLst>
            </p:nvPr>
          </p:nvCxnSpPr>
          <p:spPr>
            <a:xfrm>
              <a:off x="8404" y="348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湖工横版logo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0" y="156"/>
              <a:ext cx="3569" cy="880"/>
            </a:xfrm>
            <a:prstGeom prst="rect">
              <a:avLst/>
            </a:prstGeom>
          </p:spPr>
        </p:pic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7974" y="116"/>
              <a:ext cx="935" cy="950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521183" y="6108200"/>
            <a:ext cx="11557623" cy="862698"/>
            <a:chOff x="531660" y="6291983"/>
            <a:chExt cx="11326313" cy="707333"/>
          </a:xfrm>
        </p:grpSpPr>
        <p:sp>
          <p:nvSpPr>
            <p:cNvPr id="12" name="19-1"/>
            <p:cNvSpPr/>
            <p:nvPr/>
          </p:nvSpPr>
          <p:spPr>
            <a:xfrm flipV="1">
              <a:off x="648720" y="6448300"/>
              <a:ext cx="11086080" cy="468194"/>
            </a:xfrm>
            <a:prstGeom prst="trapezoid">
              <a:avLst/>
            </a:prstGeom>
            <a:gradFill>
              <a:gsLst>
                <a:gs pos="50000">
                  <a:srgbClr val="FFFFFF"/>
                </a:gs>
                <a:gs pos="85000">
                  <a:srgbClr val="FFFFFF"/>
                </a:gs>
                <a:gs pos="14000">
                  <a:srgbClr val="FFFFFF"/>
                </a:gs>
                <a:gs pos="100000">
                  <a:srgbClr val="008BFF">
                    <a:lumMod val="20000"/>
                    <a:lumOff val="80000"/>
                  </a:srgbClr>
                </a:gs>
                <a:gs pos="0">
                  <a:srgbClr val="008BFF">
                    <a:lumMod val="20000"/>
                    <a:lumOff val="80000"/>
                  </a:srgbClr>
                </a:gs>
              </a:gsLst>
              <a:lin ang="0" scaled="0"/>
            </a:gradFill>
            <a:ln w="6350" cap="flat" cmpd="sng" algn="ctr">
              <a:gradFill flip="none" rotWithShape="1">
                <a:gsLst>
                  <a:gs pos="77000">
                    <a:srgbClr val="008BFF">
                      <a:alpha val="0"/>
                    </a:srgbClr>
                  </a:gs>
                  <a:gs pos="6000">
                    <a:srgbClr val="0068BF"/>
                  </a:gs>
                  <a:gs pos="98000">
                    <a:srgbClr val="0068BF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3" name="19-3"/>
            <p:cNvSpPr/>
            <p:nvPr/>
          </p:nvSpPr>
          <p:spPr>
            <a:xfrm>
              <a:off x="9287079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  <p:sp>
          <p:nvSpPr>
            <p:cNvPr id="14" name="19-4"/>
            <p:cNvSpPr/>
            <p:nvPr/>
          </p:nvSpPr>
          <p:spPr>
            <a:xfrm flipH="1">
              <a:off x="531660" y="6291983"/>
              <a:ext cx="2570894" cy="707333"/>
            </a:xfrm>
            <a:prstGeom prst="parallelogram">
              <a:avLst/>
            </a:prstGeom>
            <a:noFill/>
            <a:ln w="9525" cap="flat" cmpd="sng" algn="ctr">
              <a:gradFill>
                <a:gsLst>
                  <a:gs pos="86000">
                    <a:srgbClr val="008BFF">
                      <a:alpha val="0"/>
                    </a:srgbClr>
                  </a:gs>
                  <a:gs pos="100000">
                    <a:srgbClr val="0068BF"/>
                  </a:gs>
                </a:gsLst>
                <a:lin ang="27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4488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思源黑体 CN Regular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489863" y="6336496"/>
            <a:ext cx="9620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0068B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凌波驭算，提供高效的</a:t>
            </a:r>
            <a:r>
              <a:rPr kumimoji="1" lang="zh-CN" altLang="en-US" sz="28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OPPOSans M" panose="00020600040101010101" pitchFamily="18" charset="-122"/>
              </a:rPr>
              <a:t>数学库与信号处理库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030"/>
          <p:cNvSpPr/>
          <p:nvPr/>
        </p:nvSpPr>
        <p:spPr>
          <a:xfrm>
            <a:off x="268770" y="1726750"/>
            <a:ext cx="5941695" cy="4921250"/>
          </a:xfrm>
          <a:prstGeom prst="roundRect">
            <a:avLst>
              <a:gd name="adj" fmla="val 1743"/>
            </a:avLst>
          </a:prstGeom>
          <a:gradFill>
            <a:gsLst>
              <a:gs pos="0">
                <a:srgbClr val="026CD4">
                  <a:lumMod val="5000"/>
                  <a:lumOff val="9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 cap="flat" cmpd="sng" algn="ctr">
            <a:gradFill>
              <a:gsLst>
                <a:gs pos="0">
                  <a:srgbClr val="008BFF"/>
                </a:gs>
                <a:gs pos="100000">
                  <a:srgbClr val="026CD4">
                    <a:lumMod val="30000"/>
                    <a:lumOff val="70000"/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05179" y="1877042"/>
            <a:ext cx="5636567" cy="1143565"/>
          </a:xfrm>
          <a:prstGeom prst="roundRect">
            <a:avLst>
              <a:gd name="adj" fmla="val 7071"/>
            </a:avLst>
          </a:prstGeom>
          <a:solidFill>
            <a:schemeClr val="bg1"/>
          </a:solidFill>
          <a:ln w="31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POSans 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048891" name="圆角矩形 52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073145" y="2064244"/>
            <a:ext cx="730196" cy="732620"/>
          </a:xfrm>
          <a:prstGeom prst="roundRect">
            <a:avLst>
              <a:gd name="adj" fmla="val 10363"/>
            </a:avLst>
          </a:prstGeom>
          <a:solidFill>
            <a:srgbClr val="0068BF"/>
          </a:solidFill>
          <a:ln>
            <a:solidFill>
              <a:schemeClr val="bg1"/>
            </a:solidFill>
          </a:ln>
          <a:effectLst>
            <a:outerShdw blurRad="635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12713" tIns="89694" rIns="114300" bIns="5715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rgbClr val="FFFFFF"/>
                </a:solidFill>
                <a:latin typeface="+mn-ea"/>
                <a:sym typeface="+mn-ea"/>
              </a:rPr>
              <a:t>01</a:t>
            </a:r>
          </a:p>
        </p:txBody>
      </p:sp>
      <p:sp>
        <p:nvSpPr>
          <p:cNvPr id="1048892" name="正文"/>
          <p:cNvSpPr txBox="1"/>
          <p:nvPr>
            <p:custDataLst>
              <p:tags r:id="rId2"/>
            </p:custDataLst>
          </p:nvPr>
        </p:nvSpPr>
        <p:spPr>
          <a:xfrm>
            <a:off x="2968443" y="2499429"/>
            <a:ext cx="3065740" cy="25918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00000"/>
              </a:lnSpc>
            </a:pPr>
            <a:r>
              <a:rPr lang="zh-CN" altLang="en-US" sz="2250" dirty="0">
                <a:sym typeface="+mn-ea"/>
              </a:rPr>
              <a:t>波束形成</a:t>
            </a:r>
            <a:endParaRPr lang="zh-CN" altLang="en-US" sz="225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048893" name="标题"/>
          <p:cNvSpPr txBox="1"/>
          <p:nvPr>
            <p:custDataLst>
              <p:tags r:id="rId3"/>
            </p:custDataLst>
          </p:nvPr>
        </p:nvSpPr>
        <p:spPr>
          <a:xfrm>
            <a:off x="2963671" y="2073910"/>
            <a:ext cx="2867771" cy="39196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kumimoji="1" lang="zh-CN" altLang="en-US" sz="2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声纳数据可视化</a:t>
            </a:r>
            <a:endParaRPr lang="zh-CN" altLang="en-US" sz="2400" b="1" dirty="0">
              <a:solidFill>
                <a:srgbClr val="0068BF"/>
              </a:solidFill>
              <a:latin typeface="方正仿宋_GB2312" panose="02000000000000000000" charset="-122"/>
              <a:ea typeface="方正仿宋_GB2312" panose="02000000000000000000" charset="-122"/>
              <a:sym typeface="+mn-ea"/>
            </a:endParaRPr>
          </a:p>
        </p:txBody>
      </p:sp>
      <p:sp>
        <p:nvSpPr>
          <p:cNvPr id="1031" name="矩形: 圆角 1030"/>
          <p:cNvSpPr/>
          <p:nvPr/>
        </p:nvSpPr>
        <p:spPr>
          <a:xfrm>
            <a:off x="6412395" y="1726750"/>
            <a:ext cx="5919470" cy="4907280"/>
          </a:xfrm>
          <a:prstGeom prst="roundRect">
            <a:avLst>
              <a:gd name="adj" fmla="val 1743"/>
            </a:avLst>
          </a:prstGeom>
          <a:gradFill>
            <a:gsLst>
              <a:gs pos="0">
                <a:srgbClr val="026CD4">
                  <a:lumMod val="5000"/>
                  <a:lumOff val="9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2700" cap="flat" cmpd="sng" algn="ctr">
            <a:gradFill>
              <a:gsLst>
                <a:gs pos="0">
                  <a:srgbClr val="008BFF"/>
                </a:gs>
                <a:gs pos="100000">
                  <a:srgbClr val="026CD4">
                    <a:lumMod val="30000"/>
                    <a:lumOff val="70000"/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1048905" name="椭圆 84"/>
          <p:cNvSpPr/>
          <p:nvPr>
            <p:custDataLst>
              <p:tags r:id="rId4"/>
            </p:custDataLst>
          </p:nvPr>
        </p:nvSpPr>
        <p:spPr>
          <a:xfrm>
            <a:off x="10341610" y="5591810"/>
            <a:ext cx="1303655" cy="1336675"/>
          </a:xfrm>
          <a:prstGeom prst="ellipse">
            <a:avLst/>
          </a:prstGeom>
          <a:blipFill rotWithShape="1">
            <a:blip r:embed="rId31"/>
            <a:stretch>
              <a:fillRect/>
            </a:stretch>
          </a:blipFill>
          <a:ln w="9525" cap="rnd" cmpd="sng">
            <a:solidFill>
              <a:schemeClr val="accent1"/>
            </a:solidFill>
            <a:prstDash val="solid"/>
            <a:tailEnd type="none" w="lg" len="sm"/>
          </a:ln>
          <a:effectLst>
            <a:outerShdw blurRad="635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48908" name="矩形 78"/>
          <p:cNvSpPr/>
          <p:nvPr/>
        </p:nvSpPr>
        <p:spPr>
          <a:xfrm>
            <a:off x="6467475" y="3301365"/>
            <a:ext cx="5727700" cy="2781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sym typeface="+mn-ea"/>
              </a:rPr>
              <a:t>携手凌久，驱动产业革新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grpSp>
        <p:nvGrpSpPr>
          <p:cNvPr id="91" name="组合 11"/>
          <p:cNvGrpSpPr/>
          <p:nvPr/>
        </p:nvGrpSpPr>
        <p:grpSpPr>
          <a:xfrm>
            <a:off x="319570" y="1068255"/>
            <a:ext cx="12011660" cy="495935"/>
            <a:chOff x="182" y="1212"/>
            <a:chExt cx="17161" cy="1364"/>
          </a:xfrm>
        </p:grpSpPr>
        <p:sp>
          <p:nvSpPr>
            <p:cNvPr id="1048884" name="矩形 12"/>
            <p:cNvSpPr/>
            <p:nvPr/>
          </p:nvSpPr>
          <p:spPr>
            <a:xfrm rot="5400000">
              <a:off x="8080" y="-6687"/>
              <a:ext cx="1364" cy="17161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8000">
                  <a:schemeClr val="accent2">
                    <a:lumMod val="75000"/>
                  </a:schemeClr>
                </a:gs>
                <a:gs pos="74000">
                  <a:schemeClr val="accent2">
                    <a:lumMod val="75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 w="22225" cap="flat" cmpd="sng" algn="ctr">
              <a:gradFill>
                <a:gsLst>
                  <a:gs pos="26000">
                    <a:srgbClr val="FFFFFF">
                      <a:alpha val="0"/>
                    </a:srgbClr>
                  </a:gs>
                  <a:gs pos="52300">
                    <a:srgbClr val="FFFFFF"/>
                  </a:gs>
                  <a:gs pos="90000">
                    <a:srgbClr val="FFFFFF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14300" algn="ctr" rotWithShape="0">
                <a:srgbClr val="026CD4">
                  <a:alpha val="12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微软雅黑" panose="020B0503020204020204" charset="-122"/>
              </a:endParaRPr>
            </a:p>
          </p:txBody>
        </p:sp>
        <p:sp>
          <p:nvSpPr>
            <p:cNvPr id="1048885" name="TextBox 5"/>
            <p:cNvSpPr txBox="1"/>
            <p:nvPr/>
          </p:nvSpPr>
          <p:spPr>
            <a:xfrm>
              <a:off x="3268" y="1351"/>
              <a:ext cx="10989" cy="1098"/>
            </a:xfrm>
            <a:prstGeom prst="rect">
              <a:avLst/>
            </a:prstGeom>
            <a:noFill/>
          </p:spPr>
          <p:txBody>
            <a:bodyPr wrap="none" lIns="216000" tIns="0" rIns="0" bIns="0" anchor="ctr">
              <a:noAutofit/>
            </a:bodyPr>
            <a:lstStyle/>
            <a:p>
              <a:pPr algn="ctr"/>
              <a:r>
                <a:rPr kumimoji="0" lang="zh-CN" altLang="en-US" sz="2800" b="1" i="0" u="none" strike="noStrike" kern="0" cap="none" spc="0" normalizeH="0" baseline="0" dirty="0">
                  <a:solidFill>
                    <a:schemeClr val="bg1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革新传统运算库旧构，绘就高性能</a:t>
              </a:r>
              <a:r>
                <a:rPr kumimoji="0" lang="en-US" altLang="zh-CN" sz="2800" b="1" i="0" u="none" strike="noStrike" kern="0" cap="none" spc="0" normalizeH="0" baseline="0" dirty="0">
                  <a:solidFill>
                    <a:schemeClr val="bg1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GPU</a:t>
              </a:r>
              <a:r>
                <a:rPr kumimoji="0" lang="zh-CN" altLang="en-US" sz="2800" b="1" i="0" u="none" strike="noStrike" kern="0" cap="none" spc="0" normalizeH="0" baseline="0" dirty="0">
                  <a:solidFill>
                    <a:schemeClr val="bg1"/>
                  </a:solidFill>
                  <a:effectLst>
                    <a:outerShdw blurRad="127000" dist="127000" dir="5400000" algn="t" rotWithShape="0">
                      <a:prstClr val="black">
                        <a:alpha val="30000"/>
                      </a:prst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微软雅黑" panose="020B0503020204020204" charset="-122"/>
                </a:rPr>
                <a:t>新图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70" y="21775"/>
            <a:ext cx="12600305" cy="781685"/>
            <a:chOff x="321" y="269"/>
            <a:chExt cx="19200" cy="1231"/>
          </a:xfrm>
        </p:grpSpPr>
        <p:sp>
          <p:nvSpPr>
            <p:cNvPr id="46" name="任意多边形: 形状 7"/>
            <p:cNvSpPr/>
            <p:nvPr>
              <p:custDataLst>
                <p:tags r:id="rId18"/>
              </p:custDataLst>
            </p:nvPr>
          </p:nvSpPr>
          <p:spPr>
            <a:xfrm>
              <a:off x="321" y="269"/>
              <a:ext cx="19200" cy="1209"/>
            </a:xfrm>
            <a:custGeom>
              <a:avLst/>
              <a:gdLst>
                <a:gd name="connsiteX0" fmla="*/ 0 w 12192000"/>
                <a:gd name="connsiteY0" fmla="*/ 0 h 767944"/>
                <a:gd name="connsiteX1" fmla="*/ 12192000 w 12192000"/>
                <a:gd name="connsiteY1" fmla="*/ 0 h 767944"/>
                <a:gd name="connsiteX2" fmla="*/ 12192000 w 12192000"/>
                <a:gd name="connsiteY2" fmla="*/ 767944 h 767944"/>
                <a:gd name="connsiteX3" fmla="*/ 0 w 12192000"/>
                <a:gd name="connsiteY3" fmla="*/ 767944 h 76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67944">
                  <a:moveTo>
                    <a:pt x="0" y="0"/>
                  </a:moveTo>
                  <a:lnTo>
                    <a:pt x="12192000" y="0"/>
                  </a:lnTo>
                  <a:lnTo>
                    <a:pt x="12192000" y="767944"/>
                  </a:lnTo>
                  <a:lnTo>
                    <a:pt x="0" y="76794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80000"/>
                  </a:schemeClr>
                </a:gs>
                <a:gs pos="52000">
                  <a:schemeClr val="bg1">
                    <a:alpha val="80000"/>
                  </a:schemeClr>
                </a:gs>
                <a:gs pos="0">
                  <a:schemeClr val="bg1">
                    <a:alpha val="80000"/>
                  </a:schemeClr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47" name="PA-文本框 6"/>
            <p:cNvSpPr txBox="1"/>
            <p:nvPr>
              <p:custDataLst>
                <p:tags r:id="rId19"/>
              </p:custDataLst>
            </p:nvPr>
          </p:nvSpPr>
          <p:spPr>
            <a:xfrm>
              <a:off x="5917" y="584"/>
              <a:ext cx="2421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赛题背景</a:t>
              </a: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15316" y="442"/>
              <a:ext cx="2706" cy="836"/>
              <a:chOff x="4986" y="173"/>
              <a:chExt cx="2706" cy="836"/>
            </a:xfrm>
          </p:grpSpPr>
          <p:sp>
            <p:nvSpPr>
              <p:cNvPr id="54" name="PA-任意多边形 7"/>
              <p:cNvSpPr/>
              <p:nvPr>
                <p:custDataLst>
                  <p:tags r:id="rId28"/>
                </p:custDataLst>
              </p:nvPr>
            </p:nvSpPr>
            <p:spPr>
              <a:xfrm>
                <a:off x="4986" y="173"/>
                <a:ext cx="2706" cy="830"/>
              </a:xfrm>
              <a:prstGeom prst="roundRect">
                <a:avLst/>
              </a:prstGeom>
              <a:gradFill flip="none" rotWithShape="1">
                <a:gsLst>
                  <a:gs pos="1000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38100" dir="5400000" sx="99000" sy="99000" algn="t" rotWithShape="0">
                  <a:schemeClr val="accent2">
                    <a:lumMod val="50000"/>
                    <a:alpha val="53000"/>
                  </a:schemeClr>
                </a:outerShdw>
              </a:effectLst>
            </p:spPr>
            <p:txBody>
              <a:bodyPr rtlCol="0" anchor="ctr"/>
              <a:lstStyle/>
              <a:p>
                <a:pPr algn="ctr" defTabSz="1219200"/>
                <a:endParaRPr lang="zh-CN" altLang="en-US" sz="2400" kern="0" dirty="0">
                  <a:solidFill>
                    <a:prstClr val="white"/>
                  </a:solidFill>
                  <a:latin typeface="OPPOSans M" panose="00020600040101010101" pitchFamily="18" charset="-122"/>
                </a:endParaRPr>
              </a:p>
            </p:txBody>
          </p:sp>
          <p:sp>
            <p:nvSpPr>
              <p:cNvPr id="101" name="PA-文本框 8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4986" y="173"/>
                <a:ext cx="2704" cy="837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Saturday Sans Regular" panose="02010600010101010101" charset="-122"/>
                    <a:sym typeface="汉仪雅酷黑简" panose="00020600040101010101" charset="-122"/>
                    <a:rtl val="0"/>
                  </a:rPr>
                  <a:t>应用展望</a:t>
                </a:r>
              </a:p>
            </p:txBody>
          </p:sp>
        </p:grpSp>
        <p:sp>
          <p:nvSpPr>
            <p:cNvPr id="58" name="PA-文本框 15"/>
            <p:cNvSpPr txBox="1"/>
            <p:nvPr>
              <p:custDataLst>
                <p:tags r:id="rId20"/>
              </p:custDataLst>
            </p:nvPr>
          </p:nvSpPr>
          <p:spPr>
            <a:xfrm>
              <a:off x="12295" y="584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核心技术</a:t>
              </a:r>
            </a:p>
          </p:txBody>
        </p:sp>
        <p:sp>
          <p:nvSpPr>
            <p:cNvPr id="67" name="任意多边形: 形状 14"/>
            <p:cNvSpPr/>
            <p:nvPr>
              <p:custDataLst>
                <p:tags r:id="rId21"/>
              </p:custDataLst>
            </p:nvPr>
          </p:nvSpPr>
          <p:spPr>
            <a:xfrm flipV="1">
              <a:off x="321" y="1413"/>
              <a:ext cx="19200" cy="87"/>
            </a:xfrm>
            <a:custGeom>
              <a:avLst/>
              <a:gdLst>
                <a:gd name="connsiteX0" fmla="*/ 0 w 12192000"/>
                <a:gd name="connsiteY0" fmla="*/ 55383 h 55383"/>
                <a:gd name="connsiteX1" fmla="*/ 12192000 w 12192000"/>
                <a:gd name="connsiteY1" fmla="*/ 55383 h 55383"/>
                <a:gd name="connsiteX2" fmla="*/ 12192000 w 12192000"/>
                <a:gd name="connsiteY2" fmla="*/ 0 h 55383"/>
                <a:gd name="connsiteX3" fmla="*/ 0 w 12192000"/>
                <a:gd name="connsiteY3" fmla="*/ 0 h 5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5383">
                  <a:moveTo>
                    <a:pt x="0" y="55383"/>
                  </a:moveTo>
                  <a:lnTo>
                    <a:pt x="12192000" y="55383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accent2">
                    <a:lumMod val="75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79400" dist="203200" dir="3600000" sx="88000" sy="88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</a:endParaRPr>
            </a:p>
          </p:txBody>
        </p:sp>
        <p:sp>
          <p:nvSpPr>
            <p:cNvPr id="107" name="PA-文本框 10"/>
            <p:cNvSpPr txBox="1"/>
            <p:nvPr>
              <p:custDataLst>
                <p:tags r:id="rId22"/>
              </p:custDataLst>
            </p:nvPr>
          </p:nvSpPr>
          <p:spPr>
            <a:xfrm>
              <a:off x="9033" y="577"/>
              <a:ext cx="2499" cy="5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R="0" lvl="0" indent="0" defTabSz="1218565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1" b="0" i="0" u="none" strike="noStrike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425FC8"/>
                      </a:gs>
                      <a:gs pos="100000">
                        <a:srgbClr val="425FC8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</a:defRPr>
              </a:lvl1pPr>
            </a:lstStyle>
            <a:p>
              <a:pPr marL="0" marR="0" lvl="0" indent="0" algn="ctr" defTabSz="121856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OPPOSans M" panose="00020600040101010101" pitchFamily="18" charset="-122"/>
                  <a:sym typeface="汉仪雅酷黑简" panose="00020600040101010101" charset="-122"/>
                </a:rPr>
                <a:t>赛题分析</a:t>
              </a:r>
            </a:p>
          </p:txBody>
        </p:sp>
        <p:cxnSp>
          <p:nvCxnSpPr>
            <p:cNvPr id="109" name="PA-直接连接符 26"/>
            <p:cNvCxnSpPr/>
            <p:nvPr>
              <p:custDataLst>
                <p:tags r:id="rId23"/>
              </p:custDataLst>
            </p:nvPr>
          </p:nvCxnSpPr>
          <p:spPr>
            <a:xfrm>
              <a:off x="15105" y="625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PA-直接连接符 26"/>
            <p:cNvCxnSpPr/>
            <p:nvPr>
              <p:custDataLst>
                <p:tags r:id="rId24"/>
              </p:custDataLst>
            </p:nvPr>
          </p:nvCxnSpPr>
          <p:spPr>
            <a:xfrm>
              <a:off x="11850" y="617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20+"/>
            <p:cNvGrpSpPr/>
            <p:nvPr/>
          </p:nvGrpSpPr>
          <p:grpSpPr>
            <a:xfrm>
              <a:off x="4290" y="617"/>
              <a:ext cx="406" cy="516"/>
              <a:chOff x="981945" y="2960072"/>
              <a:chExt cx="257801" cy="327873"/>
            </a:xfrm>
          </p:grpSpPr>
          <p:sp>
            <p:nvSpPr>
              <p:cNvPr id="113" name="PA-矩形 114"/>
              <p:cNvSpPr/>
              <p:nvPr>
                <p:custDataLst>
                  <p:tags r:id="rId26"/>
                </p:custDataLst>
              </p:nvPr>
            </p:nvSpPr>
            <p:spPr>
              <a:xfrm rot="18900000">
                <a:off x="981945" y="3061492"/>
                <a:ext cx="125035" cy="12503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54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  <p:sp>
            <p:nvSpPr>
              <p:cNvPr id="114" name="PA-任意多边形 121"/>
              <p:cNvSpPr/>
              <p:nvPr>
                <p:custDataLst>
                  <p:tags r:id="rId27"/>
                </p:custDataLst>
              </p:nvPr>
            </p:nvSpPr>
            <p:spPr>
              <a:xfrm>
                <a:off x="1075810" y="2960072"/>
                <a:ext cx="163936" cy="327873"/>
              </a:xfrm>
              <a:custGeom>
                <a:avLst/>
                <a:gdLst/>
                <a:ahLst/>
                <a:cxnLst/>
                <a:rect l="0" t="0" r="0" b="0"/>
                <a:pathLst>
                  <a:path w="275824" h="551647">
                    <a:moveTo>
                      <a:pt x="0" y="551646"/>
                    </a:moveTo>
                    <a:lnTo>
                      <a:pt x="275823" y="275823"/>
                    </a:lnTo>
                    <a:lnTo>
                      <a:pt x="0" y="0"/>
                    </a:lnTo>
                  </a:path>
                </a:pathLst>
              </a:custGeom>
              <a:ln w="19050">
                <a:gradFill>
                  <a:gsLst>
                    <a:gs pos="800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</a:endParaRPr>
              </a:p>
            </p:txBody>
          </p:sp>
        </p:grpSp>
        <p:cxnSp>
          <p:nvCxnSpPr>
            <p:cNvPr id="115" name="PA-直接连接符 26"/>
            <p:cNvCxnSpPr/>
            <p:nvPr>
              <p:custDataLst>
                <p:tags r:id="rId25"/>
              </p:custDataLst>
            </p:nvPr>
          </p:nvCxnSpPr>
          <p:spPr>
            <a:xfrm>
              <a:off x="8725" y="617"/>
              <a:ext cx="0" cy="497"/>
            </a:xfrm>
            <a:prstGeom prst="line">
              <a:avLst/>
            </a:prstGeom>
            <a:ln>
              <a:gradFill>
                <a:gsLst>
                  <a:gs pos="11000">
                    <a:schemeClr val="accent2"/>
                  </a:gs>
                  <a:gs pos="87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 descr="湖工横版logo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91" y="425"/>
              <a:ext cx="3569" cy="88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7551" b="15450"/>
            <a:stretch>
              <a:fillRect/>
            </a:stretch>
          </p:blipFill>
          <p:spPr>
            <a:xfrm>
              <a:off x="18295" y="385"/>
              <a:ext cx="935" cy="950"/>
            </a:xfrm>
            <a:prstGeom prst="rect">
              <a:avLst/>
            </a:prstGeom>
          </p:spPr>
        </p:pic>
      </p:grpSp>
      <p:pic>
        <p:nvPicPr>
          <p:cNvPr id="6" name="图片 5"/>
          <p:cNvPicPr/>
          <p:nvPr/>
        </p:nvPicPr>
        <p:blipFill>
          <a:blip r:embed="rId34"/>
          <a:srcRect l="42411" t="32321" r="17737" b="21340"/>
          <a:stretch>
            <a:fillRect/>
          </a:stretch>
        </p:blipFill>
        <p:spPr>
          <a:xfrm>
            <a:off x="7050405" y="5583555"/>
            <a:ext cx="1303655" cy="1337945"/>
          </a:xfrm>
          <a:prstGeom prst="ellipse">
            <a:avLst/>
          </a:prstGeom>
          <a:ln>
            <a:solidFill>
              <a:schemeClr val="accent1"/>
            </a:solidFill>
          </a:ln>
          <a:effectLst>
            <a:outerShdw blurRad="63500" algn="ctr" rotWithShape="0">
              <a:schemeClr val="accent1">
                <a:alpha val="18000"/>
              </a:schemeClr>
            </a:outerShdw>
          </a:effectLst>
        </p:spPr>
      </p:pic>
      <p:sp>
        <p:nvSpPr>
          <p:cNvPr id="62" name="任意多边形: 形状 61"/>
          <p:cNvSpPr/>
          <p:nvPr/>
        </p:nvSpPr>
        <p:spPr>
          <a:xfrm flipH="1">
            <a:off x="777896" y="1922889"/>
            <a:ext cx="399105" cy="250142"/>
          </a:xfrm>
          <a:custGeom>
            <a:avLst/>
            <a:gdLst>
              <a:gd name="connsiteX0" fmla="*/ 74119 w 76267"/>
              <a:gd name="connsiteY0" fmla="*/ 48154 h 47801"/>
              <a:gd name="connsiteX1" fmla="*/ -22 w 76267"/>
              <a:gd name="connsiteY1" fmla="*/ 2837 h 47801"/>
              <a:gd name="connsiteX2" fmla="*/ -22 w 76267"/>
              <a:gd name="connsiteY2" fmla="*/ 353 h 47801"/>
              <a:gd name="connsiteX3" fmla="*/ 76245 w 76267"/>
              <a:gd name="connsiteY3" fmla="*/ 46901 h 47801"/>
              <a:gd name="connsiteX4" fmla="*/ 74119 w 76267"/>
              <a:gd name="connsiteY4" fmla="*/ 48154 h 4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67" h="47801">
                <a:moveTo>
                  <a:pt x="74119" y="48154"/>
                </a:moveTo>
                <a:cubicBezTo>
                  <a:pt x="58579" y="21561"/>
                  <a:pt x="30731" y="4540"/>
                  <a:pt x="-22" y="2837"/>
                </a:cubicBezTo>
                <a:lnTo>
                  <a:pt x="-22" y="353"/>
                </a:lnTo>
                <a:cubicBezTo>
                  <a:pt x="31615" y="2045"/>
                  <a:pt x="60275" y="19538"/>
                  <a:pt x="76245" y="46901"/>
                </a:cubicBezTo>
                <a:cubicBezTo>
                  <a:pt x="75484" y="47326"/>
                  <a:pt x="74790" y="47729"/>
                  <a:pt x="74119" y="48154"/>
                </a:cubicBezTo>
                <a:close/>
              </a:path>
            </a:pathLst>
          </a:custGeom>
          <a:solidFill>
            <a:schemeClr val="accent3"/>
          </a:soli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/>
          <p:cNvSpPr/>
          <p:nvPr/>
        </p:nvSpPr>
        <p:spPr>
          <a:xfrm flipH="1">
            <a:off x="675219" y="1912414"/>
            <a:ext cx="1087159" cy="1086049"/>
          </a:xfrm>
          <a:custGeom>
            <a:avLst/>
            <a:gdLst>
              <a:gd name="connsiteX0" fmla="*/ 149309 w 207751"/>
              <a:gd name="connsiteY0" fmla="*/ 10916 h 207539"/>
              <a:gd name="connsiteX1" fmla="*/ 145012 w 207751"/>
              <a:gd name="connsiteY1" fmla="*/ 12281 h 207539"/>
              <a:gd name="connsiteX2" fmla="*/ 140537 w 207751"/>
              <a:gd name="connsiteY2" fmla="*/ 10446 h 207539"/>
              <a:gd name="connsiteX3" fmla="*/ 138612 w 207751"/>
              <a:gd name="connsiteY3" fmla="*/ 6462 h 207539"/>
              <a:gd name="connsiteX4" fmla="*/ 6080 w 207751"/>
              <a:gd name="connsiteY4" fmla="*/ 69040 h 207539"/>
              <a:gd name="connsiteX5" fmla="*/ 61136 w 207751"/>
              <a:gd name="connsiteY5" fmla="*/ 198540 h 207539"/>
              <a:gd name="connsiteX6" fmla="*/ 64918 w 207751"/>
              <a:gd name="connsiteY6" fmla="*/ 197175 h 207539"/>
              <a:gd name="connsiteX7" fmla="*/ 69730 w 207751"/>
              <a:gd name="connsiteY7" fmla="*/ 199077 h 207539"/>
              <a:gd name="connsiteX8" fmla="*/ 71408 w 207751"/>
              <a:gd name="connsiteY8" fmla="*/ 202590 h 207539"/>
              <a:gd name="connsiteX9" fmla="*/ 202439 w 207751"/>
              <a:gd name="connsiteY9" fmla="*/ 136850 h 207539"/>
              <a:gd name="connsiteX10" fmla="*/ 149242 w 207751"/>
              <a:gd name="connsiteY10" fmla="*/ 10916 h 207539"/>
              <a:gd name="connsiteX11" fmla="*/ 2056 w 207751"/>
              <a:gd name="connsiteY11" fmla="*/ 101035 h 207539"/>
              <a:gd name="connsiteX12" fmla="*/ 98173 w 207751"/>
              <a:gd name="connsiteY12" fmla="*/ 2412 h 207539"/>
              <a:gd name="connsiteX13" fmla="*/ 98173 w 207751"/>
              <a:gd name="connsiteY13" fmla="*/ 5164 h 207539"/>
              <a:gd name="connsiteX14" fmla="*/ 4809 w 207751"/>
              <a:gd name="connsiteY14" fmla="*/ 101035 h 207539"/>
              <a:gd name="connsiteX15" fmla="*/ 206017 w 207751"/>
              <a:gd name="connsiteY15" fmla="*/ 111508 h 207539"/>
              <a:gd name="connsiteX16" fmla="*/ 134405 w 207751"/>
              <a:gd name="connsiteY16" fmla="*/ 201897 h 207539"/>
              <a:gd name="connsiteX17" fmla="*/ 133689 w 207751"/>
              <a:gd name="connsiteY17" fmla="*/ 199234 h 207539"/>
              <a:gd name="connsiteX18" fmla="*/ 203220 w 207751"/>
              <a:gd name="connsiteY18" fmla="*/ 111508 h 207539"/>
              <a:gd name="connsiteX19" fmla="*/ 104126 w 207751"/>
              <a:gd name="connsiteY19" fmla="*/ 201941 h 207539"/>
              <a:gd name="connsiteX20" fmla="*/ 6465 w 207751"/>
              <a:gd name="connsiteY20" fmla="*/ 104325 h 207539"/>
              <a:gd name="connsiteX21" fmla="*/ 104081 w 207751"/>
              <a:gd name="connsiteY21" fmla="*/ 6663 h 207539"/>
              <a:gd name="connsiteX22" fmla="*/ 201743 w 207751"/>
              <a:gd name="connsiteY22" fmla="*/ 104280 h 207539"/>
              <a:gd name="connsiteX23" fmla="*/ 201743 w 207751"/>
              <a:gd name="connsiteY23" fmla="*/ 104325 h 207539"/>
              <a:gd name="connsiteX24" fmla="*/ 104126 w 207751"/>
              <a:gd name="connsiteY24" fmla="*/ 201941 h 207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7751" h="207539">
                <a:moveTo>
                  <a:pt x="149309" y="10916"/>
                </a:moveTo>
                <a:lnTo>
                  <a:pt x="145012" y="12281"/>
                </a:lnTo>
                <a:cubicBezTo>
                  <a:pt x="143558" y="11632"/>
                  <a:pt x="142058" y="11027"/>
                  <a:pt x="140537" y="10446"/>
                </a:cubicBezTo>
                <a:lnTo>
                  <a:pt x="138612" y="6462"/>
                </a:lnTo>
                <a:cubicBezTo>
                  <a:pt x="84733" y="-12855"/>
                  <a:pt x="25397" y="15161"/>
                  <a:pt x="6080" y="69040"/>
                </a:cubicBezTo>
                <a:cubicBezTo>
                  <a:pt x="-12179" y="119961"/>
                  <a:pt x="11800" y="176358"/>
                  <a:pt x="61136" y="198540"/>
                </a:cubicBezTo>
                <a:lnTo>
                  <a:pt x="64918" y="197175"/>
                </a:lnTo>
                <a:cubicBezTo>
                  <a:pt x="66485" y="197846"/>
                  <a:pt x="68096" y="198473"/>
                  <a:pt x="69730" y="199077"/>
                </a:cubicBezTo>
                <a:lnTo>
                  <a:pt x="71408" y="202590"/>
                </a:lnTo>
                <a:cubicBezTo>
                  <a:pt x="125744" y="220619"/>
                  <a:pt x="184408" y="191186"/>
                  <a:pt x="202439" y="136850"/>
                </a:cubicBezTo>
                <a:cubicBezTo>
                  <a:pt x="218822" y="87471"/>
                  <a:pt x="196065" y="33596"/>
                  <a:pt x="149242" y="10916"/>
                </a:cubicBezTo>
                <a:close/>
                <a:moveTo>
                  <a:pt x="2056" y="101035"/>
                </a:moveTo>
                <a:cubicBezTo>
                  <a:pt x="3793" y="48261"/>
                  <a:pt x="45462" y="5506"/>
                  <a:pt x="98173" y="2412"/>
                </a:cubicBezTo>
                <a:lnTo>
                  <a:pt x="98173" y="5164"/>
                </a:lnTo>
                <a:cubicBezTo>
                  <a:pt x="46991" y="8273"/>
                  <a:pt x="6561" y="49788"/>
                  <a:pt x="4809" y="101035"/>
                </a:cubicBezTo>
                <a:close/>
                <a:moveTo>
                  <a:pt x="206017" y="111508"/>
                </a:moveTo>
                <a:cubicBezTo>
                  <a:pt x="203072" y="153523"/>
                  <a:pt x="174633" y="189418"/>
                  <a:pt x="134405" y="201897"/>
                </a:cubicBezTo>
                <a:lnTo>
                  <a:pt x="133689" y="199234"/>
                </a:lnTo>
                <a:cubicBezTo>
                  <a:pt x="172677" y="187039"/>
                  <a:pt x="200250" y="152251"/>
                  <a:pt x="203220" y="111508"/>
                </a:cubicBezTo>
                <a:close/>
                <a:moveTo>
                  <a:pt x="104126" y="201941"/>
                </a:moveTo>
                <a:cubicBezTo>
                  <a:pt x="50202" y="201955"/>
                  <a:pt x="6478" y="158249"/>
                  <a:pt x="6465" y="104325"/>
                </a:cubicBezTo>
                <a:cubicBezTo>
                  <a:pt x="6454" y="50401"/>
                  <a:pt x="50157" y="6677"/>
                  <a:pt x="104081" y="6663"/>
                </a:cubicBezTo>
                <a:cubicBezTo>
                  <a:pt x="158006" y="6650"/>
                  <a:pt x="201729" y="50356"/>
                  <a:pt x="201743" y="104280"/>
                </a:cubicBezTo>
                <a:cubicBezTo>
                  <a:pt x="201743" y="104296"/>
                  <a:pt x="201743" y="104309"/>
                  <a:pt x="201743" y="104325"/>
                </a:cubicBezTo>
                <a:cubicBezTo>
                  <a:pt x="201743" y="158238"/>
                  <a:pt x="158039" y="201941"/>
                  <a:pt x="104126" y="201941"/>
                </a:cubicBezTo>
                <a:close/>
              </a:path>
            </a:pathLst>
          </a:custGeom>
          <a:gradFill>
            <a:gsLst>
              <a:gs pos="0">
                <a:srgbClr val="0016BC"/>
              </a:gs>
              <a:gs pos="100000">
                <a:schemeClr val="accent1">
                  <a:lumMod val="63000"/>
                  <a:lumOff val="37000"/>
                </a:schemeClr>
              </a:gs>
            </a:gsLst>
            <a:lin ang="0" scaled="1"/>
          </a:gra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Oval 21+"/>
          <p:cNvSpPr/>
          <p:nvPr/>
        </p:nvSpPr>
        <p:spPr>
          <a:xfrm flipH="1">
            <a:off x="719493" y="1956132"/>
            <a:ext cx="998611" cy="9986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2097220" name="图片 97"/>
          <p:cNvPicPr/>
          <p:nvPr/>
        </p:nvPicPr>
        <p:blipFill>
          <a:blip r:embed="rId35"/>
          <a:srcRect l="19892" t="1301" r="33601" b="41575"/>
          <a:stretch>
            <a:fillRect/>
          </a:stretch>
        </p:blipFill>
        <p:spPr>
          <a:xfrm>
            <a:off x="312325" y="1978277"/>
            <a:ext cx="1970600" cy="1086050"/>
          </a:xfrm>
          <a:prstGeom prst="rect">
            <a:avLst/>
          </a:prstGeom>
        </p:spPr>
      </p:pic>
      <p:sp>
        <p:nvSpPr>
          <p:cNvPr id="119" name="矩形: 圆角 118"/>
          <p:cNvSpPr/>
          <p:nvPr/>
        </p:nvSpPr>
        <p:spPr>
          <a:xfrm>
            <a:off x="405179" y="3119300"/>
            <a:ext cx="5636567" cy="1143565"/>
          </a:xfrm>
          <a:prstGeom prst="roundRect">
            <a:avLst>
              <a:gd name="adj" fmla="val 7071"/>
            </a:avLst>
          </a:prstGeom>
          <a:solidFill>
            <a:schemeClr val="bg1"/>
          </a:solidFill>
          <a:ln w="31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POSans 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20" name="圆角矩形 5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073145" y="3306502"/>
            <a:ext cx="730196" cy="732620"/>
          </a:xfrm>
          <a:prstGeom prst="roundRect">
            <a:avLst>
              <a:gd name="adj" fmla="val 10363"/>
            </a:avLst>
          </a:prstGeom>
          <a:solidFill>
            <a:srgbClr val="0068BF"/>
          </a:solidFill>
          <a:ln>
            <a:solidFill>
              <a:schemeClr val="bg1"/>
            </a:solidFill>
          </a:ln>
          <a:effectLst>
            <a:outerShdw blurRad="635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12713" tIns="89694" rIns="114300" bIns="5715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000" b="1" dirty="0">
                <a:solidFill>
                  <a:srgbClr val="FFFFFF"/>
                </a:solidFill>
                <a:latin typeface="+mn-ea"/>
                <a:sym typeface="+mn-ea"/>
              </a:rPr>
              <a:t>0</a:t>
            </a:r>
            <a:r>
              <a:rPr lang="en-US" altLang="zh-CN" sz="3000" b="1" dirty="0">
                <a:solidFill>
                  <a:srgbClr val="FFFFFF"/>
                </a:solidFill>
                <a:latin typeface="+mn-ea"/>
                <a:sym typeface="+mn-ea"/>
              </a:rPr>
              <a:t>2</a:t>
            </a:r>
            <a:endParaRPr lang="zh-CN" altLang="en-US" sz="3000" b="1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121" name="正文"/>
          <p:cNvSpPr txBox="1"/>
          <p:nvPr>
            <p:custDataLst>
              <p:tags r:id="rId6"/>
            </p:custDataLst>
          </p:nvPr>
        </p:nvSpPr>
        <p:spPr>
          <a:xfrm>
            <a:off x="2968443" y="3741687"/>
            <a:ext cx="3065740" cy="25918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00000"/>
              </a:lnSpc>
            </a:pPr>
            <a:r>
              <a:rPr lang="zh-CN" altLang="en-US" sz="2250" dirty="0">
                <a:sym typeface="+mn-ea"/>
              </a:rPr>
              <a:t>密集计算</a:t>
            </a:r>
            <a:r>
              <a:rPr lang="en-US" altLang="zh-CN" sz="2250" dirty="0">
                <a:sym typeface="+mn-ea"/>
              </a:rPr>
              <a:t>+</a:t>
            </a:r>
            <a:r>
              <a:rPr lang="zh-CN" altLang="en-US" sz="2250" dirty="0">
                <a:sym typeface="+mn-ea"/>
              </a:rPr>
              <a:t>大数据</a:t>
            </a:r>
          </a:p>
        </p:txBody>
      </p:sp>
      <p:sp>
        <p:nvSpPr>
          <p:cNvPr id="122" name="标题"/>
          <p:cNvSpPr txBox="1"/>
          <p:nvPr>
            <p:custDataLst>
              <p:tags r:id="rId7"/>
            </p:custDataLst>
          </p:nvPr>
        </p:nvSpPr>
        <p:spPr>
          <a:xfrm>
            <a:off x="2963671" y="3316168"/>
            <a:ext cx="2867771" cy="39196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kumimoji="1" lang="zh-CN" altLang="en-US" sz="2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海底声纳三维成像</a:t>
            </a:r>
          </a:p>
        </p:txBody>
      </p:sp>
      <p:sp>
        <p:nvSpPr>
          <p:cNvPr id="123" name="任意多边形: 形状 122"/>
          <p:cNvSpPr/>
          <p:nvPr/>
        </p:nvSpPr>
        <p:spPr>
          <a:xfrm flipH="1">
            <a:off x="777896" y="3165147"/>
            <a:ext cx="399105" cy="250142"/>
          </a:xfrm>
          <a:custGeom>
            <a:avLst/>
            <a:gdLst>
              <a:gd name="connsiteX0" fmla="*/ 74119 w 76267"/>
              <a:gd name="connsiteY0" fmla="*/ 48154 h 47801"/>
              <a:gd name="connsiteX1" fmla="*/ -22 w 76267"/>
              <a:gd name="connsiteY1" fmla="*/ 2837 h 47801"/>
              <a:gd name="connsiteX2" fmla="*/ -22 w 76267"/>
              <a:gd name="connsiteY2" fmla="*/ 353 h 47801"/>
              <a:gd name="connsiteX3" fmla="*/ 76245 w 76267"/>
              <a:gd name="connsiteY3" fmla="*/ 46901 h 47801"/>
              <a:gd name="connsiteX4" fmla="*/ 74119 w 76267"/>
              <a:gd name="connsiteY4" fmla="*/ 48154 h 4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67" h="47801">
                <a:moveTo>
                  <a:pt x="74119" y="48154"/>
                </a:moveTo>
                <a:cubicBezTo>
                  <a:pt x="58579" y="21561"/>
                  <a:pt x="30731" y="4540"/>
                  <a:pt x="-22" y="2837"/>
                </a:cubicBezTo>
                <a:lnTo>
                  <a:pt x="-22" y="353"/>
                </a:lnTo>
                <a:cubicBezTo>
                  <a:pt x="31615" y="2045"/>
                  <a:pt x="60275" y="19538"/>
                  <a:pt x="76245" y="46901"/>
                </a:cubicBezTo>
                <a:cubicBezTo>
                  <a:pt x="75484" y="47326"/>
                  <a:pt x="74790" y="47729"/>
                  <a:pt x="74119" y="48154"/>
                </a:cubicBezTo>
                <a:close/>
              </a:path>
            </a:pathLst>
          </a:custGeom>
          <a:solidFill>
            <a:schemeClr val="accent3"/>
          </a:soli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任意多边形: 形状 123"/>
          <p:cNvSpPr/>
          <p:nvPr/>
        </p:nvSpPr>
        <p:spPr>
          <a:xfrm flipH="1">
            <a:off x="675219" y="3154672"/>
            <a:ext cx="1087159" cy="1086049"/>
          </a:xfrm>
          <a:custGeom>
            <a:avLst/>
            <a:gdLst>
              <a:gd name="connsiteX0" fmla="*/ 149309 w 207751"/>
              <a:gd name="connsiteY0" fmla="*/ 10916 h 207539"/>
              <a:gd name="connsiteX1" fmla="*/ 145012 w 207751"/>
              <a:gd name="connsiteY1" fmla="*/ 12281 h 207539"/>
              <a:gd name="connsiteX2" fmla="*/ 140537 w 207751"/>
              <a:gd name="connsiteY2" fmla="*/ 10446 h 207539"/>
              <a:gd name="connsiteX3" fmla="*/ 138612 w 207751"/>
              <a:gd name="connsiteY3" fmla="*/ 6462 h 207539"/>
              <a:gd name="connsiteX4" fmla="*/ 6080 w 207751"/>
              <a:gd name="connsiteY4" fmla="*/ 69040 h 207539"/>
              <a:gd name="connsiteX5" fmla="*/ 61136 w 207751"/>
              <a:gd name="connsiteY5" fmla="*/ 198540 h 207539"/>
              <a:gd name="connsiteX6" fmla="*/ 64918 w 207751"/>
              <a:gd name="connsiteY6" fmla="*/ 197175 h 207539"/>
              <a:gd name="connsiteX7" fmla="*/ 69730 w 207751"/>
              <a:gd name="connsiteY7" fmla="*/ 199077 h 207539"/>
              <a:gd name="connsiteX8" fmla="*/ 71408 w 207751"/>
              <a:gd name="connsiteY8" fmla="*/ 202590 h 207539"/>
              <a:gd name="connsiteX9" fmla="*/ 202439 w 207751"/>
              <a:gd name="connsiteY9" fmla="*/ 136850 h 207539"/>
              <a:gd name="connsiteX10" fmla="*/ 149242 w 207751"/>
              <a:gd name="connsiteY10" fmla="*/ 10916 h 207539"/>
              <a:gd name="connsiteX11" fmla="*/ 2056 w 207751"/>
              <a:gd name="connsiteY11" fmla="*/ 101035 h 207539"/>
              <a:gd name="connsiteX12" fmla="*/ 98173 w 207751"/>
              <a:gd name="connsiteY12" fmla="*/ 2412 h 207539"/>
              <a:gd name="connsiteX13" fmla="*/ 98173 w 207751"/>
              <a:gd name="connsiteY13" fmla="*/ 5164 h 207539"/>
              <a:gd name="connsiteX14" fmla="*/ 4809 w 207751"/>
              <a:gd name="connsiteY14" fmla="*/ 101035 h 207539"/>
              <a:gd name="connsiteX15" fmla="*/ 206017 w 207751"/>
              <a:gd name="connsiteY15" fmla="*/ 111508 h 207539"/>
              <a:gd name="connsiteX16" fmla="*/ 134405 w 207751"/>
              <a:gd name="connsiteY16" fmla="*/ 201897 h 207539"/>
              <a:gd name="connsiteX17" fmla="*/ 133689 w 207751"/>
              <a:gd name="connsiteY17" fmla="*/ 199234 h 207539"/>
              <a:gd name="connsiteX18" fmla="*/ 203220 w 207751"/>
              <a:gd name="connsiteY18" fmla="*/ 111508 h 207539"/>
              <a:gd name="connsiteX19" fmla="*/ 104126 w 207751"/>
              <a:gd name="connsiteY19" fmla="*/ 201941 h 207539"/>
              <a:gd name="connsiteX20" fmla="*/ 6465 w 207751"/>
              <a:gd name="connsiteY20" fmla="*/ 104325 h 207539"/>
              <a:gd name="connsiteX21" fmla="*/ 104081 w 207751"/>
              <a:gd name="connsiteY21" fmla="*/ 6663 h 207539"/>
              <a:gd name="connsiteX22" fmla="*/ 201743 w 207751"/>
              <a:gd name="connsiteY22" fmla="*/ 104280 h 207539"/>
              <a:gd name="connsiteX23" fmla="*/ 201743 w 207751"/>
              <a:gd name="connsiteY23" fmla="*/ 104325 h 207539"/>
              <a:gd name="connsiteX24" fmla="*/ 104126 w 207751"/>
              <a:gd name="connsiteY24" fmla="*/ 201941 h 207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7751" h="207539">
                <a:moveTo>
                  <a:pt x="149309" y="10916"/>
                </a:moveTo>
                <a:lnTo>
                  <a:pt x="145012" y="12281"/>
                </a:lnTo>
                <a:cubicBezTo>
                  <a:pt x="143558" y="11632"/>
                  <a:pt x="142058" y="11027"/>
                  <a:pt x="140537" y="10446"/>
                </a:cubicBezTo>
                <a:lnTo>
                  <a:pt x="138612" y="6462"/>
                </a:lnTo>
                <a:cubicBezTo>
                  <a:pt x="84733" y="-12855"/>
                  <a:pt x="25397" y="15161"/>
                  <a:pt x="6080" y="69040"/>
                </a:cubicBezTo>
                <a:cubicBezTo>
                  <a:pt x="-12179" y="119961"/>
                  <a:pt x="11800" y="176358"/>
                  <a:pt x="61136" y="198540"/>
                </a:cubicBezTo>
                <a:lnTo>
                  <a:pt x="64918" y="197175"/>
                </a:lnTo>
                <a:cubicBezTo>
                  <a:pt x="66485" y="197846"/>
                  <a:pt x="68096" y="198473"/>
                  <a:pt x="69730" y="199077"/>
                </a:cubicBezTo>
                <a:lnTo>
                  <a:pt x="71408" y="202590"/>
                </a:lnTo>
                <a:cubicBezTo>
                  <a:pt x="125744" y="220619"/>
                  <a:pt x="184408" y="191186"/>
                  <a:pt x="202439" y="136850"/>
                </a:cubicBezTo>
                <a:cubicBezTo>
                  <a:pt x="218822" y="87471"/>
                  <a:pt x="196065" y="33596"/>
                  <a:pt x="149242" y="10916"/>
                </a:cubicBezTo>
                <a:close/>
                <a:moveTo>
                  <a:pt x="2056" y="101035"/>
                </a:moveTo>
                <a:cubicBezTo>
                  <a:pt x="3793" y="48261"/>
                  <a:pt x="45462" y="5506"/>
                  <a:pt x="98173" y="2412"/>
                </a:cubicBezTo>
                <a:lnTo>
                  <a:pt x="98173" y="5164"/>
                </a:lnTo>
                <a:cubicBezTo>
                  <a:pt x="46991" y="8273"/>
                  <a:pt x="6561" y="49788"/>
                  <a:pt x="4809" y="101035"/>
                </a:cubicBezTo>
                <a:close/>
                <a:moveTo>
                  <a:pt x="206017" y="111508"/>
                </a:moveTo>
                <a:cubicBezTo>
                  <a:pt x="203072" y="153523"/>
                  <a:pt x="174633" y="189418"/>
                  <a:pt x="134405" y="201897"/>
                </a:cubicBezTo>
                <a:lnTo>
                  <a:pt x="133689" y="199234"/>
                </a:lnTo>
                <a:cubicBezTo>
                  <a:pt x="172677" y="187039"/>
                  <a:pt x="200250" y="152251"/>
                  <a:pt x="203220" y="111508"/>
                </a:cubicBezTo>
                <a:close/>
                <a:moveTo>
                  <a:pt x="104126" y="201941"/>
                </a:moveTo>
                <a:cubicBezTo>
                  <a:pt x="50202" y="201955"/>
                  <a:pt x="6478" y="158249"/>
                  <a:pt x="6465" y="104325"/>
                </a:cubicBezTo>
                <a:cubicBezTo>
                  <a:pt x="6454" y="50401"/>
                  <a:pt x="50157" y="6677"/>
                  <a:pt x="104081" y="6663"/>
                </a:cubicBezTo>
                <a:cubicBezTo>
                  <a:pt x="158006" y="6650"/>
                  <a:pt x="201729" y="50356"/>
                  <a:pt x="201743" y="104280"/>
                </a:cubicBezTo>
                <a:cubicBezTo>
                  <a:pt x="201743" y="104296"/>
                  <a:pt x="201743" y="104309"/>
                  <a:pt x="201743" y="104325"/>
                </a:cubicBezTo>
                <a:cubicBezTo>
                  <a:pt x="201743" y="158238"/>
                  <a:pt x="158039" y="201941"/>
                  <a:pt x="104126" y="201941"/>
                </a:cubicBezTo>
                <a:close/>
              </a:path>
            </a:pathLst>
          </a:custGeom>
          <a:gradFill>
            <a:gsLst>
              <a:gs pos="0">
                <a:srgbClr val="0016BC"/>
              </a:gs>
              <a:gs pos="100000">
                <a:schemeClr val="accent1">
                  <a:lumMod val="63000"/>
                  <a:lumOff val="37000"/>
                </a:schemeClr>
              </a:gs>
            </a:gsLst>
            <a:lin ang="0" scaled="1"/>
          </a:gra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Oval 21+"/>
          <p:cNvSpPr/>
          <p:nvPr/>
        </p:nvSpPr>
        <p:spPr>
          <a:xfrm flipH="1">
            <a:off x="719493" y="3198390"/>
            <a:ext cx="998611" cy="9986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27" name="矩形: 圆角 126"/>
          <p:cNvSpPr/>
          <p:nvPr/>
        </p:nvSpPr>
        <p:spPr>
          <a:xfrm>
            <a:off x="405179" y="4361558"/>
            <a:ext cx="5636567" cy="1143565"/>
          </a:xfrm>
          <a:prstGeom prst="roundRect">
            <a:avLst>
              <a:gd name="adj" fmla="val 7071"/>
            </a:avLst>
          </a:prstGeom>
          <a:solidFill>
            <a:schemeClr val="bg1"/>
          </a:solidFill>
          <a:ln w="31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POSans 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28" name="圆角矩形 5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073145" y="4548760"/>
            <a:ext cx="730196" cy="732620"/>
          </a:xfrm>
          <a:prstGeom prst="roundRect">
            <a:avLst>
              <a:gd name="adj" fmla="val 10363"/>
            </a:avLst>
          </a:prstGeom>
          <a:solidFill>
            <a:srgbClr val="0068BF"/>
          </a:solidFill>
          <a:ln>
            <a:solidFill>
              <a:schemeClr val="bg1"/>
            </a:solidFill>
          </a:ln>
          <a:effectLst>
            <a:outerShdw blurRad="635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12713" tIns="89694" rIns="114300" bIns="5715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000" b="1" dirty="0">
                <a:solidFill>
                  <a:srgbClr val="FFFFFF"/>
                </a:solidFill>
                <a:latin typeface="+mn-ea"/>
                <a:sym typeface="+mn-ea"/>
              </a:rPr>
              <a:t>0</a:t>
            </a:r>
            <a:r>
              <a:rPr lang="en-US" altLang="zh-CN" sz="3000" b="1" dirty="0">
                <a:solidFill>
                  <a:srgbClr val="FFFFFF"/>
                </a:solidFill>
                <a:latin typeface="+mn-ea"/>
                <a:sym typeface="+mn-ea"/>
              </a:rPr>
              <a:t>3</a:t>
            </a:r>
            <a:endParaRPr lang="zh-CN" altLang="en-US" sz="3000" b="1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129" name="正文"/>
          <p:cNvSpPr txBox="1"/>
          <p:nvPr>
            <p:custDataLst>
              <p:tags r:id="rId9"/>
            </p:custDataLst>
          </p:nvPr>
        </p:nvSpPr>
        <p:spPr>
          <a:xfrm>
            <a:off x="2968443" y="4983945"/>
            <a:ext cx="3065740" cy="25918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2250" dirty="0">
                <a:sym typeface="+mn-ea"/>
              </a:rPr>
              <a:t>MIMO</a:t>
            </a:r>
            <a:r>
              <a:rPr lang="zh-CN" altLang="en-US" sz="2250" dirty="0">
                <a:sym typeface="+mn-ea"/>
              </a:rPr>
              <a:t>雷达</a:t>
            </a:r>
            <a:r>
              <a:rPr lang="en-US" altLang="zh-CN" sz="2250" dirty="0">
                <a:sym typeface="+mn-ea"/>
              </a:rPr>
              <a:t>+</a:t>
            </a:r>
            <a:r>
              <a:rPr lang="zh-CN" altLang="en-US" sz="2250" dirty="0">
                <a:sym typeface="+mn-ea"/>
              </a:rPr>
              <a:t>电子战技术</a:t>
            </a:r>
          </a:p>
        </p:txBody>
      </p:sp>
      <p:sp>
        <p:nvSpPr>
          <p:cNvPr id="130" name="标题"/>
          <p:cNvSpPr txBox="1"/>
          <p:nvPr>
            <p:custDataLst>
              <p:tags r:id="rId10"/>
            </p:custDataLst>
          </p:nvPr>
        </p:nvSpPr>
        <p:spPr>
          <a:xfrm>
            <a:off x="2963671" y="4558426"/>
            <a:ext cx="2867771" cy="39196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kumimoji="1" lang="zh-CN" altLang="en-US" sz="2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国防电子领域</a:t>
            </a:r>
          </a:p>
        </p:txBody>
      </p:sp>
      <p:sp>
        <p:nvSpPr>
          <p:cNvPr id="131" name="任意多边形: 形状 130"/>
          <p:cNvSpPr/>
          <p:nvPr/>
        </p:nvSpPr>
        <p:spPr>
          <a:xfrm flipH="1">
            <a:off x="777896" y="4407405"/>
            <a:ext cx="399105" cy="250142"/>
          </a:xfrm>
          <a:custGeom>
            <a:avLst/>
            <a:gdLst>
              <a:gd name="connsiteX0" fmla="*/ 74119 w 76267"/>
              <a:gd name="connsiteY0" fmla="*/ 48154 h 47801"/>
              <a:gd name="connsiteX1" fmla="*/ -22 w 76267"/>
              <a:gd name="connsiteY1" fmla="*/ 2837 h 47801"/>
              <a:gd name="connsiteX2" fmla="*/ -22 w 76267"/>
              <a:gd name="connsiteY2" fmla="*/ 353 h 47801"/>
              <a:gd name="connsiteX3" fmla="*/ 76245 w 76267"/>
              <a:gd name="connsiteY3" fmla="*/ 46901 h 47801"/>
              <a:gd name="connsiteX4" fmla="*/ 74119 w 76267"/>
              <a:gd name="connsiteY4" fmla="*/ 48154 h 4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67" h="47801">
                <a:moveTo>
                  <a:pt x="74119" y="48154"/>
                </a:moveTo>
                <a:cubicBezTo>
                  <a:pt x="58579" y="21561"/>
                  <a:pt x="30731" y="4540"/>
                  <a:pt x="-22" y="2837"/>
                </a:cubicBezTo>
                <a:lnTo>
                  <a:pt x="-22" y="353"/>
                </a:lnTo>
                <a:cubicBezTo>
                  <a:pt x="31615" y="2045"/>
                  <a:pt x="60275" y="19538"/>
                  <a:pt x="76245" y="46901"/>
                </a:cubicBezTo>
                <a:cubicBezTo>
                  <a:pt x="75484" y="47326"/>
                  <a:pt x="74790" y="47729"/>
                  <a:pt x="74119" y="48154"/>
                </a:cubicBezTo>
                <a:close/>
              </a:path>
            </a:pathLst>
          </a:custGeom>
          <a:solidFill>
            <a:schemeClr val="accent3"/>
          </a:soli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任意多边形: 形状 131"/>
          <p:cNvSpPr/>
          <p:nvPr/>
        </p:nvSpPr>
        <p:spPr>
          <a:xfrm flipH="1">
            <a:off x="675219" y="4396930"/>
            <a:ext cx="1087159" cy="1086049"/>
          </a:xfrm>
          <a:custGeom>
            <a:avLst/>
            <a:gdLst>
              <a:gd name="connsiteX0" fmla="*/ 149309 w 207751"/>
              <a:gd name="connsiteY0" fmla="*/ 10916 h 207539"/>
              <a:gd name="connsiteX1" fmla="*/ 145012 w 207751"/>
              <a:gd name="connsiteY1" fmla="*/ 12281 h 207539"/>
              <a:gd name="connsiteX2" fmla="*/ 140537 w 207751"/>
              <a:gd name="connsiteY2" fmla="*/ 10446 h 207539"/>
              <a:gd name="connsiteX3" fmla="*/ 138612 w 207751"/>
              <a:gd name="connsiteY3" fmla="*/ 6462 h 207539"/>
              <a:gd name="connsiteX4" fmla="*/ 6080 w 207751"/>
              <a:gd name="connsiteY4" fmla="*/ 69040 h 207539"/>
              <a:gd name="connsiteX5" fmla="*/ 61136 w 207751"/>
              <a:gd name="connsiteY5" fmla="*/ 198540 h 207539"/>
              <a:gd name="connsiteX6" fmla="*/ 64918 w 207751"/>
              <a:gd name="connsiteY6" fmla="*/ 197175 h 207539"/>
              <a:gd name="connsiteX7" fmla="*/ 69730 w 207751"/>
              <a:gd name="connsiteY7" fmla="*/ 199077 h 207539"/>
              <a:gd name="connsiteX8" fmla="*/ 71408 w 207751"/>
              <a:gd name="connsiteY8" fmla="*/ 202590 h 207539"/>
              <a:gd name="connsiteX9" fmla="*/ 202439 w 207751"/>
              <a:gd name="connsiteY9" fmla="*/ 136850 h 207539"/>
              <a:gd name="connsiteX10" fmla="*/ 149242 w 207751"/>
              <a:gd name="connsiteY10" fmla="*/ 10916 h 207539"/>
              <a:gd name="connsiteX11" fmla="*/ 2056 w 207751"/>
              <a:gd name="connsiteY11" fmla="*/ 101035 h 207539"/>
              <a:gd name="connsiteX12" fmla="*/ 98173 w 207751"/>
              <a:gd name="connsiteY12" fmla="*/ 2412 h 207539"/>
              <a:gd name="connsiteX13" fmla="*/ 98173 w 207751"/>
              <a:gd name="connsiteY13" fmla="*/ 5164 h 207539"/>
              <a:gd name="connsiteX14" fmla="*/ 4809 w 207751"/>
              <a:gd name="connsiteY14" fmla="*/ 101035 h 207539"/>
              <a:gd name="connsiteX15" fmla="*/ 206017 w 207751"/>
              <a:gd name="connsiteY15" fmla="*/ 111508 h 207539"/>
              <a:gd name="connsiteX16" fmla="*/ 134405 w 207751"/>
              <a:gd name="connsiteY16" fmla="*/ 201897 h 207539"/>
              <a:gd name="connsiteX17" fmla="*/ 133689 w 207751"/>
              <a:gd name="connsiteY17" fmla="*/ 199234 h 207539"/>
              <a:gd name="connsiteX18" fmla="*/ 203220 w 207751"/>
              <a:gd name="connsiteY18" fmla="*/ 111508 h 207539"/>
              <a:gd name="connsiteX19" fmla="*/ 104126 w 207751"/>
              <a:gd name="connsiteY19" fmla="*/ 201941 h 207539"/>
              <a:gd name="connsiteX20" fmla="*/ 6465 w 207751"/>
              <a:gd name="connsiteY20" fmla="*/ 104325 h 207539"/>
              <a:gd name="connsiteX21" fmla="*/ 104081 w 207751"/>
              <a:gd name="connsiteY21" fmla="*/ 6663 h 207539"/>
              <a:gd name="connsiteX22" fmla="*/ 201743 w 207751"/>
              <a:gd name="connsiteY22" fmla="*/ 104280 h 207539"/>
              <a:gd name="connsiteX23" fmla="*/ 201743 w 207751"/>
              <a:gd name="connsiteY23" fmla="*/ 104325 h 207539"/>
              <a:gd name="connsiteX24" fmla="*/ 104126 w 207751"/>
              <a:gd name="connsiteY24" fmla="*/ 201941 h 207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7751" h="207539">
                <a:moveTo>
                  <a:pt x="149309" y="10916"/>
                </a:moveTo>
                <a:lnTo>
                  <a:pt x="145012" y="12281"/>
                </a:lnTo>
                <a:cubicBezTo>
                  <a:pt x="143558" y="11632"/>
                  <a:pt x="142058" y="11027"/>
                  <a:pt x="140537" y="10446"/>
                </a:cubicBezTo>
                <a:lnTo>
                  <a:pt x="138612" y="6462"/>
                </a:lnTo>
                <a:cubicBezTo>
                  <a:pt x="84733" y="-12855"/>
                  <a:pt x="25397" y="15161"/>
                  <a:pt x="6080" y="69040"/>
                </a:cubicBezTo>
                <a:cubicBezTo>
                  <a:pt x="-12179" y="119961"/>
                  <a:pt x="11800" y="176358"/>
                  <a:pt x="61136" y="198540"/>
                </a:cubicBezTo>
                <a:lnTo>
                  <a:pt x="64918" y="197175"/>
                </a:lnTo>
                <a:cubicBezTo>
                  <a:pt x="66485" y="197846"/>
                  <a:pt x="68096" y="198473"/>
                  <a:pt x="69730" y="199077"/>
                </a:cubicBezTo>
                <a:lnTo>
                  <a:pt x="71408" y="202590"/>
                </a:lnTo>
                <a:cubicBezTo>
                  <a:pt x="125744" y="220619"/>
                  <a:pt x="184408" y="191186"/>
                  <a:pt x="202439" y="136850"/>
                </a:cubicBezTo>
                <a:cubicBezTo>
                  <a:pt x="218822" y="87471"/>
                  <a:pt x="196065" y="33596"/>
                  <a:pt x="149242" y="10916"/>
                </a:cubicBezTo>
                <a:close/>
                <a:moveTo>
                  <a:pt x="2056" y="101035"/>
                </a:moveTo>
                <a:cubicBezTo>
                  <a:pt x="3793" y="48261"/>
                  <a:pt x="45462" y="5506"/>
                  <a:pt x="98173" y="2412"/>
                </a:cubicBezTo>
                <a:lnTo>
                  <a:pt x="98173" y="5164"/>
                </a:lnTo>
                <a:cubicBezTo>
                  <a:pt x="46991" y="8273"/>
                  <a:pt x="6561" y="49788"/>
                  <a:pt x="4809" y="101035"/>
                </a:cubicBezTo>
                <a:close/>
                <a:moveTo>
                  <a:pt x="206017" y="111508"/>
                </a:moveTo>
                <a:cubicBezTo>
                  <a:pt x="203072" y="153523"/>
                  <a:pt x="174633" y="189418"/>
                  <a:pt x="134405" y="201897"/>
                </a:cubicBezTo>
                <a:lnTo>
                  <a:pt x="133689" y="199234"/>
                </a:lnTo>
                <a:cubicBezTo>
                  <a:pt x="172677" y="187039"/>
                  <a:pt x="200250" y="152251"/>
                  <a:pt x="203220" y="111508"/>
                </a:cubicBezTo>
                <a:close/>
                <a:moveTo>
                  <a:pt x="104126" y="201941"/>
                </a:moveTo>
                <a:cubicBezTo>
                  <a:pt x="50202" y="201955"/>
                  <a:pt x="6478" y="158249"/>
                  <a:pt x="6465" y="104325"/>
                </a:cubicBezTo>
                <a:cubicBezTo>
                  <a:pt x="6454" y="50401"/>
                  <a:pt x="50157" y="6677"/>
                  <a:pt x="104081" y="6663"/>
                </a:cubicBezTo>
                <a:cubicBezTo>
                  <a:pt x="158006" y="6650"/>
                  <a:pt x="201729" y="50356"/>
                  <a:pt x="201743" y="104280"/>
                </a:cubicBezTo>
                <a:cubicBezTo>
                  <a:pt x="201743" y="104296"/>
                  <a:pt x="201743" y="104309"/>
                  <a:pt x="201743" y="104325"/>
                </a:cubicBezTo>
                <a:cubicBezTo>
                  <a:pt x="201743" y="158238"/>
                  <a:pt x="158039" y="201941"/>
                  <a:pt x="104126" y="201941"/>
                </a:cubicBezTo>
                <a:close/>
              </a:path>
            </a:pathLst>
          </a:custGeom>
          <a:gradFill>
            <a:gsLst>
              <a:gs pos="0">
                <a:srgbClr val="0016BC"/>
              </a:gs>
              <a:gs pos="100000">
                <a:schemeClr val="accent1">
                  <a:lumMod val="63000"/>
                  <a:lumOff val="37000"/>
                </a:schemeClr>
              </a:gs>
            </a:gsLst>
            <a:lin ang="0" scaled="1"/>
          </a:gra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Oval 21+"/>
          <p:cNvSpPr/>
          <p:nvPr/>
        </p:nvSpPr>
        <p:spPr>
          <a:xfrm flipH="1">
            <a:off x="719493" y="4440648"/>
            <a:ext cx="998611" cy="9986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35" name="矩形: 圆角 134"/>
          <p:cNvSpPr/>
          <p:nvPr/>
        </p:nvSpPr>
        <p:spPr>
          <a:xfrm>
            <a:off x="405179" y="5603816"/>
            <a:ext cx="5636567" cy="1143565"/>
          </a:xfrm>
          <a:prstGeom prst="roundRect">
            <a:avLst>
              <a:gd name="adj" fmla="val 7071"/>
            </a:avLst>
          </a:prstGeom>
          <a:solidFill>
            <a:schemeClr val="bg1"/>
          </a:solidFill>
          <a:ln w="31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OPPOSans M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36" name="圆角矩形 52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2073145" y="5791018"/>
            <a:ext cx="730196" cy="732620"/>
          </a:xfrm>
          <a:prstGeom prst="roundRect">
            <a:avLst>
              <a:gd name="adj" fmla="val 10363"/>
            </a:avLst>
          </a:prstGeom>
          <a:solidFill>
            <a:srgbClr val="0068BF"/>
          </a:solidFill>
          <a:ln>
            <a:solidFill>
              <a:schemeClr val="bg1"/>
            </a:solidFill>
          </a:ln>
          <a:effectLst>
            <a:outerShdw blurRad="635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12713" tIns="89694" rIns="114300" bIns="5715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000" b="1" dirty="0">
                <a:solidFill>
                  <a:srgbClr val="FFFFFF"/>
                </a:solidFill>
                <a:latin typeface="+mn-ea"/>
                <a:sym typeface="+mn-ea"/>
              </a:rPr>
              <a:t>0</a:t>
            </a:r>
            <a:r>
              <a:rPr lang="en-US" altLang="zh-CN" sz="3000" b="1" dirty="0">
                <a:solidFill>
                  <a:srgbClr val="FFFFFF"/>
                </a:solidFill>
                <a:latin typeface="+mn-ea"/>
                <a:sym typeface="+mn-ea"/>
              </a:rPr>
              <a:t>4</a:t>
            </a:r>
            <a:endParaRPr lang="zh-CN" altLang="en-US" sz="3000" b="1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137" name="正文"/>
          <p:cNvSpPr txBox="1"/>
          <p:nvPr>
            <p:custDataLst>
              <p:tags r:id="rId12"/>
            </p:custDataLst>
          </p:nvPr>
        </p:nvSpPr>
        <p:spPr>
          <a:xfrm>
            <a:off x="2968443" y="6226203"/>
            <a:ext cx="3065740" cy="259189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00000"/>
              </a:lnSpc>
            </a:pPr>
            <a:r>
              <a:rPr lang="zh-CN" altLang="en-US" sz="2250" dirty="0">
                <a:sym typeface="+mn-ea"/>
              </a:rPr>
              <a:t>密集计算</a:t>
            </a:r>
            <a:r>
              <a:rPr lang="en-US" altLang="zh-CN" sz="2250" dirty="0">
                <a:sym typeface="+mn-ea"/>
              </a:rPr>
              <a:t>+</a:t>
            </a:r>
            <a:r>
              <a:rPr lang="zh-CN" altLang="en-US" sz="2250" dirty="0">
                <a:sym typeface="+mn-ea"/>
              </a:rPr>
              <a:t>人工智能</a:t>
            </a:r>
          </a:p>
        </p:txBody>
      </p:sp>
      <p:sp>
        <p:nvSpPr>
          <p:cNvPr id="138" name="标题"/>
          <p:cNvSpPr txBox="1"/>
          <p:nvPr>
            <p:custDataLst>
              <p:tags r:id="rId13"/>
            </p:custDataLst>
          </p:nvPr>
        </p:nvSpPr>
        <p:spPr>
          <a:xfrm>
            <a:off x="2963671" y="5800684"/>
            <a:ext cx="2867771" cy="39196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kumimoji="1" lang="zh-CN" altLang="en-US" sz="2400" noProof="0" dirty="0">
                <a:ln>
                  <a:noFill/>
                </a:ln>
                <a:solidFill>
                  <a:srgbClr val="0068B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POSans M" panose="00020600040101010101" pitchFamily="18" charset="-122"/>
                <a:sym typeface="+mn-ea"/>
              </a:rPr>
              <a:t>人工智能图像识别</a:t>
            </a:r>
          </a:p>
        </p:txBody>
      </p:sp>
      <p:sp>
        <p:nvSpPr>
          <p:cNvPr id="139" name="任意多边形: 形状 138"/>
          <p:cNvSpPr/>
          <p:nvPr/>
        </p:nvSpPr>
        <p:spPr>
          <a:xfrm flipH="1">
            <a:off x="777896" y="5649663"/>
            <a:ext cx="399105" cy="250142"/>
          </a:xfrm>
          <a:custGeom>
            <a:avLst/>
            <a:gdLst>
              <a:gd name="connsiteX0" fmla="*/ 74119 w 76267"/>
              <a:gd name="connsiteY0" fmla="*/ 48154 h 47801"/>
              <a:gd name="connsiteX1" fmla="*/ -22 w 76267"/>
              <a:gd name="connsiteY1" fmla="*/ 2837 h 47801"/>
              <a:gd name="connsiteX2" fmla="*/ -22 w 76267"/>
              <a:gd name="connsiteY2" fmla="*/ 353 h 47801"/>
              <a:gd name="connsiteX3" fmla="*/ 76245 w 76267"/>
              <a:gd name="connsiteY3" fmla="*/ 46901 h 47801"/>
              <a:gd name="connsiteX4" fmla="*/ 74119 w 76267"/>
              <a:gd name="connsiteY4" fmla="*/ 48154 h 4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67" h="47801">
                <a:moveTo>
                  <a:pt x="74119" y="48154"/>
                </a:moveTo>
                <a:cubicBezTo>
                  <a:pt x="58579" y="21561"/>
                  <a:pt x="30731" y="4540"/>
                  <a:pt x="-22" y="2837"/>
                </a:cubicBezTo>
                <a:lnTo>
                  <a:pt x="-22" y="353"/>
                </a:lnTo>
                <a:cubicBezTo>
                  <a:pt x="31615" y="2045"/>
                  <a:pt x="60275" y="19538"/>
                  <a:pt x="76245" y="46901"/>
                </a:cubicBezTo>
                <a:cubicBezTo>
                  <a:pt x="75484" y="47326"/>
                  <a:pt x="74790" y="47729"/>
                  <a:pt x="74119" y="48154"/>
                </a:cubicBezTo>
                <a:close/>
              </a:path>
            </a:pathLst>
          </a:custGeom>
          <a:solidFill>
            <a:schemeClr val="accent3"/>
          </a:soli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任意多边形: 形状 139"/>
          <p:cNvSpPr/>
          <p:nvPr/>
        </p:nvSpPr>
        <p:spPr>
          <a:xfrm flipH="1">
            <a:off x="675219" y="5639188"/>
            <a:ext cx="1087159" cy="1086049"/>
          </a:xfrm>
          <a:custGeom>
            <a:avLst/>
            <a:gdLst>
              <a:gd name="connsiteX0" fmla="*/ 149309 w 207751"/>
              <a:gd name="connsiteY0" fmla="*/ 10916 h 207539"/>
              <a:gd name="connsiteX1" fmla="*/ 145012 w 207751"/>
              <a:gd name="connsiteY1" fmla="*/ 12281 h 207539"/>
              <a:gd name="connsiteX2" fmla="*/ 140537 w 207751"/>
              <a:gd name="connsiteY2" fmla="*/ 10446 h 207539"/>
              <a:gd name="connsiteX3" fmla="*/ 138612 w 207751"/>
              <a:gd name="connsiteY3" fmla="*/ 6462 h 207539"/>
              <a:gd name="connsiteX4" fmla="*/ 6080 w 207751"/>
              <a:gd name="connsiteY4" fmla="*/ 69040 h 207539"/>
              <a:gd name="connsiteX5" fmla="*/ 61136 w 207751"/>
              <a:gd name="connsiteY5" fmla="*/ 198540 h 207539"/>
              <a:gd name="connsiteX6" fmla="*/ 64918 w 207751"/>
              <a:gd name="connsiteY6" fmla="*/ 197175 h 207539"/>
              <a:gd name="connsiteX7" fmla="*/ 69730 w 207751"/>
              <a:gd name="connsiteY7" fmla="*/ 199077 h 207539"/>
              <a:gd name="connsiteX8" fmla="*/ 71408 w 207751"/>
              <a:gd name="connsiteY8" fmla="*/ 202590 h 207539"/>
              <a:gd name="connsiteX9" fmla="*/ 202439 w 207751"/>
              <a:gd name="connsiteY9" fmla="*/ 136850 h 207539"/>
              <a:gd name="connsiteX10" fmla="*/ 149242 w 207751"/>
              <a:gd name="connsiteY10" fmla="*/ 10916 h 207539"/>
              <a:gd name="connsiteX11" fmla="*/ 2056 w 207751"/>
              <a:gd name="connsiteY11" fmla="*/ 101035 h 207539"/>
              <a:gd name="connsiteX12" fmla="*/ 98173 w 207751"/>
              <a:gd name="connsiteY12" fmla="*/ 2412 h 207539"/>
              <a:gd name="connsiteX13" fmla="*/ 98173 w 207751"/>
              <a:gd name="connsiteY13" fmla="*/ 5164 h 207539"/>
              <a:gd name="connsiteX14" fmla="*/ 4809 w 207751"/>
              <a:gd name="connsiteY14" fmla="*/ 101035 h 207539"/>
              <a:gd name="connsiteX15" fmla="*/ 206017 w 207751"/>
              <a:gd name="connsiteY15" fmla="*/ 111508 h 207539"/>
              <a:gd name="connsiteX16" fmla="*/ 134405 w 207751"/>
              <a:gd name="connsiteY16" fmla="*/ 201897 h 207539"/>
              <a:gd name="connsiteX17" fmla="*/ 133689 w 207751"/>
              <a:gd name="connsiteY17" fmla="*/ 199234 h 207539"/>
              <a:gd name="connsiteX18" fmla="*/ 203220 w 207751"/>
              <a:gd name="connsiteY18" fmla="*/ 111508 h 207539"/>
              <a:gd name="connsiteX19" fmla="*/ 104126 w 207751"/>
              <a:gd name="connsiteY19" fmla="*/ 201941 h 207539"/>
              <a:gd name="connsiteX20" fmla="*/ 6465 w 207751"/>
              <a:gd name="connsiteY20" fmla="*/ 104325 h 207539"/>
              <a:gd name="connsiteX21" fmla="*/ 104081 w 207751"/>
              <a:gd name="connsiteY21" fmla="*/ 6663 h 207539"/>
              <a:gd name="connsiteX22" fmla="*/ 201743 w 207751"/>
              <a:gd name="connsiteY22" fmla="*/ 104280 h 207539"/>
              <a:gd name="connsiteX23" fmla="*/ 201743 w 207751"/>
              <a:gd name="connsiteY23" fmla="*/ 104325 h 207539"/>
              <a:gd name="connsiteX24" fmla="*/ 104126 w 207751"/>
              <a:gd name="connsiteY24" fmla="*/ 201941 h 207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7751" h="207539">
                <a:moveTo>
                  <a:pt x="149309" y="10916"/>
                </a:moveTo>
                <a:lnTo>
                  <a:pt x="145012" y="12281"/>
                </a:lnTo>
                <a:cubicBezTo>
                  <a:pt x="143558" y="11632"/>
                  <a:pt x="142058" y="11027"/>
                  <a:pt x="140537" y="10446"/>
                </a:cubicBezTo>
                <a:lnTo>
                  <a:pt x="138612" y="6462"/>
                </a:lnTo>
                <a:cubicBezTo>
                  <a:pt x="84733" y="-12855"/>
                  <a:pt x="25397" y="15161"/>
                  <a:pt x="6080" y="69040"/>
                </a:cubicBezTo>
                <a:cubicBezTo>
                  <a:pt x="-12179" y="119961"/>
                  <a:pt x="11800" y="176358"/>
                  <a:pt x="61136" y="198540"/>
                </a:cubicBezTo>
                <a:lnTo>
                  <a:pt x="64918" y="197175"/>
                </a:lnTo>
                <a:cubicBezTo>
                  <a:pt x="66485" y="197846"/>
                  <a:pt x="68096" y="198473"/>
                  <a:pt x="69730" y="199077"/>
                </a:cubicBezTo>
                <a:lnTo>
                  <a:pt x="71408" y="202590"/>
                </a:lnTo>
                <a:cubicBezTo>
                  <a:pt x="125744" y="220619"/>
                  <a:pt x="184408" y="191186"/>
                  <a:pt x="202439" y="136850"/>
                </a:cubicBezTo>
                <a:cubicBezTo>
                  <a:pt x="218822" y="87471"/>
                  <a:pt x="196065" y="33596"/>
                  <a:pt x="149242" y="10916"/>
                </a:cubicBezTo>
                <a:close/>
                <a:moveTo>
                  <a:pt x="2056" y="101035"/>
                </a:moveTo>
                <a:cubicBezTo>
                  <a:pt x="3793" y="48261"/>
                  <a:pt x="45462" y="5506"/>
                  <a:pt x="98173" y="2412"/>
                </a:cubicBezTo>
                <a:lnTo>
                  <a:pt x="98173" y="5164"/>
                </a:lnTo>
                <a:cubicBezTo>
                  <a:pt x="46991" y="8273"/>
                  <a:pt x="6561" y="49788"/>
                  <a:pt x="4809" y="101035"/>
                </a:cubicBezTo>
                <a:close/>
                <a:moveTo>
                  <a:pt x="206017" y="111508"/>
                </a:moveTo>
                <a:cubicBezTo>
                  <a:pt x="203072" y="153523"/>
                  <a:pt x="174633" y="189418"/>
                  <a:pt x="134405" y="201897"/>
                </a:cubicBezTo>
                <a:lnTo>
                  <a:pt x="133689" y="199234"/>
                </a:lnTo>
                <a:cubicBezTo>
                  <a:pt x="172677" y="187039"/>
                  <a:pt x="200250" y="152251"/>
                  <a:pt x="203220" y="111508"/>
                </a:cubicBezTo>
                <a:close/>
                <a:moveTo>
                  <a:pt x="104126" y="201941"/>
                </a:moveTo>
                <a:cubicBezTo>
                  <a:pt x="50202" y="201955"/>
                  <a:pt x="6478" y="158249"/>
                  <a:pt x="6465" y="104325"/>
                </a:cubicBezTo>
                <a:cubicBezTo>
                  <a:pt x="6454" y="50401"/>
                  <a:pt x="50157" y="6677"/>
                  <a:pt x="104081" y="6663"/>
                </a:cubicBezTo>
                <a:cubicBezTo>
                  <a:pt x="158006" y="6650"/>
                  <a:pt x="201729" y="50356"/>
                  <a:pt x="201743" y="104280"/>
                </a:cubicBezTo>
                <a:cubicBezTo>
                  <a:pt x="201743" y="104296"/>
                  <a:pt x="201743" y="104309"/>
                  <a:pt x="201743" y="104325"/>
                </a:cubicBezTo>
                <a:cubicBezTo>
                  <a:pt x="201743" y="158238"/>
                  <a:pt x="158039" y="201941"/>
                  <a:pt x="104126" y="201941"/>
                </a:cubicBezTo>
                <a:close/>
              </a:path>
            </a:pathLst>
          </a:custGeom>
          <a:gradFill>
            <a:gsLst>
              <a:gs pos="0">
                <a:srgbClr val="0016BC"/>
              </a:gs>
              <a:gs pos="100000">
                <a:schemeClr val="accent1">
                  <a:lumMod val="63000"/>
                  <a:lumOff val="37000"/>
                </a:schemeClr>
              </a:gs>
            </a:gsLst>
            <a:lin ang="0" scaled="1"/>
          </a:gradFill>
          <a:ln w="22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Oval 21+"/>
          <p:cNvSpPr/>
          <p:nvPr/>
        </p:nvSpPr>
        <p:spPr>
          <a:xfrm flipH="1">
            <a:off x="719493" y="5682906"/>
            <a:ext cx="998611" cy="9986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25040" y="5788158"/>
            <a:ext cx="814095" cy="772372"/>
          </a:xfrm>
          <a:prstGeom prst="rect">
            <a:avLst/>
          </a:prstGeom>
        </p:spPr>
      </p:pic>
      <p:pic>
        <p:nvPicPr>
          <p:cNvPr id="2097222" name="图片 101"/>
          <p:cNvPicPr/>
          <p:nvPr/>
        </p:nvPicPr>
        <p:blipFill>
          <a:blip r:embed="rId37"/>
          <a:srcRect l="4909" t="20197" r="5960" b="13960"/>
          <a:stretch>
            <a:fillRect/>
          </a:stretch>
        </p:blipFill>
        <p:spPr>
          <a:xfrm>
            <a:off x="349897" y="4386815"/>
            <a:ext cx="1805934" cy="993733"/>
          </a:xfrm>
          <a:prstGeom prst="rect">
            <a:avLst/>
          </a:prstGeom>
          <a:effectLst>
            <a:glow rad="63500">
              <a:schemeClr val="bg2">
                <a:lumMod val="85000"/>
                <a:alpha val="40000"/>
              </a:schemeClr>
            </a:glow>
          </a:effectLst>
        </p:spPr>
      </p:pic>
      <p:pic>
        <p:nvPicPr>
          <p:cNvPr id="2097219" name="图片 96"/>
          <p:cNvPicPr/>
          <p:nvPr/>
        </p:nvPicPr>
        <p:blipFill>
          <a:blip r:embed="rId38"/>
          <a:srcRect l="12745" t="14187" r="12305" b="28480"/>
          <a:stretch>
            <a:fillRect/>
          </a:stretch>
        </p:blipFill>
        <p:spPr>
          <a:xfrm>
            <a:off x="404754" y="3330798"/>
            <a:ext cx="1612168" cy="888509"/>
          </a:xfrm>
          <a:prstGeom prst="rect">
            <a:avLst/>
          </a:prstGeom>
        </p:spPr>
      </p:pic>
      <p:sp>
        <p:nvSpPr>
          <p:cNvPr id="143" name="圆角矩形 52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7406640" y="2675255"/>
            <a:ext cx="3718560" cy="579120"/>
          </a:xfrm>
          <a:prstGeom prst="roundRect">
            <a:avLst>
              <a:gd name="adj" fmla="val 10363"/>
            </a:avLst>
          </a:prstGeom>
          <a:solidFill>
            <a:srgbClr val="0068BF"/>
          </a:solidFill>
          <a:ln>
            <a:solidFill>
              <a:schemeClr val="bg1"/>
            </a:solidFill>
          </a:ln>
          <a:effectLst>
            <a:outerShdw blurRad="635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12713" tIns="89694" rIns="114300" bIns="57150" numCol="1" spcCol="0" rtlCol="0" fromWordArt="0" anchor="ctr" anchorCtr="0" forceAA="0" compatLnSpc="1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000" b="1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 Heavy" panose="02020900000000000000" pitchFamily="18" charset="-122"/>
              </a:rPr>
              <a:t>企业合作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7627620" y="3744595"/>
            <a:ext cx="3373755" cy="476250"/>
            <a:chOff x="7627784" y="3154672"/>
            <a:chExt cx="3373626" cy="776198"/>
          </a:xfrm>
        </p:grpSpPr>
        <p:cxnSp>
          <p:nvCxnSpPr>
            <p:cNvPr id="148" name="直接箭头连接符 147"/>
            <p:cNvCxnSpPr/>
            <p:nvPr/>
          </p:nvCxnSpPr>
          <p:spPr>
            <a:xfrm flipV="1">
              <a:off x="7627784" y="3154672"/>
              <a:ext cx="1105132" cy="776198"/>
            </a:xfrm>
            <a:prstGeom prst="straightConnector1">
              <a:avLst/>
            </a:prstGeom>
            <a:ln w="22225">
              <a:solidFill>
                <a:schemeClr val="accent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/>
            <p:nvPr/>
          </p:nvCxnSpPr>
          <p:spPr>
            <a:xfrm flipH="1" flipV="1">
              <a:off x="9896278" y="3154672"/>
              <a:ext cx="1105132" cy="776198"/>
            </a:xfrm>
            <a:prstGeom prst="straightConnector1">
              <a:avLst/>
            </a:prstGeom>
            <a:ln w="22225">
              <a:solidFill>
                <a:schemeClr val="accent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>
            <p:custDataLst>
              <p:tags r:id="rId15"/>
            </p:custDataLst>
          </p:nvPr>
        </p:nvGrpSpPr>
        <p:grpSpPr>
          <a:xfrm>
            <a:off x="6603365" y="4295140"/>
            <a:ext cx="5490210" cy="922020"/>
            <a:chOff x="6603372" y="4039122"/>
            <a:chExt cx="5490326" cy="1315772"/>
          </a:xfrm>
        </p:grpSpPr>
        <p:sp>
          <p:nvSpPr>
            <p:cNvPr id="144" name="矩形 78"/>
            <p:cNvSpPr/>
            <p:nvPr/>
          </p:nvSpPr>
          <p:spPr>
            <a:xfrm>
              <a:off x="6603372" y="4894352"/>
              <a:ext cx="2254879" cy="460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zh-CN" altLang="en-US" sz="2000" kern="0" dirty="0">
                  <a:ln>
                    <a:noFill/>
                    <a:prstDash val="sysDot"/>
                  </a:ln>
                  <a:solidFill>
                    <a:schemeClr val="tx1"/>
                  </a:solidFill>
                  <a:latin typeface="+mn-ea"/>
                  <a:sym typeface="+mn-ea"/>
                </a:rPr>
                <a:t>技术赋能，辐射千行百业</a:t>
              </a:r>
              <a:endParaRPr lang="zh-CN" altLang="en-US" sz="2000" kern="0" spc="0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145" name="圆角矩形 52"/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6673675" y="4039122"/>
              <a:ext cx="2184576" cy="732620"/>
            </a:xfrm>
            <a:prstGeom prst="roundRect">
              <a:avLst>
                <a:gd name="adj" fmla="val 10363"/>
              </a:avLst>
            </a:prstGeom>
            <a:solidFill>
              <a:srgbClr val="0068BF"/>
            </a:solidFill>
            <a:ln>
              <a:solidFill>
                <a:schemeClr val="bg1"/>
              </a:solidFill>
            </a:ln>
            <a:effectLst>
              <a:outerShdw blurRad="635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12713" tIns="89694" rIns="114300" bIns="57150" numCol="1" spcCol="0" rtlCol="0" fromWordArt="0" anchor="ctr" anchorCtr="0" forceAA="0" compatLnSpc="1">
              <a:normAutofit fontScale="7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30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宋体 CN Heavy" panose="02020900000000000000" pitchFamily="18" charset="-122"/>
                </a:rPr>
                <a:t>推广应用</a:t>
              </a:r>
            </a:p>
          </p:txBody>
        </p:sp>
        <p:sp>
          <p:nvSpPr>
            <p:cNvPr id="146" name="矩形 78"/>
            <p:cNvSpPr/>
            <p:nvPr/>
          </p:nvSpPr>
          <p:spPr>
            <a:xfrm>
              <a:off x="9838819" y="4894352"/>
              <a:ext cx="2254879" cy="460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zh-CN" altLang="en-US" sz="2000" kern="0" dirty="0">
                  <a:ln>
                    <a:noFill/>
                    <a:prstDash val="sysDot"/>
                  </a:ln>
                  <a:solidFill>
                    <a:schemeClr val="tx1"/>
                  </a:solidFill>
                  <a:latin typeface="+mn-ea"/>
                  <a:sym typeface="+mn-ea"/>
                </a:rPr>
                <a:t>筑基国产，培养算力人才</a:t>
              </a:r>
            </a:p>
          </p:txBody>
        </p:sp>
        <p:sp>
          <p:nvSpPr>
            <p:cNvPr id="147" name="圆角矩形 52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>
            <a:xfrm>
              <a:off x="9909122" y="4039122"/>
              <a:ext cx="2184576" cy="732620"/>
            </a:xfrm>
            <a:prstGeom prst="roundRect">
              <a:avLst>
                <a:gd name="adj" fmla="val 10363"/>
              </a:avLst>
            </a:prstGeom>
            <a:solidFill>
              <a:srgbClr val="0068BF"/>
            </a:solidFill>
            <a:ln>
              <a:solidFill>
                <a:schemeClr val="bg1"/>
              </a:solidFill>
            </a:ln>
            <a:effectLst>
              <a:outerShdw blurRad="635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12713" tIns="89694" rIns="114300" bIns="57150" numCol="1" spcCol="0" rtlCol="0" fromWordArt="0" anchor="ctr" anchorCtr="0" forceAA="0" compatLnSpc="1">
              <a:normAutofit fontScale="7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3000" b="1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宋体 CN Heavy" panose="02020900000000000000" pitchFamily="18" charset="-122"/>
                </a:rPr>
                <a:t>社会效益</a:t>
              </a:r>
            </a:p>
          </p:txBody>
        </p:sp>
        <p:cxnSp>
          <p:nvCxnSpPr>
            <p:cNvPr id="151" name="直接箭头连接符 150"/>
            <p:cNvCxnSpPr/>
            <p:nvPr/>
          </p:nvCxnSpPr>
          <p:spPr>
            <a:xfrm>
              <a:off x="8934450" y="4386815"/>
              <a:ext cx="904369" cy="0"/>
            </a:xfrm>
            <a:prstGeom prst="straightConnector1">
              <a:avLst/>
            </a:prstGeom>
            <a:ln w="22225">
              <a:solidFill>
                <a:schemeClr val="accent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logo-简"/>
          <p:cNvPicPr>
            <a:picLocks noChangeAspect="1"/>
          </p:cNvPicPr>
          <p:nvPr/>
        </p:nvPicPr>
        <p:blipFill>
          <a:blip r:embed="rId39"/>
          <a:srcRect t="-9919" r="66568"/>
          <a:stretch>
            <a:fillRect/>
          </a:stretch>
        </p:blipFill>
        <p:spPr>
          <a:xfrm>
            <a:off x="9566910" y="1726565"/>
            <a:ext cx="1080135" cy="8585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593" t="12111" r="57985" b="15450"/>
          <a:stretch>
            <a:fillRect/>
          </a:stretch>
        </p:blipFill>
        <p:spPr>
          <a:xfrm>
            <a:off x="7911465" y="1686560"/>
            <a:ext cx="956310" cy="988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/>
          <p:cNvSpPr/>
          <p:nvPr/>
        </p:nvSpPr>
        <p:spPr>
          <a:xfrm>
            <a:off x="-20981" y="17267"/>
            <a:ext cx="12618679" cy="716905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8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0554" t="23" r="1538" b="23"/>
          <a:stretch>
            <a:fillRect/>
          </a:stretch>
        </p:blipFill>
        <p:spPr>
          <a:xfrm rot="16200000" flipH="1">
            <a:off x="2691214" y="-2720155"/>
            <a:ext cx="7194946" cy="12618679"/>
          </a:xfrm>
          <a:custGeom>
            <a:avLst/>
            <a:gdLst>
              <a:gd name="connsiteX0" fmla="*/ 0 w 6220053"/>
              <a:gd name="connsiteY0" fmla="*/ 12192000 h 12192000"/>
              <a:gd name="connsiteX1" fmla="*/ 0 w 6220053"/>
              <a:gd name="connsiteY1" fmla="*/ 0 h 12192000"/>
              <a:gd name="connsiteX2" fmla="*/ 6220053 w 6220053"/>
              <a:gd name="connsiteY2" fmla="*/ 0 h 12192000"/>
              <a:gd name="connsiteX3" fmla="*/ 6220053 w 6220053"/>
              <a:gd name="connsiteY3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0053" h="12192000">
                <a:moveTo>
                  <a:pt x="0" y="12192000"/>
                </a:moveTo>
                <a:lnTo>
                  <a:pt x="0" y="0"/>
                </a:lnTo>
                <a:lnTo>
                  <a:pt x="6220053" y="0"/>
                </a:lnTo>
                <a:lnTo>
                  <a:pt x="6220053" y="12192000"/>
                </a:lnTo>
                <a:close/>
              </a:path>
            </a:pathLst>
          </a:custGeom>
        </p:spPr>
      </p:pic>
      <p:pic>
        <p:nvPicPr>
          <p:cNvPr id="47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198" y="942607"/>
            <a:ext cx="5044843" cy="6244382"/>
          </a:xfrm>
          <a:prstGeom prst="rect">
            <a:avLst/>
          </a:prstGeom>
        </p:spPr>
      </p:pic>
      <p:pic>
        <p:nvPicPr>
          <p:cNvPr id="48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4652" y="942607"/>
            <a:ext cx="5044843" cy="6244382"/>
          </a:xfrm>
          <a:prstGeom prst="rect">
            <a:avLst/>
          </a:prstGeom>
        </p:spPr>
      </p:pic>
      <p:pic>
        <p:nvPicPr>
          <p:cNvPr id="49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20625" y="5101324"/>
            <a:ext cx="2477730" cy="2085665"/>
          </a:xfrm>
          <a:prstGeom prst="rect">
            <a:avLst/>
          </a:prstGeom>
        </p:spPr>
      </p:pic>
      <p:sp>
        <p:nvSpPr>
          <p:cNvPr id="51" name="矩形 50"/>
          <p:cNvSpPr/>
          <p:nvPr/>
        </p:nvSpPr>
        <p:spPr>
          <a:xfrm>
            <a:off x="-20981" y="17267"/>
            <a:ext cx="9284587" cy="7169058"/>
          </a:xfrm>
          <a:prstGeom prst="rect">
            <a:avLst/>
          </a:prstGeom>
          <a:gradFill flip="none" rotWithShape="1">
            <a:gsLst>
              <a:gs pos="50000">
                <a:srgbClr val="FFFFFF">
                  <a:alpha val="70000"/>
                </a:srgbClr>
              </a:gs>
              <a:gs pos="0">
                <a:schemeClr val="bg1">
                  <a:alpha val="73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OPPOSans M" panose="00020600040101010101" pitchFamily="18" charset="-122"/>
            </a:endParaRPr>
          </a:p>
        </p:txBody>
      </p:sp>
      <p:pic>
        <p:nvPicPr>
          <p:cNvPr id="53" name="图片 52" descr="背景图案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3" cstate="print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b="83188"/>
          <a:stretch>
            <a:fillRect/>
          </a:stretch>
        </p:blipFill>
        <p:spPr>
          <a:xfrm>
            <a:off x="-57785" y="-219710"/>
            <a:ext cx="8793642" cy="890822"/>
          </a:xfrm>
          <a:custGeom>
            <a:avLst/>
            <a:gdLst>
              <a:gd name="connsiteX0" fmla="*/ 0 w 12192000"/>
              <a:gd name="connsiteY0" fmla="*/ 0 h 1525933"/>
              <a:gd name="connsiteX1" fmla="*/ 12192000 w 12192000"/>
              <a:gd name="connsiteY1" fmla="*/ 0 h 1525933"/>
              <a:gd name="connsiteX2" fmla="*/ 12192000 w 12192000"/>
              <a:gd name="connsiteY2" fmla="*/ 1525933 h 1525933"/>
              <a:gd name="connsiteX3" fmla="*/ 0 w 12192000"/>
              <a:gd name="connsiteY3" fmla="*/ 1525933 h 152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25933">
                <a:moveTo>
                  <a:pt x="0" y="0"/>
                </a:moveTo>
                <a:lnTo>
                  <a:pt x="12192000" y="0"/>
                </a:lnTo>
                <a:lnTo>
                  <a:pt x="12192000" y="1525933"/>
                </a:lnTo>
                <a:lnTo>
                  <a:pt x="0" y="1525933"/>
                </a:lnTo>
                <a:close/>
              </a:path>
            </a:pathLst>
          </a:custGeom>
          <a:noFill/>
        </p:spPr>
      </p:pic>
      <p:pic>
        <p:nvPicPr>
          <p:cNvPr id="76" name="Rectangl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0931" y="1336"/>
            <a:ext cx="6769396" cy="2770708"/>
          </a:xfrm>
          <a:prstGeom prst="rect">
            <a:avLst/>
          </a:prstGeom>
        </p:spPr>
      </p:pic>
      <p:sp>
        <p:nvSpPr>
          <p:cNvPr id="78" name="任意多边形: 形状 77"/>
          <p:cNvSpPr/>
          <p:nvPr/>
        </p:nvSpPr>
        <p:spPr>
          <a:xfrm>
            <a:off x="10277044" y="5619090"/>
            <a:ext cx="290493" cy="381686"/>
          </a:xfrm>
          <a:custGeom>
            <a:avLst/>
            <a:gdLst>
              <a:gd name="connsiteX0" fmla="*/ 18080 w 466139"/>
              <a:gd name="connsiteY0" fmla="*/ 73 h 214333"/>
              <a:gd name="connsiteX1" fmla="*/ 429560 w 466139"/>
              <a:gd name="connsiteY1" fmla="*/ 61033 h 214333"/>
              <a:gd name="connsiteX2" fmla="*/ 429560 w 466139"/>
              <a:gd name="connsiteY2" fmla="*/ 163903 h 214333"/>
              <a:gd name="connsiteX3" fmla="*/ 284780 w 466139"/>
              <a:gd name="connsiteY3" fmla="*/ 213433 h 214333"/>
              <a:gd name="connsiteX4" fmla="*/ 174290 w 466139"/>
              <a:gd name="connsiteY4" fmla="*/ 194383 h 214333"/>
              <a:gd name="connsiteX5" fmla="*/ 120950 w 466139"/>
              <a:gd name="connsiteY5" fmla="*/ 175333 h 214333"/>
              <a:gd name="connsiteX6" fmla="*/ 86660 w 466139"/>
              <a:gd name="connsiteY6" fmla="*/ 144853 h 214333"/>
              <a:gd name="connsiteX7" fmla="*/ 71420 w 466139"/>
              <a:gd name="connsiteY7" fmla="*/ 72463 h 214333"/>
              <a:gd name="connsiteX8" fmla="*/ 18080 w 466139"/>
              <a:gd name="connsiteY8" fmla="*/ 73 h 21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139" h="214333">
                <a:moveTo>
                  <a:pt x="18080" y="73"/>
                </a:moveTo>
                <a:cubicBezTo>
                  <a:pt x="77770" y="-1832"/>
                  <a:pt x="360980" y="33728"/>
                  <a:pt x="429560" y="61033"/>
                </a:cubicBezTo>
                <a:cubicBezTo>
                  <a:pt x="498140" y="88338"/>
                  <a:pt x="453690" y="138503"/>
                  <a:pt x="429560" y="163903"/>
                </a:cubicBezTo>
                <a:cubicBezTo>
                  <a:pt x="405430" y="189303"/>
                  <a:pt x="327325" y="208353"/>
                  <a:pt x="284780" y="213433"/>
                </a:cubicBezTo>
                <a:cubicBezTo>
                  <a:pt x="242235" y="218513"/>
                  <a:pt x="201595" y="200733"/>
                  <a:pt x="174290" y="194383"/>
                </a:cubicBezTo>
                <a:cubicBezTo>
                  <a:pt x="146985" y="188033"/>
                  <a:pt x="135555" y="183588"/>
                  <a:pt x="120950" y="175333"/>
                </a:cubicBezTo>
                <a:cubicBezTo>
                  <a:pt x="106345" y="167078"/>
                  <a:pt x="94915" y="161998"/>
                  <a:pt x="86660" y="144853"/>
                </a:cubicBezTo>
                <a:cubicBezTo>
                  <a:pt x="78405" y="127708"/>
                  <a:pt x="77770" y="91513"/>
                  <a:pt x="71420" y="72463"/>
                </a:cubicBezTo>
                <a:cubicBezTo>
                  <a:pt x="65070" y="53413"/>
                  <a:pt x="-41610" y="1978"/>
                  <a:pt x="18080" y="73"/>
                </a:cubicBezTo>
                <a:close/>
              </a:path>
            </a:pathLst>
          </a:custGeom>
          <a:solidFill>
            <a:srgbClr val="B6D3F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/>
          <p:cNvSpPr/>
          <p:nvPr/>
        </p:nvSpPr>
        <p:spPr>
          <a:xfrm>
            <a:off x="9607334" y="5624400"/>
            <a:ext cx="225427" cy="329909"/>
          </a:xfrm>
          <a:custGeom>
            <a:avLst/>
            <a:gdLst>
              <a:gd name="connsiteX0" fmla="*/ 6750 w 361998"/>
              <a:gd name="connsiteY0" fmla="*/ 3883 h 185446"/>
              <a:gd name="connsiteX1" fmla="*/ 146450 w 361998"/>
              <a:gd name="connsiteY1" fmla="*/ 16583 h 185446"/>
              <a:gd name="connsiteX2" fmla="*/ 253130 w 361998"/>
              <a:gd name="connsiteY2" fmla="*/ 24203 h 185446"/>
              <a:gd name="connsiteX3" fmla="*/ 334410 w 361998"/>
              <a:gd name="connsiteY3" fmla="*/ 26743 h 185446"/>
              <a:gd name="connsiteX4" fmla="*/ 342030 w 361998"/>
              <a:gd name="connsiteY4" fmla="*/ 80083 h 185446"/>
              <a:gd name="connsiteX5" fmla="*/ 354730 w 361998"/>
              <a:gd name="connsiteY5" fmla="*/ 130883 h 185446"/>
              <a:gd name="connsiteX6" fmla="*/ 354730 w 361998"/>
              <a:gd name="connsiteY6" fmla="*/ 181683 h 185446"/>
              <a:gd name="connsiteX7" fmla="*/ 263290 w 361998"/>
              <a:gd name="connsiteY7" fmla="*/ 181683 h 185446"/>
              <a:gd name="connsiteX8" fmla="*/ 176930 w 361998"/>
              <a:gd name="connsiteY8" fmla="*/ 181683 h 185446"/>
              <a:gd name="connsiteX9" fmla="*/ 121050 w 361998"/>
              <a:gd name="connsiteY9" fmla="*/ 176603 h 185446"/>
              <a:gd name="connsiteX10" fmla="*/ 52470 w 361998"/>
              <a:gd name="connsiteY10" fmla="*/ 166443 h 185446"/>
              <a:gd name="connsiteX11" fmla="*/ 24530 w 361998"/>
              <a:gd name="connsiteY11" fmla="*/ 161363 h 185446"/>
              <a:gd name="connsiteX12" fmla="*/ 21990 w 361998"/>
              <a:gd name="connsiteY12" fmla="*/ 97863 h 185446"/>
              <a:gd name="connsiteX13" fmla="*/ 6750 w 361998"/>
              <a:gd name="connsiteY13" fmla="*/ 3883 h 185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1998" h="185446">
                <a:moveTo>
                  <a:pt x="6750" y="3883"/>
                </a:moveTo>
                <a:cubicBezTo>
                  <a:pt x="27493" y="-9664"/>
                  <a:pt x="146450" y="16583"/>
                  <a:pt x="146450" y="16583"/>
                </a:cubicBezTo>
                <a:cubicBezTo>
                  <a:pt x="187513" y="19970"/>
                  <a:pt x="221803" y="22510"/>
                  <a:pt x="253130" y="24203"/>
                </a:cubicBezTo>
                <a:cubicBezTo>
                  <a:pt x="284457" y="25896"/>
                  <a:pt x="319593" y="17430"/>
                  <a:pt x="334410" y="26743"/>
                </a:cubicBezTo>
                <a:cubicBezTo>
                  <a:pt x="349227" y="36056"/>
                  <a:pt x="338643" y="62726"/>
                  <a:pt x="342030" y="80083"/>
                </a:cubicBezTo>
                <a:cubicBezTo>
                  <a:pt x="345417" y="97440"/>
                  <a:pt x="352613" y="113950"/>
                  <a:pt x="354730" y="130883"/>
                </a:cubicBezTo>
                <a:cubicBezTo>
                  <a:pt x="356847" y="147816"/>
                  <a:pt x="369970" y="173216"/>
                  <a:pt x="354730" y="181683"/>
                </a:cubicBezTo>
                <a:cubicBezTo>
                  <a:pt x="339490" y="190150"/>
                  <a:pt x="263290" y="181683"/>
                  <a:pt x="263290" y="181683"/>
                </a:cubicBezTo>
                <a:cubicBezTo>
                  <a:pt x="233657" y="181683"/>
                  <a:pt x="200637" y="182530"/>
                  <a:pt x="176930" y="181683"/>
                </a:cubicBezTo>
                <a:cubicBezTo>
                  <a:pt x="153223" y="180836"/>
                  <a:pt x="141793" y="179143"/>
                  <a:pt x="121050" y="176603"/>
                </a:cubicBezTo>
                <a:cubicBezTo>
                  <a:pt x="100307" y="174063"/>
                  <a:pt x="68557" y="168983"/>
                  <a:pt x="52470" y="166443"/>
                </a:cubicBezTo>
                <a:cubicBezTo>
                  <a:pt x="36383" y="163903"/>
                  <a:pt x="29610" y="172793"/>
                  <a:pt x="24530" y="161363"/>
                </a:cubicBezTo>
                <a:cubicBezTo>
                  <a:pt x="19450" y="149933"/>
                  <a:pt x="24530" y="119030"/>
                  <a:pt x="21990" y="97863"/>
                </a:cubicBezTo>
                <a:cubicBezTo>
                  <a:pt x="19450" y="76696"/>
                  <a:pt x="-13993" y="17430"/>
                  <a:pt x="6750" y="3883"/>
                </a:cubicBezTo>
                <a:close/>
              </a:path>
            </a:pathLst>
          </a:custGeom>
          <a:solidFill>
            <a:srgbClr val="B6D3F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79"/>
          <p:cNvSpPr/>
          <p:nvPr/>
        </p:nvSpPr>
        <p:spPr>
          <a:xfrm>
            <a:off x="8557749" y="5161066"/>
            <a:ext cx="112385" cy="196485"/>
          </a:xfrm>
          <a:custGeom>
            <a:avLst/>
            <a:gdLst>
              <a:gd name="connsiteX0" fmla="*/ 315 w 180043"/>
              <a:gd name="connsiteY0" fmla="*/ 3972 h 110652"/>
              <a:gd name="connsiteX1" fmla="*/ 40955 w 180043"/>
              <a:gd name="connsiteY1" fmla="*/ 64932 h 110652"/>
              <a:gd name="connsiteX2" fmla="*/ 117155 w 180043"/>
              <a:gd name="connsiteY2" fmla="*/ 95412 h 110652"/>
              <a:gd name="connsiteX3" fmla="*/ 162875 w 180043"/>
              <a:gd name="connsiteY3" fmla="*/ 110652 h 110652"/>
              <a:gd name="connsiteX4" fmla="*/ 178115 w 180043"/>
              <a:gd name="connsiteY4" fmla="*/ 95412 h 110652"/>
              <a:gd name="connsiteX5" fmla="*/ 173035 w 180043"/>
              <a:gd name="connsiteY5" fmla="*/ 59852 h 110652"/>
              <a:gd name="connsiteX6" fmla="*/ 117155 w 180043"/>
              <a:gd name="connsiteY6" fmla="*/ 34452 h 110652"/>
              <a:gd name="connsiteX7" fmla="*/ 61275 w 180043"/>
              <a:gd name="connsiteY7" fmla="*/ 9052 h 110652"/>
              <a:gd name="connsiteX8" fmla="*/ 315 w 180043"/>
              <a:gd name="connsiteY8" fmla="*/ 3972 h 11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043" h="110652">
                <a:moveTo>
                  <a:pt x="315" y="3972"/>
                </a:moveTo>
                <a:cubicBezTo>
                  <a:pt x="-3072" y="13285"/>
                  <a:pt x="21482" y="49692"/>
                  <a:pt x="40955" y="64932"/>
                </a:cubicBezTo>
                <a:cubicBezTo>
                  <a:pt x="60428" y="80172"/>
                  <a:pt x="96835" y="87792"/>
                  <a:pt x="117155" y="95412"/>
                </a:cubicBezTo>
                <a:cubicBezTo>
                  <a:pt x="137475" y="103032"/>
                  <a:pt x="162875" y="110652"/>
                  <a:pt x="162875" y="110652"/>
                </a:cubicBezTo>
                <a:cubicBezTo>
                  <a:pt x="173035" y="110652"/>
                  <a:pt x="176422" y="103879"/>
                  <a:pt x="178115" y="95412"/>
                </a:cubicBezTo>
                <a:cubicBezTo>
                  <a:pt x="179808" y="86945"/>
                  <a:pt x="183195" y="70012"/>
                  <a:pt x="173035" y="59852"/>
                </a:cubicBezTo>
                <a:cubicBezTo>
                  <a:pt x="162875" y="49692"/>
                  <a:pt x="117155" y="34452"/>
                  <a:pt x="117155" y="34452"/>
                </a:cubicBezTo>
                <a:cubicBezTo>
                  <a:pt x="98528" y="25985"/>
                  <a:pt x="78208" y="14132"/>
                  <a:pt x="61275" y="9052"/>
                </a:cubicBezTo>
                <a:cubicBezTo>
                  <a:pt x="44342" y="3972"/>
                  <a:pt x="3702" y="-5341"/>
                  <a:pt x="315" y="3972"/>
                </a:cubicBezTo>
                <a:close/>
              </a:path>
            </a:pathLst>
          </a:custGeom>
          <a:solidFill>
            <a:srgbClr val="BBDBF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: 形状 80"/>
          <p:cNvSpPr/>
          <p:nvPr/>
        </p:nvSpPr>
        <p:spPr>
          <a:xfrm>
            <a:off x="8386871" y="5186291"/>
            <a:ext cx="193224" cy="296056"/>
          </a:xfrm>
          <a:custGeom>
            <a:avLst/>
            <a:gdLst>
              <a:gd name="connsiteX0" fmla="*/ 0 w 310454"/>
              <a:gd name="connsiteY0" fmla="*/ 166451 h 166451"/>
              <a:gd name="connsiteX1" fmla="*/ 17145 w 310454"/>
              <a:gd name="connsiteY1" fmla="*/ 115016 h 166451"/>
              <a:gd name="connsiteX2" fmla="*/ 28575 w 310454"/>
              <a:gd name="connsiteY2" fmla="*/ 76916 h 166451"/>
              <a:gd name="connsiteX3" fmla="*/ 30480 w 310454"/>
              <a:gd name="connsiteY3" fmla="*/ 33101 h 166451"/>
              <a:gd name="connsiteX4" fmla="*/ 36195 w 310454"/>
              <a:gd name="connsiteY4" fmla="*/ 10241 h 166451"/>
              <a:gd name="connsiteX5" fmla="*/ 51435 w 310454"/>
              <a:gd name="connsiteY5" fmla="*/ 2621 h 166451"/>
              <a:gd name="connsiteX6" fmla="*/ 81915 w 310454"/>
              <a:gd name="connsiteY6" fmla="*/ 14051 h 166451"/>
              <a:gd name="connsiteX7" fmla="*/ 302895 w 310454"/>
              <a:gd name="connsiteY7" fmla="*/ 139781 h 166451"/>
              <a:gd name="connsiteX8" fmla="*/ 255270 w 310454"/>
              <a:gd name="connsiteY8" fmla="*/ 151211 h 166451"/>
              <a:gd name="connsiteX9" fmla="*/ 217170 w 310454"/>
              <a:gd name="connsiteY9" fmla="*/ 143591 h 166451"/>
              <a:gd name="connsiteX10" fmla="*/ 175260 w 310454"/>
              <a:gd name="connsiteY10" fmla="*/ 143591 h 166451"/>
              <a:gd name="connsiteX11" fmla="*/ 142875 w 310454"/>
              <a:gd name="connsiteY11" fmla="*/ 143591 h 166451"/>
              <a:gd name="connsiteX12" fmla="*/ 104775 w 310454"/>
              <a:gd name="connsiteY12" fmla="*/ 143591 h 166451"/>
              <a:gd name="connsiteX13" fmla="*/ 78105 w 310454"/>
              <a:gd name="connsiteY13" fmla="*/ 139781 h 166451"/>
              <a:gd name="connsiteX14" fmla="*/ 47625 w 310454"/>
              <a:gd name="connsiteY14" fmla="*/ 139781 h 166451"/>
              <a:gd name="connsiteX15" fmla="*/ 0 w 310454"/>
              <a:gd name="connsiteY15" fmla="*/ 166451 h 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0454" h="166451">
                <a:moveTo>
                  <a:pt x="0" y="166451"/>
                </a:moveTo>
                <a:cubicBezTo>
                  <a:pt x="6191" y="148194"/>
                  <a:pt x="12383" y="129938"/>
                  <a:pt x="17145" y="115016"/>
                </a:cubicBezTo>
                <a:cubicBezTo>
                  <a:pt x="21908" y="100093"/>
                  <a:pt x="26353" y="90568"/>
                  <a:pt x="28575" y="76916"/>
                </a:cubicBezTo>
                <a:cubicBezTo>
                  <a:pt x="30797" y="63264"/>
                  <a:pt x="29210" y="44213"/>
                  <a:pt x="30480" y="33101"/>
                </a:cubicBezTo>
                <a:cubicBezTo>
                  <a:pt x="31750" y="21989"/>
                  <a:pt x="32703" y="15321"/>
                  <a:pt x="36195" y="10241"/>
                </a:cubicBezTo>
                <a:cubicBezTo>
                  <a:pt x="39687" y="5161"/>
                  <a:pt x="43815" y="1986"/>
                  <a:pt x="51435" y="2621"/>
                </a:cubicBezTo>
                <a:cubicBezTo>
                  <a:pt x="59055" y="3256"/>
                  <a:pt x="40005" y="-8809"/>
                  <a:pt x="81915" y="14051"/>
                </a:cubicBezTo>
                <a:cubicBezTo>
                  <a:pt x="123825" y="36911"/>
                  <a:pt x="274003" y="116921"/>
                  <a:pt x="302895" y="139781"/>
                </a:cubicBezTo>
                <a:cubicBezTo>
                  <a:pt x="331787" y="162641"/>
                  <a:pt x="269557" y="150576"/>
                  <a:pt x="255270" y="151211"/>
                </a:cubicBezTo>
                <a:cubicBezTo>
                  <a:pt x="240983" y="151846"/>
                  <a:pt x="230505" y="144861"/>
                  <a:pt x="217170" y="143591"/>
                </a:cubicBezTo>
                <a:cubicBezTo>
                  <a:pt x="203835" y="142321"/>
                  <a:pt x="175260" y="143591"/>
                  <a:pt x="175260" y="143591"/>
                </a:cubicBezTo>
                <a:lnTo>
                  <a:pt x="142875" y="143591"/>
                </a:lnTo>
                <a:cubicBezTo>
                  <a:pt x="131128" y="143591"/>
                  <a:pt x="115570" y="144226"/>
                  <a:pt x="104775" y="143591"/>
                </a:cubicBezTo>
                <a:cubicBezTo>
                  <a:pt x="93980" y="142956"/>
                  <a:pt x="87630" y="140416"/>
                  <a:pt x="78105" y="139781"/>
                </a:cubicBezTo>
                <a:cubicBezTo>
                  <a:pt x="68580" y="139146"/>
                  <a:pt x="47625" y="139781"/>
                  <a:pt x="47625" y="139781"/>
                </a:cubicBezTo>
                <a:lnTo>
                  <a:pt x="0" y="166451"/>
                </a:lnTo>
                <a:close/>
              </a:path>
            </a:pathLst>
          </a:custGeom>
          <a:solidFill>
            <a:srgbClr val="CAE5F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/>
          <p:cNvSpPr/>
          <p:nvPr/>
        </p:nvSpPr>
        <p:spPr>
          <a:xfrm>
            <a:off x="11531025" y="5206205"/>
            <a:ext cx="114357" cy="209761"/>
          </a:xfrm>
          <a:custGeom>
            <a:avLst/>
            <a:gdLst>
              <a:gd name="connsiteX0" fmla="*/ 153 w 183528"/>
              <a:gd name="connsiteY0" fmla="*/ 23936 h 118242"/>
              <a:gd name="connsiteX1" fmla="*/ 40793 w 183528"/>
              <a:gd name="connsiteY1" fmla="*/ 72196 h 118242"/>
              <a:gd name="connsiteX2" fmla="*/ 81433 w 183528"/>
              <a:gd name="connsiteY2" fmla="*/ 95056 h 118242"/>
              <a:gd name="connsiteX3" fmla="*/ 119533 w 183528"/>
              <a:gd name="connsiteY3" fmla="*/ 115376 h 118242"/>
              <a:gd name="connsiteX4" fmla="*/ 160173 w 183528"/>
              <a:gd name="connsiteY4" fmla="*/ 115376 h 118242"/>
              <a:gd name="connsiteX5" fmla="*/ 180493 w 183528"/>
              <a:gd name="connsiteY5" fmla="*/ 89976 h 118242"/>
              <a:gd name="connsiteX6" fmla="*/ 180493 w 183528"/>
              <a:gd name="connsiteY6" fmla="*/ 59496 h 118242"/>
              <a:gd name="connsiteX7" fmla="*/ 152553 w 183528"/>
              <a:gd name="connsiteY7" fmla="*/ 34096 h 118242"/>
              <a:gd name="connsiteX8" fmla="*/ 116993 w 183528"/>
              <a:gd name="connsiteY8" fmla="*/ 18856 h 118242"/>
              <a:gd name="connsiteX9" fmla="*/ 83973 w 183528"/>
              <a:gd name="connsiteY9" fmla="*/ 1076 h 118242"/>
              <a:gd name="connsiteX10" fmla="*/ 56033 w 183528"/>
              <a:gd name="connsiteY10" fmla="*/ 1076 h 118242"/>
              <a:gd name="connsiteX11" fmla="*/ 153 w 183528"/>
              <a:gd name="connsiteY11" fmla="*/ 23936 h 118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3528" h="118242">
                <a:moveTo>
                  <a:pt x="153" y="23936"/>
                </a:moveTo>
                <a:cubicBezTo>
                  <a:pt x="-2387" y="35789"/>
                  <a:pt x="27246" y="60343"/>
                  <a:pt x="40793" y="72196"/>
                </a:cubicBezTo>
                <a:cubicBezTo>
                  <a:pt x="54340" y="84049"/>
                  <a:pt x="68310" y="87859"/>
                  <a:pt x="81433" y="95056"/>
                </a:cubicBezTo>
                <a:cubicBezTo>
                  <a:pt x="94556" y="102253"/>
                  <a:pt x="106410" y="111989"/>
                  <a:pt x="119533" y="115376"/>
                </a:cubicBezTo>
                <a:cubicBezTo>
                  <a:pt x="132656" y="118763"/>
                  <a:pt x="150013" y="119609"/>
                  <a:pt x="160173" y="115376"/>
                </a:cubicBezTo>
                <a:cubicBezTo>
                  <a:pt x="170333" y="111143"/>
                  <a:pt x="177106" y="99289"/>
                  <a:pt x="180493" y="89976"/>
                </a:cubicBezTo>
                <a:cubicBezTo>
                  <a:pt x="183880" y="80663"/>
                  <a:pt x="185150" y="68809"/>
                  <a:pt x="180493" y="59496"/>
                </a:cubicBezTo>
                <a:cubicBezTo>
                  <a:pt x="175836" y="50183"/>
                  <a:pt x="163136" y="40869"/>
                  <a:pt x="152553" y="34096"/>
                </a:cubicBezTo>
                <a:cubicBezTo>
                  <a:pt x="141970" y="27323"/>
                  <a:pt x="128423" y="24359"/>
                  <a:pt x="116993" y="18856"/>
                </a:cubicBezTo>
                <a:cubicBezTo>
                  <a:pt x="105563" y="13353"/>
                  <a:pt x="94133" y="4039"/>
                  <a:pt x="83973" y="1076"/>
                </a:cubicBezTo>
                <a:cubicBezTo>
                  <a:pt x="73813" y="-1887"/>
                  <a:pt x="67463" y="2346"/>
                  <a:pt x="56033" y="1076"/>
                </a:cubicBezTo>
                <a:cubicBezTo>
                  <a:pt x="44603" y="-194"/>
                  <a:pt x="2693" y="12083"/>
                  <a:pt x="153" y="23936"/>
                </a:cubicBezTo>
                <a:close/>
              </a:path>
            </a:pathLst>
          </a:custGeom>
          <a:solidFill>
            <a:srgbClr val="A4C8EC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82"/>
          <p:cNvSpPr/>
          <p:nvPr/>
        </p:nvSpPr>
        <p:spPr>
          <a:xfrm>
            <a:off x="8467710" y="6165398"/>
            <a:ext cx="186651" cy="284771"/>
          </a:xfrm>
          <a:custGeom>
            <a:avLst/>
            <a:gdLst>
              <a:gd name="connsiteX0" fmla="*/ 211748 w 299660"/>
              <a:gd name="connsiteY0" fmla="*/ 29672 h 159792"/>
              <a:gd name="connsiteX1" fmla="*/ 2198 w 299660"/>
              <a:gd name="connsiteY1" fmla="*/ 147782 h 159792"/>
              <a:gd name="connsiteX2" fmla="*/ 108878 w 299660"/>
              <a:gd name="connsiteY2" fmla="*/ 155402 h 159792"/>
              <a:gd name="connsiteX3" fmla="*/ 219368 w 299660"/>
              <a:gd name="connsiteY3" fmla="*/ 143972 h 159792"/>
              <a:gd name="connsiteX4" fmla="*/ 291758 w 299660"/>
              <a:gd name="connsiteY4" fmla="*/ 79202 h 159792"/>
              <a:gd name="connsiteX5" fmla="*/ 291758 w 299660"/>
              <a:gd name="connsiteY5" fmla="*/ 3002 h 159792"/>
              <a:gd name="connsiteX6" fmla="*/ 211748 w 299660"/>
              <a:gd name="connsiteY6" fmla="*/ 29672 h 15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0" h="159792">
                <a:moveTo>
                  <a:pt x="211748" y="29672"/>
                </a:moveTo>
                <a:cubicBezTo>
                  <a:pt x="163488" y="53802"/>
                  <a:pt x="19343" y="126827"/>
                  <a:pt x="2198" y="147782"/>
                </a:cubicBezTo>
                <a:cubicBezTo>
                  <a:pt x="-14947" y="168737"/>
                  <a:pt x="72683" y="156037"/>
                  <a:pt x="108878" y="155402"/>
                </a:cubicBezTo>
                <a:cubicBezTo>
                  <a:pt x="145073" y="154767"/>
                  <a:pt x="188888" y="156672"/>
                  <a:pt x="219368" y="143972"/>
                </a:cubicBezTo>
                <a:cubicBezTo>
                  <a:pt x="249848" y="131272"/>
                  <a:pt x="279693" y="102697"/>
                  <a:pt x="291758" y="79202"/>
                </a:cubicBezTo>
                <a:cubicBezTo>
                  <a:pt x="303823" y="55707"/>
                  <a:pt x="300648" y="11892"/>
                  <a:pt x="291758" y="3002"/>
                </a:cubicBezTo>
                <a:cubicBezTo>
                  <a:pt x="282868" y="-5888"/>
                  <a:pt x="260008" y="5542"/>
                  <a:pt x="211748" y="29672"/>
                </a:cubicBezTo>
                <a:close/>
              </a:path>
            </a:pathLst>
          </a:custGeom>
          <a:solidFill>
            <a:srgbClr val="D3DDE4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34302" y="792588"/>
            <a:ext cx="4290351" cy="22557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9900">
                <a:ln w="3175">
                  <a:noFill/>
                </a:ln>
                <a:gradFill flip="none" rotWithShape="1">
                  <a:gsLst>
                    <a:gs pos="100000">
                      <a:schemeClr val="accent3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effectLst>
                  <a:glow rad="50800">
                    <a:srgbClr val="FFFFFF">
                      <a:alpha val="100000"/>
                    </a:srgbClr>
                  </a:glow>
                  <a:outerShdw blurRad="88900" dist="63500" dir="2700000" algn="tl">
                    <a:srgbClr val="026CD4">
                      <a:lumMod val="75000"/>
                      <a:alpha val="30000"/>
                    </a:srgbClr>
                  </a:outerShdw>
                </a:effectLst>
                <a:latin typeface="演示新手书" panose="00000500000000000000" pitchFamily="50" charset="-122"/>
                <a:ea typeface="演示新手书" panose="00000500000000000000" pitchFamily="50" charset="-122"/>
                <a:cs typeface="演示流云楷" panose="02000600000000000000" pitchFamily="2" charset="-122"/>
              </a:defRPr>
            </a:lvl1pPr>
          </a:lstStyle>
          <a:p>
            <a:r>
              <a:rPr lang="zh-CN" altLang="zh-CN" sz="10400" dirty="0">
                <a:gradFill flip="none" rotWithShape="1">
                  <a:gsLst>
                    <a:gs pos="55000">
                      <a:schemeClr val="accent3">
                        <a:lumMod val="92000"/>
                      </a:schemeClr>
                    </a:gs>
                    <a:gs pos="0">
                      <a:schemeClr val="accent5">
                        <a:lumMod val="60000"/>
                        <a:lumOff val="40000"/>
                      </a:schemeClr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sym typeface="演示新手书" panose="00000500000000000000" pitchFamily="50" charset="-122"/>
              </a:rPr>
              <a:t>凌云志</a:t>
            </a: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5" cstate="email">
            <a:biLevel thresh="50000"/>
          </a:blip>
          <a:stretch>
            <a:fillRect/>
          </a:stretch>
        </p:blipFill>
        <p:spPr>
          <a:xfrm>
            <a:off x="1593158" y="2931357"/>
            <a:ext cx="463342" cy="5483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623835" y="1768376"/>
            <a:ext cx="4782611" cy="4826502"/>
            <a:chOff x="7386053" y="1674644"/>
            <a:chExt cx="4621040" cy="4616936"/>
          </a:xfrm>
        </p:grpSpPr>
        <p:pic>
          <p:nvPicPr>
            <p:cNvPr id="3" name="Picture 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386053" y="1674644"/>
              <a:ext cx="4621040" cy="4616936"/>
            </a:xfrm>
            <a:prstGeom prst="rect">
              <a:avLst/>
            </a:prstGeom>
          </p:spPr>
        </p:pic>
        <p:pic>
          <p:nvPicPr>
            <p:cNvPr id="4" name="图片 3" descr="图片包含 背景图案&#10;&#10;AI 生成的内容可能不正确。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2044" y="3037683"/>
              <a:ext cx="1525456" cy="1017466"/>
            </a:xfrm>
            <a:prstGeom prst="rect">
              <a:avLst/>
            </a:prstGeom>
            <a:effectLst>
              <a:softEdge rad="25400"/>
            </a:effectLst>
            <a:scene3d>
              <a:camera prst="perspectiveLeft" fov="1224000">
                <a:rot lat="20550000" lon="3144000" rev="18240000"/>
              </a:camera>
              <a:lightRig rig="glow" dir="t"/>
            </a:scene3d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6679" b="15450"/>
            <a:stretch>
              <a:fillRect/>
            </a:stretch>
          </p:blipFill>
          <p:spPr>
            <a:xfrm rot="16200000" flipH="1">
              <a:off x="8002284" y="3506481"/>
              <a:ext cx="271752" cy="249562"/>
            </a:xfrm>
            <a:prstGeom prst="rect">
              <a:avLst/>
            </a:prstGeom>
            <a:scene3d>
              <a:camera prst="perspectiveLeft">
                <a:rot lat="0" lon="19254000" rev="0"/>
              </a:camera>
              <a:lightRig rig="threePt" dir="t"/>
            </a:scene3d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6679" b="15450"/>
            <a:stretch>
              <a:fillRect/>
            </a:stretch>
          </p:blipFill>
          <p:spPr>
            <a:xfrm flipH="1">
              <a:off x="9591675" y="2458493"/>
              <a:ext cx="239084" cy="239877"/>
            </a:xfrm>
            <a:prstGeom prst="rect">
              <a:avLst/>
            </a:prstGeom>
            <a:scene3d>
              <a:camera prst="perspectiveLeft">
                <a:rot lat="0" lon="19254000" rev="0"/>
              </a:camera>
              <a:lightRig rig="threePt" dir="t"/>
            </a:scene3d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6679" b="15450"/>
            <a:stretch>
              <a:fillRect/>
            </a:stretch>
          </p:blipFill>
          <p:spPr>
            <a:xfrm rot="5191636" flipH="1">
              <a:off x="11206162" y="3549107"/>
              <a:ext cx="239084" cy="239877"/>
            </a:xfrm>
            <a:prstGeom prst="rect">
              <a:avLst/>
            </a:prstGeom>
            <a:scene3d>
              <a:camera prst="perspectiveLeft">
                <a:rot lat="0" lon="19254000" rev="0"/>
              </a:camera>
              <a:lightRig rig="threePt" dir="t"/>
            </a:scene3d>
          </p:spPr>
        </p:pic>
        <p:pic>
          <p:nvPicPr>
            <p:cNvPr id="12" name="图片 11"/>
            <p:cNvPicPr/>
            <p:nvPr>
              <p:custDataLst>
                <p:tags r:id="rId6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93" t="12111" r="56679" b="15450"/>
            <a:stretch>
              <a:fillRect/>
            </a:stretch>
          </p:blipFill>
          <p:spPr>
            <a:xfrm rot="10800000" flipH="1">
              <a:off x="9616446" y="4658768"/>
              <a:ext cx="303842" cy="239877"/>
            </a:xfrm>
            <a:prstGeom prst="rect">
              <a:avLst/>
            </a:prstGeom>
            <a:scene3d>
              <a:camera prst="perspectiveLeft">
                <a:rot lat="0" lon="19254000" rev="0"/>
              </a:camera>
              <a:lightRig rig="threePt" dir="t"/>
            </a:scene3d>
          </p:spPr>
        </p:pic>
        <p:sp>
          <p:nvSpPr>
            <p:cNvPr id="13" name="文本框 12"/>
            <p:cNvSpPr txBox="1"/>
            <p:nvPr/>
          </p:nvSpPr>
          <p:spPr>
            <a:xfrm rot="2172526">
              <a:off x="8245475" y="4360354"/>
              <a:ext cx="1206500" cy="334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1400" dirty="0" err="1">
                  <a:solidFill>
                    <a:srgbClr val="0070C0"/>
                  </a:solidFill>
                  <a:latin typeface="汉仪菱心体简" panose="02010400000101010101" charset="-122"/>
                  <a:ea typeface="汉仪菱心体简" panose="02010400000101010101" charset="-122"/>
                </a:rPr>
                <a:t>LJMicro</a:t>
              </a:r>
              <a:endParaRPr lang="zh-CN" altLang="en-US" sz="1400" dirty="0">
                <a:solidFill>
                  <a:srgbClr val="0070C0"/>
                </a:solidFill>
                <a:latin typeface="汉仪菱心体简" panose="02010400000101010101" charset="-122"/>
                <a:ea typeface="汉仪菱心体简" panose="02010400000101010101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904665" y="2177399"/>
            <a:ext cx="4290351" cy="225574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9900">
                <a:ln w="3175">
                  <a:noFill/>
                </a:ln>
                <a:gradFill flip="none" rotWithShape="1">
                  <a:gsLst>
                    <a:gs pos="100000">
                      <a:schemeClr val="accent3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effectLst>
                  <a:glow rad="50800">
                    <a:srgbClr val="FFFFFF">
                      <a:alpha val="100000"/>
                    </a:srgbClr>
                  </a:glow>
                  <a:outerShdw blurRad="88900" dist="63500" dir="2700000" algn="tl">
                    <a:srgbClr val="026CD4">
                      <a:lumMod val="75000"/>
                      <a:alpha val="30000"/>
                    </a:srgbClr>
                  </a:outerShdw>
                </a:effectLst>
                <a:latin typeface="演示新手书" panose="00000500000000000000" pitchFamily="50" charset="-122"/>
                <a:ea typeface="演示新手书" panose="00000500000000000000" pitchFamily="50" charset="-122"/>
                <a:cs typeface="演示流云楷" panose="02000600000000000000" pitchFamily="2" charset="-122"/>
              </a:defRPr>
            </a:lvl1pPr>
          </a:lstStyle>
          <a:p>
            <a:r>
              <a:rPr lang="zh-CN" altLang="zh-CN" sz="10400" dirty="0">
                <a:gradFill flip="none" rotWithShape="1">
                  <a:gsLst>
                    <a:gs pos="55000">
                      <a:schemeClr val="accent3">
                        <a:lumMod val="92000"/>
                      </a:schemeClr>
                    </a:gs>
                    <a:gs pos="0">
                      <a:schemeClr val="accent5">
                        <a:lumMod val="60000"/>
                        <a:lumOff val="40000"/>
                      </a:schemeClr>
                    </a:gs>
                  </a:gsLst>
                  <a:lin ang="2700000" scaled="1"/>
                  <a:tileRect/>
                </a:gradFill>
                <a:latin typeface="演示流云楷" panose="02000600000000000000" pitchFamily="2" charset="-122"/>
                <a:ea typeface="演示流云楷" panose="02000600000000000000" pitchFamily="2" charset="-122"/>
                <a:sym typeface="演示新手书" panose="00000500000000000000" pitchFamily="50" charset="-122"/>
              </a:rPr>
              <a:t>报国芯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159526" y="2116652"/>
            <a:ext cx="3217106" cy="30275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9900">
                <a:ln w="3175">
                  <a:noFill/>
                </a:ln>
                <a:gradFill flip="none" rotWithShape="1">
                  <a:gsLst>
                    <a:gs pos="100000">
                      <a:schemeClr val="accent3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effectLst>
                  <a:glow rad="50800">
                    <a:srgbClr val="FFFFFF">
                      <a:alpha val="100000"/>
                    </a:srgbClr>
                  </a:glow>
                  <a:outerShdw blurRad="88900" dist="63500" dir="2700000" algn="tl">
                    <a:srgbClr val="026CD4">
                      <a:lumMod val="75000"/>
                      <a:alpha val="30000"/>
                    </a:srgbClr>
                  </a:outerShdw>
                </a:effectLst>
                <a:latin typeface="演示新手书" panose="00000500000000000000" pitchFamily="50" charset="-122"/>
                <a:ea typeface="演示新手书" panose="00000500000000000000" pitchFamily="50" charset="-122"/>
                <a:cs typeface="演示流云楷" panose="02000600000000000000" pitchFamily="2" charset="-122"/>
              </a:defRPr>
            </a:lvl1pPr>
          </a:lstStyle>
          <a:p>
            <a:r>
              <a:rPr lang="zh-CN" altLang="zh-CN" sz="9600" dirty="0">
                <a:gradFill flip="none" rotWithShape="1">
                  <a:gsLst>
                    <a:gs pos="95000">
                      <a:schemeClr val="accent2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sym typeface="云峰飞云体" panose="02000500000000000000" pitchFamily="2" charset="-122"/>
              </a:rPr>
              <a:t>巍微</a:t>
            </a:r>
          </a:p>
        </p:txBody>
      </p:sp>
      <p:sp>
        <p:nvSpPr>
          <p:cNvPr id="58" name="矩形 57"/>
          <p:cNvSpPr/>
          <p:nvPr/>
        </p:nvSpPr>
        <p:spPr>
          <a:xfrm rot="5400000">
            <a:off x="3350897" y="2081289"/>
            <a:ext cx="1298024" cy="6911356"/>
          </a:xfrm>
          <a:prstGeom prst="rect">
            <a:avLst/>
          </a:prstGeom>
          <a:gradFill flip="none" rotWithShape="1">
            <a:gsLst>
              <a:gs pos="50000">
                <a:schemeClr val="accent2">
                  <a:lumMod val="90000"/>
                </a:schemeClr>
              </a:gs>
              <a:gs pos="0">
                <a:schemeClr val="accent2">
                  <a:alpha val="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0"/>
            <a:tileRect/>
          </a:gradFill>
          <a:ln w="34925" cap="flat" cmpd="sng" algn="ctr">
            <a:gradFill>
              <a:gsLst>
                <a:gs pos="50000">
                  <a:srgbClr val="FFFFFF"/>
                </a:gs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>
            <a:outerShdw blurRad="114300" algn="ctr" rotWithShape="0">
              <a:srgbClr val="026CD4">
                <a:alpha val="1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微软雅黑" panose="020B0503020204020204" charset="-122"/>
            </a:endParaRPr>
          </a:p>
        </p:txBody>
      </p:sp>
      <p:pic>
        <p:nvPicPr>
          <p:cNvPr id="21" name="图片 20" descr="湖工横版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78327" y="142062"/>
            <a:ext cx="3971598" cy="989728"/>
          </a:xfrm>
          <a:prstGeom prst="rect">
            <a:avLst/>
          </a:prstGeom>
        </p:spPr>
      </p:pic>
      <p:pic>
        <p:nvPicPr>
          <p:cNvPr id="68" name="Picture 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31496" y="5297146"/>
            <a:ext cx="7950425" cy="1903783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15" cstate="email">
            <a:biLevel thresh="50000"/>
          </a:blip>
          <a:stretch>
            <a:fillRect/>
          </a:stretch>
        </p:blipFill>
        <p:spPr>
          <a:xfrm>
            <a:off x="2663080" y="1707804"/>
            <a:ext cx="463342" cy="5483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15" cstate="email">
            <a:biLevel thresh="50000"/>
          </a:blip>
          <a:stretch>
            <a:fillRect/>
          </a:stretch>
        </p:blipFill>
        <p:spPr>
          <a:xfrm>
            <a:off x="7454929" y="3548028"/>
            <a:ext cx="463342" cy="54830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5" cstate="email">
            <a:biLevel thresh="50000"/>
          </a:blip>
          <a:stretch>
            <a:fillRect/>
          </a:stretch>
        </p:blipFill>
        <p:spPr>
          <a:xfrm>
            <a:off x="5416553" y="3589184"/>
            <a:ext cx="463342" cy="54830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804491" y="4984652"/>
            <a:ext cx="6517679" cy="9366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kern="0" noProof="0" dirty="0">
                <a:ln w="1905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面向凌久</a:t>
            </a:r>
            <a:r>
              <a:rPr lang="en-US" altLang="zh-CN" sz="2800" kern="0" noProof="0" dirty="0">
                <a:ln w="1905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GPU</a:t>
            </a:r>
            <a:r>
              <a:rPr lang="zh-CN" altLang="en-US" sz="2800" kern="0" noProof="0" dirty="0">
                <a:ln w="1905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的信号处理智能引擎</a:t>
            </a:r>
          </a:p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kern="0" noProof="0" dirty="0">
                <a:ln w="1905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——</a:t>
            </a:r>
            <a:r>
              <a:rPr lang="zh-CN" altLang="en-US" sz="2800" kern="0" noProof="0" dirty="0">
                <a:ln w="1905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让每一次信号都精准可控</a:t>
            </a:r>
            <a:endParaRPr kumimoji="0" lang="zh-CN" altLang="en-US" sz="2800" b="0" i="0" u="none" strike="noStrike" kern="0" cap="none" spc="0" normalizeH="0" baseline="0" noProof="0" dirty="0">
              <a:ln w="19050">
                <a:noFill/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7606" y="529058"/>
            <a:ext cx="1585690" cy="237821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9900">
                <a:ln w="3175">
                  <a:noFill/>
                </a:ln>
                <a:gradFill flip="none" rotWithShape="1">
                  <a:gsLst>
                    <a:gs pos="100000">
                      <a:schemeClr val="accent3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effectLst>
                  <a:glow rad="50800">
                    <a:srgbClr val="FFFFFF">
                      <a:alpha val="100000"/>
                    </a:srgbClr>
                  </a:glow>
                  <a:outerShdw blurRad="88900" dist="63500" dir="2700000" algn="tl">
                    <a:srgbClr val="026CD4">
                      <a:lumMod val="75000"/>
                      <a:alpha val="30000"/>
                    </a:srgbClr>
                  </a:outerShdw>
                </a:effectLst>
                <a:latin typeface="演示新手书" panose="00000500000000000000" pitchFamily="50" charset="-122"/>
                <a:ea typeface="演示新手书" panose="00000500000000000000" pitchFamily="50" charset="-122"/>
                <a:cs typeface="演示流云楷" panose="02000600000000000000" pitchFamily="2" charset="-122"/>
              </a:defRPr>
            </a:lvl1pPr>
          </a:lstStyle>
          <a:p>
            <a:r>
              <a:rPr lang="zh-CN" altLang="zh-CN" sz="11500">
                <a:gradFill flip="none" rotWithShape="1">
                  <a:gsLst>
                    <a:gs pos="95000">
                      <a:schemeClr val="accent2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sym typeface="云峰飞云体" panose="02000500000000000000" pitchFamily="2" charset="-122"/>
              </a:rPr>
              <a:t>久</a:t>
            </a:r>
            <a:endParaRPr lang="zh-CN" altLang="zh-CN" sz="11500" dirty="0">
              <a:gradFill flip="none" rotWithShape="1">
                <a:gsLst>
                  <a:gs pos="95000">
                    <a:schemeClr val="accent2">
                      <a:lumMod val="50000"/>
                    </a:schemeClr>
                  </a:gs>
                  <a:gs pos="0">
                    <a:schemeClr val="accent2"/>
                  </a:gs>
                </a:gsLst>
                <a:lin ang="2700000" scaled="1"/>
                <a:tileRect/>
              </a:gradFill>
              <a:sym typeface="云峰飞云体" panose="02000500000000000000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343894" y="568376"/>
            <a:ext cx="1585690" cy="237821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9900">
                <a:ln w="3175">
                  <a:noFill/>
                </a:ln>
                <a:gradFill flip="none" rotWithShape="1">
                  <a:gsLst>
                    <a:gs pos="100000">
                      <a:schemeClr val="accent3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effectLst>
                  <a:glow rad="50800">
                    <a:srgbClr val="FFFFFF">
                      <a:alpha val="100000"/>
                    </a:srgbClr>
                  </a:glow>
                  <a:outerShdw blurRad="88900" dist="63500" dir="2700000" algn="tl">
                    <a:srgbClr val="026CD4">
                      <a:lumMod val="75000"/>
                      <a:alpha val="30000"/>
                    </a:srgbClr>
                  </a:outerShdw>
                </a:effectLst>
                <a:latin typeface="演示新手书" panose="00000500000000000000" pitchFamily="50" charset="-122"/>
                <a:ea typeface="演示新手书" panose="00000500000000000000" pitchFamily="50" charset="-122"/>
                <a:cs typeface="演示流云楷" panose="02000600000000000000" pitchFamily="2" charset="-122"/>
              </a:defRPr>
            </a:lvl1pPr>
          </a:lstStyle>
          <a:p>
            <a:r>
              <a:rPr lang="zh-CN" altLang="zh-CN" sz="11500" dirty="0">
                <a:gradFill flip="none" rotWithShape="1">
                  <a:gsLst>
                    <a:gs pos="95000">
                      <a:schemeClr val="accent2">
                        <a:lumMod val="50000"/>
                      </a:schemeClr>
                    </a:gs>
                    <a:gs pos="0">
                      <a:schemeClr val="accent2"/>
                    </a:gs>
                  </a:gsLst>
                  <a:lin ang="2700000" scaled="1"/>
                  <a:tileRect/>
                </a:gradFill>
                <a:sym typeface="云峰飞云体" panose="02000500000000000000" pitchFamily="2" charset="-122"/>
              </a:rPr>
              <a:t>有</a:t>
            </a:r>
          </a:p>
        </p:txBody>
      </p:sp>
      <p:pic>
        <p:nvPicPr>
          <p:cNvPr id="5" name="图片 4" descr="logo-简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8365" y="318770"/>
            <a:ext cx="2977515" cy="716915"/>
          </a:xfrm>
          <a:prstGeom prst="rect">
            <a:avLst/>
          </a:prstGeom>
        </p:spPr>
      </p:pic>
      <p:pic>
        <p:nvPicPr>
          <p:cNvPr id="117" name="图片 116" descr="edea30d691e6416284917024796042671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8925" y="279400"/>
            <a:ext cx="764540" cy="772795"/>
          </a:xfrm>
          <a:prstGeom prst="rect">
            <a:avLst/>
          </a:prstGeom>
        </p:spPr>
      </p:pic>
      <p:pic>
        <p:nvPicPr>
          <p:cNvPr id="119" name="图片 118" descr="u=3978270987,2753901701&amp;fm=253&amp;fmt=auto&amp;app=138&amp;f=PNG"/>
          <p:cNvPicPr>
            <a:picLocks noChangeAspect="1"/>
          </p:cNvPicPr>
          <p:nvPr/>
        </p:nvPicPr>
        <p:blipFill>
          <a:blip r:embed="rId23"/>
          <a:srcRect l="15966" t="17929" r="17727" b="10850"/>
          <a:stretch>
            <a:fillRect/>
          </a:stretch>
        </p:blipFill>
        <p:spPr>
          <a:xfrm>
            <a:off x="1397000" y="189230"/>
            <a:ext cx="819785" cy="772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593" t="12111" r="4791" b="15450"/>
          <a:stretch>
            <a:fillRect/>
          </a:stretch>
        </p:blipFill>
        <p:spPr>
          <a:xfrm>
            <a:off x="2385061" y="188608"/>
            <a:ext cx="2280000" cy="988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0202695,21580141],&quot;13&quot;:[4364878,4676804,19951230,20042469,20482076,4685212,4695728,4364915,4364879,4721712],&quot;19&quot;:[20348566],&quot;70&quot;:[3312160,3403266,3330801,3327011,3312162],&quot;8&quot;:[20476890,20476600,2047550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14,&quot;left&quot;:-5.35,&quot;top&quot;:-47.05,&quot;width&quot;:997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720.8436"/>
  <p:tag name="TOP" val="214.406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4834_1*l_h_i*1_1_5"/>
  <p:tag name="KSO_WM_TEMPLATE_CATEGORY" val="diagram"/>
  <p:tag name="KSO_WM_TEMPLATE_INDEX" val="2023483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6.375,&quot;left&quot;:96.15,&quot;top&quot;:65.25,&quot;width&quot;:858.780042959453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999999761581421}],&quot;type&quot;:3},&quot;glow&quot;:{&quot;colorType&quot;:0},&quot;line&quot;:{&quot;gradient&quot;:[{&quot;brightness&quot;:0,&quot;colorType&quot;:1,&quot;foreColorIndex&quot;:5,&quot;pos&quot;:0.25,&quot;transparency&quot;:1},{&quot;brightness&quot;:0,&quot;colorType&quot;:1,&quot;foreColorIndex&quot;:5,&quot;pos&quot;:1,&quot;transparency&quot;:0.30000001192092896}],&quot;type&quot;:2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4834_1*l_h_i*1_1_5"/>
  <p:tag name="KSO_WM_TEMPLATE_CATEGORY" val="diagram"/>
  <p:tag name="KSO_WM_TEMPLATE_INDEX" val="2023483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6.375,&quot;left&quot;:96.15,&quot;top&quot;:65.25,&quot;width&quot;:858.780042959453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999999761581421}],&quot;type&quot;:3},&quot;glow&quot;:{&quot;colorType&quot;:0},&quot;line&quot;:{&quot;gradient&quot;:[{&quot;brightness&quot;:0,&quot;colorType&quot;:1,&quot;foreColorIndex&quot;:5,&quot;pos&quot;:0.25,&quot;transparency&quot;:1},{&quot;brightness&quot;:0,&quot;colorType&quot;:1,&quot;foreColorIndex&quot;:5,&quot;pos&quot;:1,&quot;transparency&quot;:0.30000001192092896}],&quot;type&quot;:2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4834_1*l_h_i*1_1_5"/>
  <p:tag name="KSO_WM_TEMPLATE_CATEGORY" val="diagram"/>
  <p:tag name="KSO_WM_TEMPLATE_INDEX" val="2023483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6.375,&quot;left&quot;:96.15,&quot;top&quot;:65.25,&quot;width&quot;:858.780042959453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999999761581421}],&quot;type&quot;:3},&quot;glow&quot;:{&quot;colorType&quot;:0},&quot;line&quot;:{&quot;gradient&quot;:[{&quot;brightness&quot;:0,&quot;colorType&quot;:1,&quot;foreColorIndex&quot;:5,&quot;pos&quot;:0.25,&quot;transparency&quot;:1},{&quot;brightness&quot;:0,&quot;colorType&quot;:1,&quot;foreColorIndex&quot;:5,&quot;pos&quot;:1,&quot;transparency&quot;:0.30000001192092896}],&quot;type&quot;:2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12_3*l_h_f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内容，文字是您思想的提炼，为了最终演示发布的良好效果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12_3*l_h_a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4927_2*q_h_i*1_1_1"/>
  <p:tag name="KSO_WM_TEMPLATE_CATEGORY" val="diagram"/>
  <p:tag name="KSO_WM_TEMPLATE_INDEX" val="2023492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18.4510297255629,&quot;left&quot;:276.6999938964844,&quot;top&quot;:176.74999389648437,&quot;width&quot;:365.732275010179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4000000059604645},{&quot;brightness&quot;:0,&quot;colorType&quot;:1,&quot;foreColorIndex&quot;:5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12_3*l_h_f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内容，文字是您思想的提炼，为了最终演示发布的良好效果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12_3*l_h_a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12_3*l_h_f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内容，文字是您思想的提炼，为了最终演示发布的良好效果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12_3*l_h_a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12_3*l_h_f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内容，文字是您思想的提炼，为了最终演示发布的良好效果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12_3*l_h_a*1_1_1"/>
  <p:tag name="KSO_WM_TEMPLATE_CATEGORY" val="diagram"/>
  <p:tag name="KSO_WM_TEMPLATE_INDEX" val="2023541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6.9750061035156,&quot;left&quot;:163.23976377952755,&quot;top&quot;:123.47499389648438,&quot;width&quot;:789.0199212598425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TEMPLATE_CATEGORY" val="diagram"/>
  <p:tag name="KSO_WM_TEMPLATE_INDEX" val="20235412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476.9750061035156,&quot;left&quot;:163.23976377952755,&quot;top&quot;:123.47499389648438,&quot;width&quot;:789.01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2_3*l_h_i*1_1_1"/>
  <p:tag name="KSO_WM_UNIT_INDEX" val="1_1_1"/>
  <p:tag name="KSO_WM_UNIT_USESOURCEFORMAT_APPLY" val="0"/>
  <p:tag name="KSO_WM_BEAUTIFY_FLAG" val="#wm#"/>
  <p:tag name="KSO_WM_DIAGRAM_GROUP_CODE" val="l1-1"/>
  <p:tag name="KSO_WM_UNIT_SUBTYPE" val="d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ADJUSTMENTS" val="4.766654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720.8436"/>
  <p:tag name="TOP" val="214.406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75.9999"/>
  <p:tag name="LEFT" val="626.1249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0068BF"/>
      </a:accent1>
      <a:accent2>
        <a:srgbClr val="008BFF"/>
      </a:accent2>
      <a:accent3>
        <a:srgbClr val="F78021"/>
      </a:accent3>
      <a:accent4>
        <a:srgbClr val="022AE2"/>
      </a:accent4>
      <a:accent5>
        <a:srgbClr val="FFC000"/>
      </a:accent5>
      <a:accent6>
        <a:srgbClr val="00FFFF"/>
      </a:accent6>
      <a:hlink>
        <a:srgbClr val="658BD5"/>
      </a:hlink>
      <a:folHlink>
        <a:srgbClr val="9F69A3"/>
      </a:folHlink>
    </a:clrScheme>
    <a:fontScheme name="自定义 26">
      <a:majorFont>
        <a:latin typeface="Arial"/>
        <a:ea typeface="思源宋体 CN Heavy"/>
        <a:cs typeface=""/>
      </a:majorFont>
      <a:minorFont>
        <a:latin typeface="Times New Roman"/>
        <a:ea typeface="OPPOSans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547">
    <a:dk1>
      <a:srgbClr val="000000"/>
    </a:dk1>
    <a:lt1>
      <a:srgbClr val="FFFFFF"/>
    </a:lt1>
    <a:dk2>
      <a:srgbClr val="44546A"/>
    </a:dk2>
    <a:lt2>
      <a:srgbClr val="E7E6E6"/>
    </a:lt2>
    <a:accent1>
      <a:srgbClr val="2885FF"/>
    </a:accent1>
    <a:accent2>
      <a:srgbClr val="68BDFF"/>
    </a:accent2>
    <a:accent3>
      <a:srgbClr val="45C4FF"/>
    </a:accent3>
    <a:accent4>
      <a:srgbClr val="297BEB"/>
    </a:accent4>
    <a:accent5>
      <a:srgbClr val="0948A6"/>
    </a:accent5>
    <a:accent6>
      <a:srgbClr val="0B3D88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2</TotalTime>
  <Words>1412</Words>
  <Application>Microsoft Office PowerPoint</Application>
  <PresentationFormat>自定义</PresentationFormat>
  <Paragraphs>426</Paragraphs>
  <Slides>15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4" baseType="lpstr">
      <vt:lpstr>OPPOSans M</vt:lpstr>
      <vt:lpstr>汉仪力量黑简</vt:lpstr>
      <vt:lpstr>DIN</vt:lpstr>
      <vt:lpstr>思源宋体 Heavy</vt:lpstr>
      <vt:lpstr>Calibri</vt:lpstr>
      <vt:lpstr>等线</vt:lpstr>
      <vt:lpstr>方正仿宋_GB2312</vt:lpstr>
      <vt:lpstr>MiSans Normal</vt:lpstr>
      <vt:lpstr>演示新手书</vt:lpstr>
      <vt:lpstr>汉仪颜楷简</vt:lpstr>
      <vt:lpstr>Wingdings</vt:lpstr>
      <vt:lpstr>HarmonyOS Sans SC Bold</vt:lpstr>
      <vt:lpstr>汉仪雅酷黑W</vt:lpstr>
      <vt:lpstr>思源宋体 CN Heavy</vt:lpstr>
      <vt:lpstr>云峰飞云体</vt:lpstr>
      <vt:lpstr>宋体</vt:lpstr>
      <vt:lpstr>演示流云楷</vt:lpstr>
      <vt:lpstr>汉仪菱心体简</vt:lpstr>
      <vt:lpstr>优设标题黑</vt:lpstr>
      <vt:lpstr>OPPOSans B</vt:lpstr>
      <vt:lpstr>Arial</vt:lpstr>
      <vt:lpstr>OPPOSans R</vt:lpstr>
      <vt:lpstr>Roboto</vt:lpstr>
      <vt:lpstr>思源黑体 CN Bold</vt:lpstr>
      <vt:lpstr>微软雅黑</vt:lpstr>
      <vt:lpstr>Times New Roman</vt:lpstr>
      <vt:lpstr>Office 主题​​</vt:lpstr>
      <vt:lpstr>Equation.KSEE3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 锐</dc:creator>
  <cp:lastModifiedBy>zhe dong</cp:lastModifiedBy>
  <cp:revision>354</cp:revision>
  <dcterms:created xsi:type="dcterms:W3CDTF">2024-06-17T01:24:00Z</dcterms:created>
  <dcterms:modified xsi:type="dcterms:W3CDTF">2025-11-03T09:10:42Z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EDA48BB993C246CFBE567210AC8F8247_13</vt:lpwstr>
  </property>
  <property fmtid="{D5CDD505-2E9C-101B-9397-08002B2CF9AE}" pid="3" name="KSOProductBuildVer">
    <vt:lpwstr>2052-12.1.0.23125</vt:lpwstr>
  </property>
</Properties>
</file>